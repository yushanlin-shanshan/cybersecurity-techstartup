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straight, like a logistics update. Do not smile like a prank.</a:t>
            </a:r>
          </a:p>
          <a:p/>
          <a:p>
            <a:r>
              <a:t>"Quick change. This is Sumi, a mental health connection app. We need five volunteers. Step outside with us for a moment."</a:t>
            </a:r>
          </a:p>
          <a:p/>
          <a:p>
            <a:r>
              <a:t>Tell the professor the day before: the next few slides are a staged feeling, and nobody records or livestreams. If they say no, start at Vendetta.</a:t>
            </a:r>
          </a:p>
          <a:p/>
          <a:p>
            <a:r>
              <a:t>Livia opens. Fill the other two names before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five people who can keep a straight face. Not the professor. One of you walks them out and reads the hallway script. It is in the appendix. Do not project that script.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Volunteers are seated again. Phones face up, on the lock screen, untouched.</a:t>
            </a:r>
          </a:p>
          <a:p/>
          <a:p>
            <a:r>
              <a:t>"Sumi is the conversation. Phones on the table. Don't touch them. How your week went is enough."</a:t>
            </a:r>
          </a:p>
          <a:p/>
          <a:p>
            <a:r>
              <a:t>If someone will not put a phone down, let them. Do not collect phones. Then click to the hold slide and start 75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Stay quiet. If someone is actually distressed, end it early and skip the plot-twist slide. Go straight to the clear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second of silence. Then say their line flat: "The five people who stepped outside were livestreaming you."</a:t>
            </a:r>
          </a:p>
          <a:p/>
          <a:p>
            <a:r>
              <a:t>Look at the volunteers, not at the person who just shared. Do not repeat anyone's story. Do not joke. If the room is already shaky, skip ahead to the clear slide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not optional. Say it before anything clever.</a:t>
            </a:r>
          </a:p>
          <a:p/>
          <a:p>
            <a:r>
              <a:t>"Nobody livestreamed you. I need you to see that before anything else. Phones up. There is no stream, no file, nothing to post."</a:t>
            </a:r>
          </a:p>
          <a:p/>
          <a:p>
            <a:r>
              <a:t>If a volunteer actually recorded or went live, stop. Delete it in front of the room. Tell the professor. Do not pitch today.</a:t>
            </a:r>
          </a:p>
          <a:p/>
          <a:p>
            <a:r>
              <a:t>Do not ask anyone to repeat what they said.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"Meta's AI glasses do have a capture LED. It blinks for a photo and stays on through a video. Cover that light and the camera is supposed to stop. We are not claiming the glasses are secret.</a:t>
            </a:r>
          </a:p>
          <a:p/>
          <a:p>
            <a:r>
              <a:t>The gap is smaller than a scandal and bigger than a shrug. The light helps the person who is looking at the frame. A voice memo has no light at all. For one minute, you were that person."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This is the hinge into the real pitch. Four requirements follow from the minute you just ran: phone down, acting normal, signal during the conversation, and no accusation afterward.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a charm, even paper and ribbon, if you have one. A bare circuit board is the old mistake: it looks like a detector, so people will not carry it. Vendetta has to look like something you already clip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then stop. The next slides are the proof of each word. If you are short on time, keep Discreet and Cute, and let questions cover the rest.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design thesis. The first objects in this category looked like keychain gadgets. They could do the job and people still left them at home. Vendetta keeps the wearable idea and changes the finish. Cute is not decoration on top of the product. Cute is how the product gets worn.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the old Venus and Mercury boxes. Those were template filler. Say so if anyone remembers them: "That slide was a placeholder. This is the mechanism."</a:t>
            </a:r>
          </a:p>
          <a:p/>
          <a:p>
            <a:r>
              <a:t>Be precise. Do not quote radio identifiers, and do not describe covering the LED.</a:t>
            </a:r>
          </a:p>
          <a:p/>
          <a:p>
            <a:r>
              <a:t>"First signal: the glasses are nearby and powered. Second signal: Meta's own capture light is blinking, which means a photo or a video. We use the signals they already send. We do not claim to catch a silent microphone in a pocket."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Knock the table once, then knock a slow pair, so the room hears the difference. Continuous monitoring means Vendetta stays awake. It does not mean a constant alarm. If those two feel the same, people take it off by Wednesday.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of the preset text, said out loud so they hear how small it is: "Look up." Or, to a friend, "Call me in two minutes."</a:t>
            </a:r>
          </a:p>
          <a:p/>
          <a:p>
            <a:r>
              <a:t>The message is written by the wearer, ahead of time. Vendetta does not draft a sentence about who it saw. It does not attach audio. It does not text the person wearing the glasses.</a:t>
            </a:r>
          </a:p>
          <a:p/>
          <a:p>
            <a:r>
              <a:t>Default for a normal day: buzz only. Light, sound, and text each have their own off switch. All four can be off, which is just a charm again.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them. If Vendetta ever shows a classmate's name, we built the wrong product. A cute object that accuses people is worse than an ugly gadget.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Thursday answers the obvious objection: a room that likes these glasses would hate a charm that vibrates the entire class. Presence is a courtesy tap. Recording is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 is a ceiling we are willing to say out loud, because the object has to compete with a bag charm, not with a phone. If the parts cost more than that, the report should say the price moves. Do not invent a market size.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ask for a bill of materials, say we do not have one yet. Twenty dollars is the product position, not a quote from a factory. The first prototype is a dev board inside a paper charm. We will not flicker an LED and call it Bluetooth.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04 is what makes the exercise legitimate. Today is a feeling, not evidence. One unsigned question after class. If the answer is that we only startled them, the report says so.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sneer at Meta or at anyone in the room who likes the glasses. The offer is a private tap. The glasses stay on the face that chose them. If someone says the LED already solves it, agree, then point at the gap: you only get that LED if you are looking at the frame.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this before they ask. If the room is still annoyed about the livestream line, stay on this slide and take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their sentence. Then one breath, and stop. Do not recap all 20 slides.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quiet after Questions. If the room is cold, add one line: if the exercise was not worth it, we want that on the record.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sharing the screen here if you are presenting from this file.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on time: Sumi through Clear, then Vendetta, how it works, and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 this onto the phone of whoever walks them out. Add: if one of you hits record as a joke, we stop and delete it in front of everyone.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forget everything else, say the clear line and the limit line.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read the morning you present. If a detail has changed, their page wins.</a:t>
            </a:r>
          </a:p>
          <a:p/>
          <a:p>
            <a:r>
              <a:t>Meta privacy page: https://www.meta.com/ai-glasses/privacy/</a:t>
            </a:r>
          </a:p>
          <a:p>
            <a:r>
              <a:t>Meta newsroom, July 2026: https://about.fb.com/news/2026/07/metas-ai-glasses-your-questions-answered/</a:t>
            </a:r>
          </a:p>
          <a:p/>
          <a:p>
            <a:r>
              <a:t>The LED blinks for a photo and stays on through video. Meta says it has no off switch, and that covering or destroying it disables the camera. We do not describe how to tamper with it.</a:t>
            </a:r>
          </a:p>
          <a:p/>
          <a:p>
            <a:r>
              <a:t>Presentation session: May 11, 2026, 10 points. Written report: Sunday, May 17, 2026, 15 points. The upload box also says Friday by 5:10pm. Confirm which file that is.</a:t>
            </a:r>
          </a:p>
          <a:p/>
          <a:p>
            <a:r>
              <a:t>A volunteer who actually records is a hard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51560"/>
            <a:ext cx="8046720" cy="256032"/>
          </a:xfrm>
          <a:prstGeom prst="rect">
            <a:avLst/>
          </a:prstGeom>
          <a:noFill/>
        </p:spPr>
        <p:txBody>
          <a:bodyPr wrap="square" lIns="0" rIns="0" tIns="0" bIns="0" anchor="t"/>
          <a:lstStyle/>
          <a:p>
            <a:pPr algn="ctr">
              <a:lnSpc>
                <a:spcPct val="100000"/>
              </a:lnSpc>
              <a:spcBef>
                <a:spcPts val="0"/>
              </a:spcBef>
              <a:spcAft>
                <a:spcPts val="0"/>
              </a:spcAft>
            </a:pPr>
            <a:r>
              <a:rPr sz="1300" b="1" i="0" spc="220">
                <a:solidFill>
                  <a:srgbClr val="FFFFFF"/>
                </a:solidFill>
                <a:latin typeface="Poppins"/>
                <a:ea typeface="Poppins"/>
                <a:cs typeface="Poppins"/>
              </a:rPr>
              <a:t>SUMI</a:t>
            </a:r>
          </a:p>
        </p:txBody>
      </p:sp>
      <p:sp>
        <p:nvSpPr>
          <p:cNvPr id="4" name="TextBox 3"/>
          <p:cNvSpPr txBox="1"/>
          <p:nvPr/>
        </p:nvSpPr>
        <p:spPr>
          <a:xfrm>
            <a:off x="457200" y="1371600"/>
            <a:ext cx="8229600" cy="1051560"/>
          </a:xfrm>
          <a:prstGeom prst="rect">
            <a:avLst/>
          </a:prstGeom>
          <a:noFill/>
        </p:spPr>
        <p:txBody>
          <a:bodyPr wrap="square" lIns="0" rIns="0" tIns="0" bIns="0" anchor="t"/>
          <a:lstStyle/>
          <a:p>
            <a:pPr algn="ctr">
              <a:lnSpc>
                <a:spcPct val="100000"/>
              </a:lnSpc>
              <a:spcBef>
                <a:spcPts val="0"/>
              </a:spcBef>
              <a:spcAft>
                <a:spcPts val="0"/>
              </a:spcAft>
            </a:pPr>
            <a:r>
              <a:rPr sz="6000" b="1" i="0">
                <a:solidFill>
                  <a:srgbClr val="FFFFFF"/>
                </a:solidFill>
                <a:latin typeface="Poppins"/>
                <a:ea typeface="Poppins"/>
                <a:cs typeface="Poppins"/>
              </a:rPr>
              <a:t>Sumi</a:t>
            </a:r>
          </a:p>
        </p:txBody>
      </p:sp>
      <p:sp>
        <p:nvSpPr>
          <p:cNvPr id="5" name="TextBox 4"/>
          <p:cNvSpPr txBox="1"/>
          <p:nvPr/>
        </p:nvSpPr>
        <p:spPr>
          <a:xfrm>
            <a:off x="548640" y="2514600"/>
            <a:ext cx="8046720" cy="365760"/>
          </a:xfrm>
          <a:prstGeom prst="rect">
            <a:avLst/>
          </a:prstGeom>
          <a:noFill/>
        </p:spPr>
        <p:txBody>
          <a:bodyPr wrap="square" lIns="0" rIns="0" tIns="0" bIns="0" anchor="t"/>
          <a:lstStyle/>
          <a:p>
            <a:pPr algn="ctr">
              <a:lnSpc>
                <a:spcPct val="100000"/>
              </a:lnSpc>
              <a:spcBef>
                <a:spcPts val="0"/>
              </a:spcBef>
              <a:spcAft>
                <a:spcPts val="0"/>
              </a:spcAft>
            </a:pPr>
            <a:r>
              <a:rPr sz="1800" b="0" i="0">
                <a:solidFill>
                  <a:srgbClr val="FFFFFF"/>
                </a:solidFill>
                <a:latin typeface="Poppins"/>
                <a:ea typeface="Poppins"/>
                <a:cs typeface="Poppins"/>
              </a:rPr>
              <a:t>A mental health connection app</a:t>
            </a:r>
          </a:p>
        </p:txBody>
      </p:sp>
      <p:sp>
        <p:nvSpPr>
          <p:cNvPr id="6" name="TextBox 5"/>
          <p:cNvSpPr txBox="1"/>
          <p:nvPr/>
        </p:nvSpPr>
        <p:spPr>
          <a:xfrm>
            <a:off x="548640" y="4160520"/>
            <a:ext cx="8046720" cy="274320"/>
          </a:xfrm>
          <a:prstGeom prst="rect">
            <a:avLst/>
          </a:prstGeom>
          <a:noFill/>
        </p:spPr>
        <p:txBody>
          <a:bodyPr wrap="square" lIns="0" rIns="0" tIns="0" bIns="0" anchor="t"/>
          <a:lstStyle/>
          <a:p>
            <a:pPr algn="ctr">
              <a:lnSpc>
                <a:spcPct val="100000"/>
              </a:lnSpc>
              <a:spcBef>
                <a:spcPts val="0"/>
              </a:spcBef>
              <a:spcAft>
                <a:spcPts val="0"/>
              </a:spcAft>
            </a:pPr>
            <a:r>
              <a:rPr sz="1200" b="0" i="0">
                <a:solidFill>
                  <a:srgbClr val="FFFFFF"/>
                </a:solidFill>
                <a:latin typeface="Poppins"/>
                <a:ea typeface="Poppins"/>
                <a:cs typeface="Poppins"/>
              </a:rPr>
              <a:t>Product vision   ·   Pitch deck   ·   2026</a:t>
            </a:r>
          </a:p>
        </p:txBody>
      </p:sp>
      <p:sp>
        <p:nvSpPr>
          <p:cNvPr id="7" name="TextBox 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8" name="TextBox 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34440"/>
            <a:ext cx="8046720" cy="256032"/>
          </a:xfrm>
          <a:prstGeom prst="rect">
            <a:avLst/>
          </a:prstGeom>
          <a:noFill/>
        </p:spPr>
        <p:txBody>
          <a:bodyPr wrap="square" lIns="0" rIns="0" tIns="0" bIns="0" anchor="t"/>
          <a:lstStyle/>
          <a:p>
            <a:pPr algn="ctr">
              <a:lnSpc>
                <a:spcPct val="100000"/>
              </a:lnSpc>
              <a:spcBef>
                <a:spcPts val="0"/>
              </a:spcBef>
              <a:spcAft>
                <a:spcPts val="0"/>
              </a:spcAft>
            </a:pPr>
            <a:r>
              <a:rPr sz="1300" b="1" i="0" spc="180">
                <a:solidFill>
                  <a:srgbClr val="FFFFFF"/>
                </a:solidFill>
                <a:latin typeface="Poppins"/>
                <a:ea typeface="Poppins"/>
                <a:cs typeface="Poppins"/>
              </a:rPr>
              <a:t>BEFORE WE START</a:t>
            </a:r>
          </a:p>
        </p:txBody>
      </p:sp>
      <p:sp>
        <p:nvSpPr>
          <p:cNvPr id="4" name="TextBox 3"/>
          <p:cNvSpPr txBox="1"/>
          <p:nvPr/>
        </p:nvSpPr>
        <p:spPr>
          <a:xfrm>
            <a:off x="548640" y="1600200"/>
            <a:ext cx="8046720" cy="1828800"/>
          </a:xfrm>
          <a:prstGeom prst="rect">
            <a:avLst/>
          </a:prstGeom>
          <a:noFill/>
        </p:spPr>
        <p:txBody>
          <a:bodyPr wrap="square" lIns="0" rIns="0" tIns="0" bIns="0" anchor="t"/>
          <a:lstStyle/>
          <a:p>
            <a:pPr algn="ctr">
              <a:lnSpc>
                <a:spcPct val="95000"/>
              </a:lnSpc>
              <a:spcBef>
                <a:spcPts val="0"/>
              </a:spcBef>
              <a:spcAft>
                <a:spcPts val="0"/>
              </a:spcAft>
            </a:pPr>
            <a:r>
              <a:rPr sz="4400" b="1" i="0">
                <a:solidFill>
                  <a:srgbClr val="FFFFFF"/>
                </a:solidFill>
                <a:latin typeface="Poppins"/>
                <a:ea typeface="Poppins"/>
                <a:cs typeface="Poppins"/>
              </a:rPr>
              <a:t>We need</a:t>
            </a:r>
          </a:p>
          <a:p>
            <a:pPr algn="ctr">
              <a:lnSpc>
                <a:spcPct val="95000"/>
              </a:lnSpc>
              <a:spcBef>
                <a:spcPts val="0"/>
              </a:spcBef>
              <a:spcAft>
                <a:spcPts val="0"/>
              </a:spcAft>
            </a:pPr>
            <a:r>
              <a:rPr sz="4400" b="1" i="0">
                <a:solidFill>
                  <a:srgbClr val="FFFFFF"/>
                </a:solidFill>
                <a:latin typeface="Poppins"/>
                <a:ea typeface="Poppins"/>
                <a:cs typeface="Poppins"/>
              </a:rPr>
              <a:t>5 volunteers.</a:t>
            </a:r>
          </a:p>
        </p:txBody>
      </p:sp>
      <p:sp>
        <p:nvSpPr>
          <p:cNvPr id="5" name="TextBox 4"/>
          <p:cNvSpPr txBox="1"/>
          <p:nvPr/>
        </p:nvSpPr>
        <p:spPr>
          <a:xfrm>
            <a:off x="548640" y="3794760"/>
            <a:ext cx="8046720" cy="320040"/>
          </a:xfrm>
          <a:prstGeom prst="rect">
            <a:avLst/>
          </a:prstGeom>
          <a:noFill/>
        </p:spPr>
        <p:txBody>
          <a:bodyPr wrap="square" lIns="0" rIns="0" tIns="0" bIns="0" anchor="t"/>
          <a:lstStyle/>
          <a:p>
            <a:pPr algn="ctr">
              <a:lnSpc>
                <a:spcPct val="100000"/>
              </a:lnSpc>
              <a:spcBef>
                <a:spcPts val="0"/>
              </a:spcBef>
              <a:spcAft>
                <a:spcPts val="0"/>
              </a:spcAft>
            </a:pPr>
            <a:r>
              <a:rPr sz="1600" b="0" i="0">
                <a:solidFill>
                  <a:srgbClr val="FFFFFF"/>
                </a:solidFill>
                <a:latin typeface="Poppins"/>
                <a:ea typeface="Poppins"/>
                <a:cs typeface="Poppins"/>
              </a:rPr>
              <a:t>Leave your stuff. Come outside for ten seconds.</a:t>
            </a:r>
          </a:p>
        </p:txBody>
      </p:sp>
      <p:sp>
        <p:nvSpPr>
          <p:cNvPr id="6" name="TextBox 5"/>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7" name="TextBox 6"/>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THE IMPORTANCE OF CONNECTION</a:t>
            </a:r>
          </a:p>
        </p:txBody>
      </p:sp>
      <p:sp>
        <p:nvSpPr>
          <p:cNvPr id="4" name="TextBox 3"/>
          <p:cNvSpPr txBox="1"/>
          <p:nvPr/>
        </p:nvSpPr>
        <p:spPr>
          <a:xfrm>
            <a:off x="411480" y="658368"/>
            <a:ext cx="8229600" cy="1051560"/>
          </a:xfrm>
          <a:prstGeom prst="rect">
            <a:avLst/>
          </a:prstGeom>
          <a:noFill/>
        </p:spPr>
        <p:txBody>
          <a:bodyPr wrap="square" lIns="0" rIns="0" tIns="0" bIns="0" anchor="t"/>
          <a:lstStyle/>
          <a:p>
            <a:pPr algn="l">
              <a:lnSpc>
                <a:spcPct val="95000"/>
              </a:lnSpc>
              <a:spcBef>
                <a:spcPts val="0"/>
              </a:spcBef>
              <a:spcAft>
                <a:spcPts val="0"/>
              </a:spcAft>
            </a:pPr>
            <a:r>
              <a:rPr sz="3200" b="1" i="0">
                <a:solidFill>
                  <a:srgbClr val="1C161A"/>
                </a:solidFill>
                <a:latin typeface="Poppins"/>
                <a:ea typeface="Poppins"/>
                <a:cs typeface="Poppins"/>
              </a:rPr>
              <a:t>Groups of two or three.</a:t>
            </a:r>
          </a:p>
          <a:p>
            <a:pPr algn="l">
              <a:lnSpc>
                <a:spcPct val="95000"/>
              </a:lnSpc>
              <a:spcBef>
                <a:spcPts val="0"/>
              </a:spcBef>
              <a:spcAft>
                <a:spcPts val="0"/>
              </a:spcAft>
            </a:pPr>
            <a:r>
              <a:rPr sz="3200" b="1" i="0">
                <a:solidFill>
                  <a:srgbClr val="1C161A"/>
                </a:solidFill>
                <a:latin typeface="Poppins"/>
                <a:ea typeface="Poppins"/>
                <a:cs typeface="Poppins"/>
              </a:rPr>
              <a:t>One minute.</a:t>
            </a:r>
          </a:p>
        </p:txBody>
      </p:sp>
      <p:sp>
        <p:nvSpPr>
          <p:cNvPr id="5" name="Rounded Rectangle 4"/>
          <p:cNvSpPr/>
          <p:nvPr/>
        </p:nvSpPr>
        <p:spPr>
          <a:xfrm>
            <a:off x="438912" y="1965960"/>
            <a:ext cx="8275320" cy="233172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48840"/>
            <a:ext cx="7772400" cy="228600"/>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9A3458"/>
                </a:solidFill>
                <a:latin typeface="Poppins"/>
                <a:ea typeface="Poppins"/>
                <a:cs typeface="Poppins"/>
              </a:rPr>
              <a:t>THE PROMPT</a:t>
            </a:r>
          </a:p>
        </p:txBody>
      </p:sp>
      <p:sp>
        <p:nvSpPr>
          <p:cNvPr id="7" name="TextBox 6"/>
          <p:cNvSpPr txBox="1"/>
          <p:nvPr/>
        </p:nvSpPr>
        <p:spPr>
          <a:xfrm>
            <a:off x="685800" y="2468880"/>
            <a:ext cx="7680960" cy="1051560"/>
          </a:xfrm>
          <a:prstGeom prst="rect">
            <a:avLst/>
          </a:prstGeom>
          <a:noFill/>
        </p:spPr>
        <p:txBody>
          <a:bodyPr wrap="square" lIns="0" rIns="0" tIns="0" bIns="0" anchor="t"/>
          <a:lstStyle/>
          <a:p>
            <a:pPr algn="l">
              <a:lnSpc>
                <a:spcPct val="98000"/>
              </a:lnSpc>
              <a:spcBef>
                <a:spcPts val="0"/>
              </a:spcBef>
              <a:spcAft>
                <a:spcPts val="0"/>
              </a:spcAft>
            </a:pPr>
            <a:r>
              <a:rPr sz="2600" b="1" i="0">
                <a:solidFill>
                  <a:srgbClr val="1C161A"/>
                </a:solidFill>
                <a:latin typeface="Poppins"/>
                <a:ea typeface="Poppins"/>
                <a:cs typeface="Poppins"/>
              </a:rPr>
              <a:t>Share something you've</a:t>
            </a:r>
          </a:p>
          <a:p>
            <a:pPr algn="l">
              <a:lnSpc>
                <a:spcPct val="98000"/>
              </a:lnSpc>
              <a:spcBef>
                <a:spcPts val="0"/>
              </a:spcBef>
              <a:spcAft>
                <a:spcPts val="0"/>
              </a:spcAft>
            </a:pPr>
            <a:r>
              <a:rPr sz="2600" b="1" i="0">
                <a:solidFill>
                  <a:srgbClr val="1C161A"/>
                </a:solidFill>
                <a:latin typeface="Poppins"/>
                <a:ea typeface="Poppins"/>
                <a:cs typeface="Poppins"/>
              </a:rPr>
              <a:t>struggled with this week.</a:t>
            </a:r>
          </a:p>
        </p:txBody>
      </p:sp>
      <p:sp>
        <p:nvSpPr>
          <p:cNvPr id="8" name="TextBox 7"/>
          <p:cNvSpPr txBox="1"/>
          <p:nvPr/>
        </p:nvSpPr>
        <p:spPr>
          <a:xfrm>
            <a:off x="685800" y="3703320"/>
            <a:ext cx="768096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5C4C54"/>
                </a:solidFill>
                <a:latin typeface="Poppins"/>
                <a:ea typeface="Poppins"/>
                <a:cs typeface="Poppins"/>
              </a:rPr>
              <a:t>Ordinary is fine. You do not owe anyone a confession.</a:t>
            </a:r>
          </a:p>
        </p:txBody>
      </p:sp>
      <p:sp>
        <p:nvSpPr>
          <p:cNvPr id="9" name="TextBox 8"/>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0" name="TextBox 9"/>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234440"/>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SIXTY SECONDS</a:t>
            </a:r>
          </a:p>
        </p:txBody>
      </p:sp>
      <p:sp>
        <p:nvSpPr>
          <p:cNvPr id="4" name="TextBox 3"/>
          <p:cNvSpPr txBox="1"/>
          <p:nvPr/>
        </p:nvSpPr>
        <p:spPr>
          <a:xfrm>
            <a:off x="411480" y="1554480"/>
            <a:ext cx="8229600" cy="1463040"/>
          </a:xfrm>
          <a:prstGeom prst="rect">
            <a:avLst/>
          </a:prstGeom>
          <a:noFill/>
        </p:spPr>
        <p:txBody>
          <a:bodyPr wrap="square" lIns="0" rIns="0" tIns="0" bIns="0" anchor="t"/>
          <a:lstStyle/>
          <a:p>
            <a:pPr algn="l">
              <a:lnSpc>
                <a:spcPct val="96000"/>
              </a:lnSpc>
              <a:spcBef>
                <a:spcPts val="0"/>
              </a:spcBef>
              <a:spcAft>
                <a:spcPts val="0"/>
              </a:spcAft>
            </a:pPr>
            <a:r>
              <a:rPr sz="3400" b="1" i="0">
                <a:solidFill>
                  <a:srgbClr val="1C161A"/>
                </a:solidFill>
                <a:latin typeface="Poppins"/>
                <a:ea typeface="Poppins"/>
                <a:cs typeface="Poppins"/>
              </a:rPr>
              <a:t>Something you struggled</a:t>
            </a:r>
          </a:p>
          <a:p>
            <a:pPr algn="l">
              <a:lnSpc>
                <a:spcPct val="96000"/>
              </a:lnSpc>
              <a:spcBef>
                <a:spcPts val="0"/>
              </a:spcBef>
              <a:spcAft>
                <a:spcPts val="0"/>
              </a:spcAft>
            </a:pPr>
            <a:r>
              <a:rPr sz="3400" b="1" i="0">
                <a:solidFill>
                  <a:srgbClr val="1C161A"/>
                </a:solidFill>
                <a:latin typeface="Poppins"/>
                <a:ea typeface="Poppins"/>
                <a:cs typeface="Poppins"/>
              </a:rPr>
              <a:t>with this week.</a:t>
            </a:r>
          </a:p>
        </p:txBody>
      </p:sp>
      <p:sp>
        <p:nvSpPr>
          <p:cNvPr id="5" name="TextBox 4"/>
          <p:cNvSpPr txBox="1"/>
          <p:nvPr/>
        </p:nvSpPr>
        <p:spPr>
          <a:xfrm>
            <a:off x="438912" y="3383280"/>
            <a:ext cx="7315200" cy="3200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5C4C54"/>
                </a:solidFill>
                <a:latin typeface="Poppins"/>
                <a:ea typeface="Poppins"/>
                <a:cs typeface="Poppins"/>
              </a:rPr>
              <a:t>Then we move on.</a:t>
            </a:r>
          </a:p>
        </p:txBody>
      </p:sp>
      <p:sp>
        <p:nvSpPr>
          <p:cNvPr id="6" name="TextBox 5"/>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7" name="TextBox 6"/>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51560"/>
            <a:ext cx="8229600" cy="256032"/>
          </a:xfrm>
          <a:prstGeom prst="rect">
            <a:avLst/>
          </a:prstGeom>
          <a:noFill/>
        </p:spPr>
        <p:txBody>
          <a:bodyPr wrap="square" lIns="0" rIns="0" tIns="0" bIns="0" anchor="t"/>
          <a:lstStyle/>
          <a:p>
            <a:pPr algn="ctr">
              <a:lnSpc>
                <a:spcPct val="100000"/>
              </a:lnSpc>
              <a:spcBef>
                <a:spcPts val="0"/>
              </a:spcBef>
              <a:spcAft>
                <a:spcPts val="0"/>
              </a:spcAft>
            </a:pPr>
            <a:r>
              <a:rPr sz="1300" b="1" i="0" spc="200">
                <a:solidFill>
                  <a:srgbClr val="FFFFFF"/>
                </a:solidFill>
                <a:latin typeface="Poppins"/>
                <a:ea typeface="Poppins"/>
                <a:cs typeface="Poppins"/>
              </a:rPr>
              <a:t>PLOT TWIST</a:t>
            </a:r>
          </a:p>
        </p:txBody>
      </p:sp>
      <p:sp>
        <p:nvSpPr>
          <p:cNvPr id="4" name="TextBox 3"/>
          <p:cNvSpPr txBox="1"/>
          <p:nvPr/>
        </p:nvSpPr>
        <p:spPr>
          <a:xfrm>
            <a:off x="502920" y="1417320"/>
            <a:ext cx="8138160" cy="2286000"/>
          </a:xfrm>
          <a:prstGeom prst="rect">
            <a:avLst/>
          </a:prstGeom>
          <a:noFill/>
        </p:spPr>
        <p:txBody>
          <a:bodyPr wrap="square" lIns="0" rIns="0" tIns="0" bIns="0" anchor="t"/>
          <a:lstStyle/>
          <a:p>
            <a:pPr algn="ctr">
              <a:lnSpc>
                <a:spcPct val="98000"/>
              </a:lnSpc>
              <a:spcBef>
                <a:spcPts val="0"/>
              </a:spcBef>
              <a:spcAft>
                <a:spcPts val="0"/>
              </a:spcAft>
            </a:pPr>
            <a:r>
              <a:rPr sz="3400" b="1" i="0">
                <a:solidFill>
                  <a:srgbClr val="FFFFFF"/>
                </a:solidFill>
                <a:latin typeface="Poppins"/>
                <a:ea typeface="Poppins"/>
                <a:cs typeface="Poppins"/>
              </a:rPr>
              <a:t>We had the volunteers</a:t>
            </a:r>
          </a:p>
          <a:p>
            <a:pPr algn="ctr">
              <a:lnSpc>
                <a:spcPct val="98000"/>
              </a:lnSpc>
              <a:spcBef>
                <a:spcPts val="0"/>
              </a:spcBef>
              <a:spcAft>
                <a:spcPts val="0"/>
              </a:spcAft>
            </a:pPr>
            <a:r>
              <a:rPr sz="3400" b="1" i="0">
                <a:solidFill>
                  <a:srgbClr val="FFFFFF"/>
                </a:solidFill>
                <a:latin typeface="Poppins"/>
                <a:ea typeface="Poppins"/>
                <a:cs typeface="Poppins"/>
              </a:rPr>
              <a:t>livestream your</a:t>
            </a:r>
          </a:p>
          <a:p>
            <a:pPr algn="ctr">
              <a:lnSpc>
                <a:spcPct val="98000"/>
              </a:lnSpc>
              <a:spcBef>
                <a:spcPts val="0"/>
              </a:spcBef>
              <a:spcAft>
                <a:spcPts val="0"/>
              </a:spcAft>
            </a:pPr>
            <a:r>
              <a:rPr sz="3400" b="1" i="0">
                <a:solidFill>
                  <a:srgbClr val="FFFFFF"/>
                </a:solidFill>
                <a:latin typeface="Poppins"/>
                <a:ea typeface="Poppins"/>
                <a:cs typeface="Poppins"/>
              </a:rPr>
              <a:t>discussions.</a:t>
            </a:r>
          </a:p>
        </p:txBody>
      </p:sp>
      <p:sp>
        <p:nvSpPr>
          <p:cNvPr id="5" name="TextBox 4"/>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6" name="TextBox 5"/>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84048"/>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158158"/>
                </a:solidFill>
                <a:latin typeface="Poppins"/>
                <a:ea typeface="Poppins"/>
                <a:cs typeface="Poppins"/>
              </a:rPr>
              <a:t>CLEAR</a:t>
            </a:r>
          </a:p>
        </p:txBody>
      </p:sp>
      <p:sp>
        <p:nvSpPr>
          <p:cNvPr id="4" name="TextBox 3"/>
          <p:cNvSpPr txBox="1"/>
          <p:nvPr/>
        </p:nvSpPr>
        <p:spPr>
          <a:xfrm>
            <a:off x="411480" y="713232"/>
            <a:ext cx="8229600" cy="50292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1C161A"/>
                </a:solidFill>
                <a:latin typeface="Poppins"/>
                <a:ea typeface="Poppins"/>
                <a:cs typeface="Poppins"/>
              </a:rPr>
              <a:t>Nobody livestreamed you.</a:t>
            </a:r>
          </a:p>
        </p:txBody>
      </p:sp>
      <p:sp>
        <p:nvSpPr>
          <p:cNvPr id="5" name="TextBox 4"/>
          <p:cNvSpPr txBox="1"/>
          <p:nvPr/>
        </p:nvSpPr>
        <p:spPr>
          <a:xfrm>
            <a:off x="411480" y="1280160"/>
            <a:ext cx="822960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1C161A"/>
                </a:solidFill>
                <a:latin typeface="Poppins"/>
                <a:ea typeface="Poppins"/>
                <a:cs typeface="Poppins"/>
              </a:rPr>
              <a:t>Nothing was posted.</a:t>
            </a:r>
          </a:p>
        </p:txBody>
      </p:sp>
      <p:sp>
        <p:nvSpPr>
          <p:cNvPr id="6" name="TextBox 5"/>
          <p:cNvSpPr txBox="1"/>
          <p:nvPr/>
        </p:nvSpPr>
        <p:spPr>
          <a:xfrm>
            <a:off x="411480" y="1847088"/>
            <a:ext cx="822960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1C161A"/>
                </a:solidFill>
                <a:latin typeface="Poppins"/>
                <a:ea typeface="Poppins"/>
                <a:cs typeface="Poppins"/>
              </a:rPr>
              <a:t>Nothing exists.</a:t>
            </a:r>
          </a:p>
        </p:txBody>
      </p:sp>
      <p:sp>
        <p:nvSpPr>
          <p:cNvPr id="7" name="Rounded Rectangle 6"/>
          <p:cNvSpPr/>
          <p:nvPr/>
        </p:nvSpPr>
        <p:spPr>
          <a:xfrm>
            <a:off x="438912" y="2606040"/>
            <a:ext cx="8275320" cy="169164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834640"/>
            <a:ext cx="77724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C161A"/>
                </a:solidFill>
                <a:latin typeface="Poppins"/>
                <a:ea typeface="Poppins"/>
                <a:cs typeface="Poppins"/>
              </a:rPr>
              <a:t>Phones up. Lock screen. Camera closed.</a:t>
            </a:r>
          </a:p>
        </p:txBody>
      </p:sp>
      <p:sp>
        <p:nvSpPr>
          <p:cNvPr id="9" name="TextBox 8"/>
          <p:cNvSpPr txBox="1"/>
          <p:nvPr/>
        </p:nvSpPr>
        <p:spPr>
          <a:xfrm>
            <a:off x="685800" y="3291840"/>
            <a:ext cx="7772400" cy="6858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5C4C54"/>
                </a:solidFill>
                <a:latin typeface="Poppins"/>
                <a:ea typeface="Poppins"/>
                <a:cs typeface="Poppins"/>
              </a:rPr>
              <a:t>There is no stream, no clip, and no link.</a:t>
            </a:r>
          </a:p>
          <a:p>
            <a:pPr algn="l">
              <a:lnSpc>
                <a:spcPct val="105000"/>
              </a:lnSpc>
              <a:spcBef>
                <a:spcPts val="0"/>
              </a:spcBef>
              <a:spcAft>
                <a:spcPts val="0"/>
              </a:spcAft>
            </a:pPr>
            <a:r>
              <a:rPr sz="1500" b="0" i="0">
                <a:solidFill>
                  <a:srgbClr val="5C4C54"/>
                </a:solidFill>
                <a:latin typeface="Poppins"/>
                <a:ea typeface="Poppins"/>
                <a:cs typeface="Poppins"/>
              </a:rPr>
              <a:t>Show the room. Take your time.</a:t>
            </a:r>
          </a:p>
        </p:txBody>
      </p:sp>
      <p:sp>
        <p:nvSpPr>
          <p:cNvPr id="10" name="TextBox 9"/>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1" name="TextBox 10"/>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292608"/>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WHAT THAT WAS FOR</a:t>
            </a:r>
          </a:p>
        </p:txBody>
      </p:sp>
      <p:sp>
        <p:nvSpPr>
          <p:cNvPr id="4" name="TextBox 3"/>
          <p:cNvSpPr txBox="1"/>
          <p:nvPr/>
        </p:nvSpPr>
        <p:spPr>
          <a:xfrm>
            <a:off x="411480" y="566928"/>
            <a:ext cx="8321040" cy="1097280"/>
          </a:xfrm>
          <a:prstGeom prst="rect">
            <a:avLst/>
          </a:prstGeom>
          <a:noFill/>
        </p:spPr>
        <p:txBody>
          <a:bodyPr wrap="square" lIns="0" rIns="0" tIns="0" bIns="0" anchor="t"/>
          <a:lstStyle/>
          <a:p>
            <a:pPr algn="l">
              <a:lnSpc>
                <a:spcPct val="96000"/>
              </a:lnSpc>
              <a:spcBef>
                <a:spcPts val="0"/>
              </a:spcBef>
              <a:spcAft>
                <a:spcPts val="0"/>
              </a:spcAft>
            </a:pPr>
            <a:r>
              <a:rPr sz="2800" b="1" i="0">
                <a:solidFill>
                  <a:srgbClr val="1C161A"/>
                </a:solidFill>
                <a:latin typeface="Poppins"/>
                <a:ea typeface="Poppins"/>
                <a:cs typeface="Poppins"/>
              </a:rPr>
              <a:t>No one wants to be recorded</a:t>
            </a:r>
          </a:p>
          <a:p>
            <a:pPr algn="l">
              <a:lnSpc>
                <a:spcPct val="96000"/>
              </a:lnSpc>
              <a:spcBef>
                <a:spcPts val="0"/>
              </a:spcBef>
              <a:spcAft>
                <a:spcPts val="0"/>
              </a:spcAft>
            </a:pPr>
            <a:r>
              <a:rPr sz="2800" b="1" i="0">
                <a:solidFill>
                  <a:srgbClr val="1C161A"/>
                </a:solidFill>
                <a:latin typeface="Poppins"/>
                <a:ea typeface="Poppins"/>
                <a:cs typeface="Poppins"/>
              </a:rPr>
              <a:t>without consent.</a:t>
            </a:r>
          </a:p>
        </p:txBody>
      </p:sp>
      <p:sp>
        <p:nvSpPr>
          <p:cNvPr id="5" name="Rounded Rectangle 4"/>
          <p:cNvSpPr/>
          <p:nvPr/>
        </p:nvSpPr>
        <p:spPr>
          <a:xfrm>
            <a:off x="411480" y="1920240"/>
            <a:ext cx="2697480" cy="246888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18688" y="1920240"/>
            <a:ext cx="2697480" cy="246888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35040" y="1920240"/>
            <a:ext cx="2697480" cy="246888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84831"/>
            <a:ext cx="2377440" cy="365760"/>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THE PHONE</a:t>
            </a:r>
          </a:p>
        </p:txBody>
      </p:sp>
      <p:sp>
        <p:nvSpPr>
          <p:cNvPr id="9" name="TextBox 8"/>
          <p:cNvSpPr txBox="1"/>
          <p:nvPr/>
        </p:nvSpPr>
        <p:spPr>
          <a:xfrm>
            <a:off x="566928" y="2560320"/>
            <a:ext cx="2377440" cy="1554480"/>
          </a:xfrm>
          <a:prstGeom prst="rect">
            <a:avLst/>
          </a:prstGeom>
          <a:noFill/>
        </p:spPr>
        <p:txBody>
          <a:bodyPr wrap="square" lIns="0" rIns="0" tIns="0" bIns="0" anchor="t"/>
          <a:lstStyle/>
          <a:p>
            <a:pPr algn="l">
              <a:lnSpc>
                <a:spcPct val="105000"/>
              </a:lnSpc>
              <a:spcBef>
                <a:spcPts val="0"/>
              </a:spcBef>
              <a:spcAft>
                <a:spcPts val="0"/>
              </a:spcAft>
            </a:pPr>
            <a:r>
              <a:rPr sz="1300" b="0" i="0">
                <a:solidFill>
                  <a:srgbClr val="1C161A"/>
                </a:solidFill>
                <a:latin typeface="Poppins"/>
                <a:ea typeface="Poppins"/>
                <a:cs typeface="Poppins"/>
              </a:rPr>
              <a:t>Face up on the table.</a:t>
            </a:r>
          </a:p>
          <a:p>
            <a:pPr algn="l">
              <a:lnSpc>
                <a:spcPct val="105000"/>
              </a:lnSpc>
              <a:spcBef>
                <a:spcPts val="0"/>
              </a:spcBef>
              <a:spcAft>
                <a:spcPts val="0"/>
              </a:spcAft>
            </a:pPr>
            <a:r>
              <a:rPr sz="1300" b="0" i="0">
                <a:solidFill>
                  <a:srgbClr val="1C161A"/>
                </a:solidFill>
                <a:latin typeface="Poppins"/>
                <a:ea typeface="Poppins"/>
                <a:cs typeface="Poppins"/>
              </a:rPr>
              <a:t>It looked like manners.</a:t>
            </a:r>
          </a:p>
          <a:p>
            <a:pPr algn="l">
              <a:lnSpc>
                <a:spcPct val="105000"/>
              </a:lnSpc>
              <a:spcBef>
                <a:spcPts val="0"/>
              </a:spcBef>
              <a:spcAft>
                <a:spcPts val="0"/>
              </a:spcAft>
            </a:pPr>
            <a:r>
              <a:rPr sz="1300" b="0" i="0">
                <a:solidFill>
                  <a:srgbClr val="1C161A"/>
                </a:solidFill>
                <a:latin typeface="Poppins"/>
                <a:ea typeface="Poppins"/>
                <a:cs typeface="Poppins"/>
              </a:rPr>
              <a:t>It could still have been a mic.</a:t>
            </a:r>
          </a:p>
        </p:txBody>
      </p:sp>
      <p:sp>
        <p:nvSpPr>
          <p:cNvPr id="10" name="TextBox 9"/>
          <p:cNvSpPr txBox="1"/>
          <p:nvPr/>
        </p:nvSpPr>
        <p:spPr>
          <a:xfrm>
            <a:off x="3383280" y="2084831"/>
            <a:ext cx="2377440" cy="365760"/>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THE GLASSES</a:t>
            </a:r>
          </a:p>
        </p:txBody>
      </p:sp>
      <p:sp>
        <p:nvSpPr>
          <p:cNvPr id="11" name="TextBox 10"/>
          <p:cNvSpPr txBox="1"/>
          <p:nvPr/>
        </p:nvSpPr>
        <p:spPr>
          <a:xfrm>
            <a:off x="3383280" y="2560320"/>
            <a:ext cx="2377440" cy="1554480"/>
          </a:xfrm>
          <a:prstGeom prst="rect">
            <a:avLst/>
          </a:prstGeom>
          <a:noFill/>
        </p:spPr>
        <p:txBody>
          <a:bodyPr wrap="square" lIns="0" rIns="0" tIns="0" bIns="0" anchor="t"/>
          <a:lstStyle/>
          <a:p>
            <a:pPr algn="l">
              <a:lnSpc>
                <a:spcPct val="105000"/>
              </a:lnSpc>
              <a:spcBef>
                <a:spcPts val="0"/>
              </a:spcBef>
              <a:spcAft>
                <a:spcPts val="0"/>
              </a:spcAft>
            </a:pPr>
            <a:r>
              <a:rPr sz="1300" b="0" i="0">
                <a:solidFill>
                  <a:srgbClr val="1C161A"/>
                </a:solidFill>
                <a:latin typeface="Poppins"/>
                <a:ea typeface="Poppins"/>
                <a:cs typeface="Poppins"/>
              </a:rPr>
              <a:t>Meta glasses sit at eye level.</a:t>
            </a:r>
          </a:p>
          <a:p>
            <a:pPr algn="l">
              <a:lnSpc>
                <a:spcPct val="105000"/>
              </a:lnSpc>
              <a:spcBef>
                <a:spcPts val="0"/>
              </a:spcBef>
              <a:spcAft>
                <a:spcPts val="0"/>
              </a:spcAft>
            </a:pPr>
            <a:r>
              <a:rPr sz="1300" b="0" i="0">
                <a:solidFill>
                  <a:srgbClr val="1C161A"/>
                </a:solidFill>
                <a:latin typeface="Poppins"/>
                <a:ea typeface="Poppins"/>
                <a:cs typeface="Poppins"/>
              </a:rPr>
              <a:t>A small capture light is the warning.</a:t>
            </a:r>
          </a:p>
          <a:p>
            <a:pPr algn="l">
              <a:lnSpc>
                <a:spcPct val="105000"/>
              </a:lnSpc>
              <a:spcBef>
                <a:spcPts val="0"/>
              </a:spcBef>
              <a:spcAft>
                <a:spcPts val="0"/>
              </a:spcAft>
            </a:pPr>
            <a:r>
              <a:rPr sz="1300" b="0" i="0">
                <a:solidFill>
                  <a:srgbClr val="1C161A"/>
                </a:solidFill>
                <a:latin typeface="Poppins"/>
                <a:ea typeface="Poppins"/>
                <a:cs typeface="Poppins"/>
              </a:rPr>
              <a:t>You have to be looking at the frame.</a:t>
            </a:r>
          </a:p>
        </p:txBody>
      </p:sp>
      <p:sp>
        <p:nvSpPr>
          <p:cNvPr id="12" name="TextBox 11"/>
          <p:cNvSpPr txBox="1"/>
          <p:nvPr/>
        </p:nvSpPr>
        <p:spPr>
          <a:xfrm>
            <a:off x="6199632" y="2084831"/>
            <a:ext cx="2377440" cy="365760"/>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THE GAP</a:t>
            </a:r>
          </a:p>
        </p:txBody>
      </p:sp>
      <p:sp>
        <p:nvSpPr>
          <p:cNvPr id="13" name="TextBox 12"/>
          <p:cNvSpPr txBox="1"/>
          <p:nvPr/>
        </p:nvSpPr>
        <p:spPr>
          <a:xfrm>
            <a:off x="6199632" y="2560320"/>
            <a:ext cx="2377440" cy="1554480"/>
          </a:xfrm>
          <a:prstGeom prst="rect">
            <a:avLst/>
          </a:prstGeom>
          <a:noFill/>
        </p:spPr>
        <p:txBody>
          <a:bodyPr wrap="square" lIns="0" rIns="0" tIns="0" bIns="0" anchor="t"/>
          <a:lstStyle/>
          <a:p>
            <a:pPr algn="l">
              <a:lnSpc>
                <a:spcPct val="105000"/>
              </a:lnSpc>
              <a:spcBef>
                <a:spcPts val="0"/>
              </a:spcBef>
              <a:spcAft>
                <a:spcPts val="0"/>
              </a:spcAft>
            </a:pPr>
            <a:r>
              <a:rPr sz="1300" b="0" i="0">
                <a:solidFill>
                  <a:srgbClr val="1C161A"/>
                </a:solidFill>
                <a:latin typeface="Poppins"/>
                <a:ea typeface="Poppins"/>
                <a:cs typeface="Poppins"/>
              </a:rPr>
              <a:t>You were talking.</a:t>
            </a:r>
          </a:p>
          <a:p>
            <a:pPr algn="l">
              <a:lnSpc>
                <a:spcPct val="105000"/>
              </a:lnSpc>
              <a:spcBef>
                <a:spcPts val="0"/>
              </a:spcBef>
              <a:spcAft>
                <a:spcPts val="0"/>
              </a:spcAft>
            </a:pPr>
            <a:r>
              <a:rPr sz="1300" b="0" i="0">
                <a:solidFill>
                  <a:srgbClr val="1C161A"/>
                </a:solidFill>
                <a:latin typeface="Poppins"/>
                <a:ea typeface="Poppins"/>
                <a:cs typeface="Poppins"/>
              </a:rPr>
              <a:t>You were not inspecting anyone.</a:t>
            </a:r>
          </a:p>
          <a:p>
            <a:pPr algn="l">
              <a:lnSpc>
                <a:spcPct val="105000"/>
              </a:lnSpc>
              <a:spcBef>
                <a:spcPts val="0"/>
              </a:spcBef>
              <a:spcAft>
                <a:spcPts val="0"/>
              </a:spcAft>
            </a:pPr>
            <a:r>
              <a:rPr sz="1300" b="0" i="0">
                <a:solidFill>
                  <a:srgbClr val="1C161A"/>
                </a:solidFill>
                <a:latin typeface="Poppins"/>
                <a:ea typeface="Poppins"/>
                <a:cs typeface="Poppins"/>
              </a:rPr>
              <a:t>You still would not have known.</a:t>
            </a:r>
          </a:p>
        </p:txBody>
      </p:sp>
      <p:sp>
        <p:nvSpPr>
          <p:cNvPr id="14" name="TextBox 13"/>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5" name="TextBox 14"/>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77240"/>
            <a:ext cx="8229600" cy="237744"/>
          </a:xfrm>
          <a:prstGeom prst="rect">
            <a:avLst/>
          </a:prstGeom>
          <a:noFill/>
        </p:spPr>
        <p:txBody>
          <a:bodyPr wrap="square" lIns="0" rIns="0" tIns="0" bIns="0" anchor="t"/>
          <a:lstStyle/>
          <a:p>
            <a:pPr algn="l">
              <a:lnSpc>
                <a:spcPct val="100000"/>
              </a:lnSpc>
              <a:spcBef>
                <a:spcPts val="0"/>
              </a:spcBef>
              <a:spcAft>
                <a:spcPts val="0"/>
              </a:spcAft>
            </a:pPr>
            <a:r>
              <a:rPr sz="1200" b="1" i="0" spc="160">
                <a:solidFill>
                  <a:srgbClr val="FFFFFF"/>
                </a:solidFill>
                <a:latin typeface="Poppins"/>
                <a:ea typeface="Poppins"/>
                <a:cs typeface="Poppins"/>
              </a:rPr>
              <a:t>THE REQUIREMENT</a:t>
            </a:r>
          </a:p>
        </p:txBody>
      </p:sp>
      <p:sp>
        <p:nvSpPr>
          <p:cNvPr id="4" name="TextBox 3"/>
          <p:cNvSpPr txBox="1"/>
          <p:nvPr/>
        </p:nvSpPr>
        <p:spPr>
          <a:xfrm>
            <a:off x="438912" y="1143000"/>
            <a:ext cx="8229600" cy="1280160"/>
          </a:xfrm>
          <a:prstGeom prst="rect">
            <a:avLst/>
          </a:prstGeom>
          <a:noFill/>
        </p:spPr>
        <p:txBody>
          <a:bodyPr wrap="square" lIns="0" rIns="0" tIns="0" bIns="0" anchor="t"/>
          <a:lstStyle/>
          <a:p>
            <a:pPr algn="l">
              <a:lnSpc>
                <a:spcPct val="95000"/>
              </a:lnSpc>
              <a:spcBef>
                <a:spcPts val="0"/>
              </a:spcBef>
              <a:spcAft>
                <a:spcPts val="0"/>
              </a:spcAft>
            </a:pPr>
            <a:r>
              <a:rPr sz="3400" b="1" i="0">
                <a:solidFill>
                  <a:srgbClr val="FFFFFF"/>
                </a:solidFill>
                <a:latin typeface="Poppins"/>
                <a:ea typeface="Poppins"/>
                <a:cs typeface="Poppins"/>
              </a:rPr>
              <a:t>Your phone was</a:t>
            </a:r>
          </a:p>
          <a:p>
            <a:pPr algn="l">
              <a:lnSpc>
                <a:spcPct val="95000"/>
              </a:lnSpc>
              <a:spcBef>
                <a:spcPts val="0"/>
              </a:spcBef>
              <a:spcAft>
                <a:spcPts val="0"/>
              </a:spcAft>
            </a:pPr>
            <a:r>
              <a:rPr sz="3400" b="1" i="0">
                <a:solidFill>
                  <a:srgbClr val="FFFFFF"/>
                </a:solidFill>
                <a:latin typeface="Poppins"/>
                <a:ea typeface="Poppins"/>
                <a:cs typeface="Poppins"/>
              </a:rPr>
              <a:t>on the table.</a:t>
            </a:r>
          </a:p>
        </p:txBody>
      </p:sp>
      <p:sp>
        <p:nvSpPr>
          <p:cNvPr id="5" name="TextBox 4"/>
          <p:cNvSpPr txBox="1"/>
          <p:nvPr/>
        </p:nvSpPr>
        <p:spPr>
          <a:xfrm>
            <a:off x="457200" y="2651760"/>
            <a:ext cx="8046720" cy="82296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FFFFFF"/>
                </a:solidFill>
                <a:latin typeface="Poppins"/>
                <a:ea typeface="Poppins"/>
                <a:cs typeface="Poppins"/>
              </a:rPr>
              <a:t>You were acting normal.</a:t>
            </a:r>
          </a:p>
          <a:p>
            <a:pPr algn="l">
              <a:lnSpc>
                <a:spcPct val="105000"/>
              </a:lnSpc>
              <a:spcBef>
                <a:spcPts val="0"/>
              </a:spcBef>
              <a:spcAft>
                <a:spcPts val="0"/>
              </a:spcAft>
            </a:pPr>
            <a:r>
              <a:rPr sz="1800" b="0" i="0">
                <a:solidFill>
                  <a:srgbClr val="FFFFFF"/>
                </a:solidFill>
                <a:latin typeface="Poppins"/>
                <a:ea typeface="Poppins"/>
                <a:cs typeface="Poppins"/>
              </a:rPr>
              <a:t>You still would not have known.</a:t>
            </a:r>
          </a:p>
        </p:txBody>
      </p:sp>
      <p:sp>
        <p:nvSpPr>
          <p:cNvPr id="6" name="TextBox 5"/>
          <p:cNvSpPr txBox="1"/>
          <p:nvPr/>
        </p:nvSpPr>
        <p:spPr>
          <a:xfrm>
            <a:off x="457200" y="3794760"/>
            <a:ext cx="80467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FFFFFF"/>
                </a:solidFill>
                <a:latin typeface="Poppins"/>
                <a:ea typeface="Poppins"/>
                <a:cs typeface="Poppins"/>
              </a:rPr>
              <a:t>Sumi was the exercise. Vendetta is the product.</a:t>
            </a:r>
          </a:p>
        </p:txBody>
      </p:sp>
      <p:sp>
        <p:nvSpPr>
          <p:cNvPr id="7" name="TextBox 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8" name="TextBox 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0080"/>
            <a:ext cx="6400800" cy="219456"/>
          </a:xfrm>
          <a:prstGeom prst="rect">
            <a:avLst/>
          </a:prstGeom>
          <a:noFill/>
        </p:spPr>
        <p:txBody>
          <a:bodyPr wrap="square" lIns="0" rIns="0" tIns="0" bIns="0" anchor="t"/>
          <a:lstStyle/>
          <a:p>
            <a:pPr algn="l">
              <a:lnSpc>
                <a:spcPct val="100000"/>
              </a:lnSpc>
              <a:spcBef>
                <a:spcPts val="0"/>
              </a:spcBef>
              <a:spcAft>
                <a:spcPts val="0"/>
              </a:spcAft>
            </a:pPr>
            <a:r>
              <a:rPr sz="1200" b="1" i="0" spc="160">
                <a:solidFill>
                  <a:srgbClr val="FFFFFF"/>
                </a:solidFill>
                <a:latin typeface="Poppins"/>
                <a:ea typeface="Poppins"/>
                <a:cs typeface="Poppins"/>
              </a:rPr>
              <a:t>THE ACTUAL PRODUCT</a:t>
            </a:r>
          </a:p>
        </p:txBody>
      </p:sp>
      <p:sp>
        <p:nvSpPr>
          <p:cNvPr id="4" name="TextBox 3"/>
          <p:cNvSpPr txBox="1"/>
          <p:nvPr/>
        </p:nvSpPr>
        <p:spPr>
          <a:xfrm>
            <a:off x="411480" y="914400"/>
            <a:ext cx="6583680" cy="822960"/>
          </a:xfrm>
          <a:prstGeom prst="rect">
            <a:avLst/>
          </a:prstGeom>
          <a:noFill/>
        </p:spPr>
        <p:txBody>
          <a:bodyPr wrap="square" lIns="0" rIns="0" tIns="0" bIns="0" anchor="t"/>
          <a:lstStyle/>
          <a:p>
            <a:pPr algn="l">
              <a:lnSpc>
                <a:spcPct val="100000"/>
              </a:lnSpc>
              <a:spcBef>
                <a:spcPts val="0"/>
              </a:spcBef>
              <a:spcAft>
                <a:spcPts val="0"/>
              </a:spcAft>
            </a:pPr>
            <a:r>
              <a:rPr sz="4800" b="1" i="0">
                <a:solidFill>
                  <a:srgbClr val="FFFFFF"/>
                </a:solidFill>
                <a:latin typeface="Poppins"/>
                <a:ea typeface="Poppins"/>
                <a:cs typeface="Poppins"/>
              </a:rPr>
              <a:t>Vendetta</a:t>
            </a:r>
          </a:p>
        </p:txBody>
      </p:sp>
      <p:sp>
        <p:nvSpPr>
          <p:cNvPr id="5" name="TextBox 4"/>
          <p:cNvSpPr txBox="1"/>
          <p:nvPr/>
        </p:nvSpPr>
        <p:spPr>
          <a:xfrm>
            <a:off x="457200" y="1874519"/>
            <a:ext cx="6035040" cy="822960"/>
          </a:xfrm>
          <a:prstGeom prst="rect">
            <a:avLst/>
          </a:prstGeom>
          <a:noFill/>
        </p:spPr>
        <p:txBody>
          <a:bodyPr wrap="square" lIns="0" rIns="0" tIns="0" bIns="0" anchor="t"/>
          <a:lstStyle/>
          <a:p>
            <a:pPr algn="l">
              <a:lnSpc>
                <a:spcPct val="102000"/>
              </a:lnSpc>
              <a:spcBef>
                <a:spcPts val="0"/>
              </a:spcBef>
              <a:spcAft>
                <a:spcPts val="0"/>
              </a:spcAft>
            </a:pPr>
            <a:r>
              <a:rPr sz="2000" b="0" i="0">
                <a:solidFill>
                  <a:srgbClr val="FFFFFF"/>
                </a:solidFill>
                <a:latin typeface="Poppins"/>
                <a:ea typeface="Poppins"/>
                <a:cs typeface="Poppins"/>
              </a:rPr>
              <a:t>A cute wearable that notices</a:t>
            </a:r>
          </a:p>
          <a:p>
            <a:pPr algn="l">
              <a:lnSpc>
                <a:spcPct val="102000"/>
              </a:lnSpc>
              <a:spcBef>
                <a:spcPts val="0"/>
              </a:spcBef>
              <a:spcAft>
                <a:spcPts val="0"/>
              </a:spcAft>
            </a:pPr>
            <a:r>
              <a:rPr sz="2000" b="0" i="0">
                <a:solidFill>
                  <a:srgbClr val="FFFFFF"/>
                </a:solidFill>
                <a:latin typeface="Poppins"/>
                <a:ea typeface="Poppins"/>
                <a:cs typeface="Poppins"/>
              </a:rPr>
              <a:t>Meta glasses.</a:t>
            </a:r>
          </a:p>
        </p:txBody>
      </p:sp>
      <p:sp>
        <p:nvSpPr>
          <p:cNvPr id="6" name="TextBox 5"/>
          <p:cNvSpPr txBox="1"/>
          <p:nvPr/>
        </p:nvSpPr>
        <p:spPr>
          <a:xfrm>
            <a:off x="457200" y="2880360"/>
            <a:ext cx="6217920" cy="36576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FFFFFF"/>
                </a:solidFill>
                <a:latin typeface="Poppins"/>
                <a:ea typeface="Poppins"/>
                <a:cs typeface="Poppins"/>
              </a:rPr>
              <a:t>Small enough for a key ring, a zipper, or a bag.</a:t>
            </a:r>
          </a:p>
        </p:txBody>
      </p:sp>
      <p:sp>
        <p:nvSpPr>
          <p:cNvPr id="7" name="TextBox 6"/>
          <p:cNvSpPr txBox="1"/>
          <p:nvPr/>
        </p:nvSpPr>
        <p:spPr>
          <a:xfrm>
            <a:off x="457200" y="3977639"/>
            <a:ext cx="6583680" cy="2743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FFFFFF"/>
                </a:solidFill>
                <a:latin typeface="Poppins"/>
                <a:ea typeface="Poppins"/>
                <a:cs typeface="Poppins"/>
              </a:rPr>
              <a:t>Livia Aschheim    ·    [ Name ]    ·    [ Name ]</a:t>
            </a:r>
          </a:p>
        </p:txBody>
      </p:sp>
      <p:sp>
        <p:nvSpPr>
          <p:cNvPr id="8" name="Oval 7"/>
          <p:cNvSpPr/>
          <p:nvPr/>
        </p:nvSpPr>
        <p:spPr>
          <a:xfrm>
            <a:off x="7437729" y="1417320"/>
            <a:ext cx="538581" cy="538581"/>
          </a:xfrm>
          <a:prstGeom prst="ellipse">
            <a:avLst/>
          </a:prstGeom>
          <a:solidFill>
            <a:srgbClr val="E7C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79461" y="1559052"/>
            <a:ext cx="255117" cy="255117"/>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40880" y="1870862"/>
            <a:ext cx="1332280" cy="1488186"/>
          </a:xfrm>
          <a:prstGeom prst="ellipse">
            <a:avLst/>
          </a:prstGeom>
          <a:solidFill>
            <a:srgbClr val="E7C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82612" y="2012594"/>
            <a:ext cx="1048816" cy="120472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09383" y="2239365"/>
            <a:ext cx="595274" cy="680313"/>
          </a:xfrm>
          <a:prstGeom prst="ellipse">
            <a:avLst/>
          </a:prstGeom>
          <a:solidFill>
            <a:srgbClr val="F3C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607808" y="2437790"/>
            <a:ext cx="170078" cy="170078"/>
          </a:xfrm>
          <a:prstGeom prst="ellipse">
            <a:avLst/>
          </a:prstGeom>
          <a:solidFill>
            <a:srgbClr val="CC5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15" name="TextBox 14"/>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FEATURES</a:t>
            </a:r>
          </a:p>
        </p:txBody>
      </p:sp>
      <p:sp>
        <p:nvSpPr>
          <p:cNvPr id="4" name="TextBox 3"/>
          <p:cNvSpPr txBox="1"/>
          <p:nvPr/>
        </p:nvSpPr>
        <p:spPr>
          <a:xfrm>
            <a:off x="384048" y="475488"/>
            <a:ext cx="82296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C161A"/>
                </a:solidFill>
                <a:latin typeface="Poppins"/>
                <a:ea typeface="Poppins"/>
                <a:cs typeface="Poppins"/>
              </a:rPr>
              <a:t>Four words. Each one is a behavior.</a:t>
            </a:r>
          </a:p>
        </p:txBody>
      </p:sp>
      <p:sp>
        <p:nvSpPr>
          <p:cNvPr id="5" name="Rounded Rectangle 4"/>
          <p:cNvSpPr/>
          <p:nvPr/>
        </p:nvSpPr>
        <p:spPr>
          <a:xfrm>
            <a:off x="365760" y="1097280"/>
            <a:ext cx="2057400" cy="3246120"/>
          </a:xfrm>
          <a:prstGeom prst="roundRect">
            <a:avLst>
              <a:gd name="adj" fmla="val 10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 y="1261872"/>
            <a:ext cx="1737360" cy="256032"/>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01</a:t>
            </a:r>
          </a:p>
        </p:txBody>
      </p:sp>
      <p:sp>
        <p:nvSpPr>
          <p:cNvPr id="7" name="TextBox 6"/>
          <p:cNvSpPr txBox="1"/>
          <p:nvPr/>
        </p:nvSpPr>
        <p:spPr>
          <a:xfrm>
            <a:off x="493776" y="1600200"/>
            <a:ext cx="1783080" cy="64008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Discreet</a:t>
            </a:r>
          </a:p>
        </p:txBody>
      </p:sp>
      <p:sp>
        <p:nvSpPr>
          <p:cNvPr id="8" name="TextBox 7"/>
          <p:cNvSpPr txBox="1"/>
          <p:nvPr/>
        </p:nvSpPr>
        <p:spPr>
          <a:xfrm>
            <a:off x="493776" y="2331720"/>
            <a:ext cx="1783080" cy="1737360"/>
          </a:xfrm>
          <a:prstGeom prst="rect">
            <a:avLst/>
          </a:prstGeom>
          <a:noFill/>
        </p:spPr>
        <p:txBody>
          <a:bodyPr wrap="square" lIns="0" rIns="0" tIns="0" bIns="0" anchor="t"/>
          <a:lstStyle/>
          <a:p>
            <a:pPr algn="l">
              <a:lnSpc>
                <a:spcPct val="105000"/>
              </a:lnSpc>
              <a:spcBef>
                <a:spcPts val="0"/>
              </a:spcBef>
              <a:spcAft>
                <a:spcPts val="0"/>
              </a:spcAft>
            </a:pPr>
            <a:r>
              <a:rPr sz="1200" b="0" i="0">
                <a:solidFill>
                  <a:srgbClr val="5C4C54"/>
                </a:solidFill>
                <a:latin typeface="Poppins"/>
                <a:ea typeface="Poppins"/>
                <a:cs typeface="Poppins"/>
              </a:rPr>
              <a:t>No screen to check. A tap, a tiny light, or a soft sound. Each one can be turned off.</a:t>
            </a:r>
          </a:p>
        </p:txBody>
      </p:sp>
      <p:sp>
        <p:nvSpPr>
          <p:cNvPr id="9" name="Rounded Rectangle 8"/>
          <p:cNvSpPr/>
          <p:nvPr/>
        </p:nvSpPr>
        <p:spPr>
          <a:xfrm>
            <a:off x="2542032" y="1097280"/>
            <a:ext cx="2057400" cy="3246120"/>
          </a:xfrm>
          <a:prstGeom prst="roundRect">
            <a:avLst>
              <a:gd name="adj" fmla="val 10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70048" y="1261872"/>
            <a:ext cx="1737360" cy="256032"/>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02</a:t>
            </a:r>
          </a:p>
        </p:txBody>
      </p:sp>
      <p:sp>
        <p:nvSpPr>
          <p:cNvPr id="11" name="TextBox 10"/>
          <p:cNvSpPr txBox="1"/>
          <p:nvPr/>
        </p:nvSpPr>
        <p:spPr>
          <a:xfrm>
            <a:off x="2670048" y="1600200"/>
            <a:ext cx="1783080" cy="64008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Continuous</a:t>
            </a:r>
          </a:p>
        </p:txBody>
      </p:sp>
      <p:sp>
        <p:nvSpPr>
          <p:cNvPr id="12" name="TextBox 11"/>
          <p:cNvSpPr txBox="1"/>
          <p:nvPr/>
        </p:nvSpPr>
        <p:spPr>
          <a:xfrm>
            <a:off x="2670048" y="2331720"/>
            <a:ext cx="1783080" cy="1737360"/>
          </a:xfrm>
          <a:prstGeom prst="rect">
            <a:avLst/>
          </a:prstGeom>
          <a:noFill/>
        </p:spPr>
        <p:txBody>
          <a:bodyPr wrap="square" lIns="0" rIns="0" tIns="0" bIns="0" anchor="t"/>
          <a:lstStyle/>
          <a:p>
            <a:pPr algn="l">
              <a:lnSpc>
                <a:spcPct val="105000"/>
              </a:lnSpc>
              <a:spcBef>
                <a:spcPts val="0"/>
              </a:spcBef>
              <a:spcAft>
                <a:spcPts val="0"/>
              </a:spcAft>
            </a:pPr>
            <a:r>
              <a:rPr sz="1200" b="0" i="0">
                <a:solidFill>
                  <a:srgbClr val="5C4C54"/>
                </a:solidFill>
                <a:latin typeface="Poppins"/>
                <a:ea typeface="Poppins"/>
                <a:cs typeface="Poppins"/>
              </a:rPr>
              <a:t>While it is on, it keeps noticing Meta glasses nearby. It does not record the room.</a:t>
            </a:r>
          </a:p>
        </p:txBody>
      </p:sp>
      <p:sp>
        <p:nvSpPr>
          <p:cNvPr id="13" name="Rounded Rectangle 12"/>
          <p:cNvSpPr/>
          <p:nvPr/>
        </p:nvSpPr>
        <p:spPr>
          <a:xfrm>
            <a:off x="4718304" y="1097280"/>
            <a:ext cx="2057400" cy="3246120"/>
          </a:xfrm>
          <a:prstGeom prst="roundRect">
            <a:avLst>
              <a:gd name="adj" fmla="val 10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1261872"/>
            <a:ext cx="1737360" cy="256032"/>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03</a:t>
            </a:r>
          </a:p>
        </p:txBody>
      </p:sp>
      <p:sp>
        <p:nvSpPr>
          <p:cNvPr id="15" name="TextBox 14"/>
          <p:cNvSpPr txBox="1"/>
          <p:nvPr/>
        </p:nvSpPr>
        <p:spPr>
          <a:xfrm>
            <a:off x="4846320" y="1600200"/>
            <a:ext cx="1783080" cy="64008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Privacy forward</a:t>
            </a:r>
          </a:p>
        </p:txBody>
      </p:sp>
      <p:sp>
        <p:nvSpPr>
          <p:cNvPr id="16" name="TextBox 15"/>
          <p:cNvSpPr txBox="1"/>
          <p:nvPr/>
        </p:nvSpPr>
        <p:spPr>
          <a:xfrm>
            <a:off x="4846320" y="2331720"/>
            <a:ext cx="1783080" cy="1737360"/>
          </a:xfrm>
          <a:prstGeom prst="rect">
            <a:avLst/>
          </a:prstGeom>
          <a:noFill/>
        </p:spPr>
        <p:txBody>
          <a:bodyPr wrap="square" lIns="0" rIns="0" tIns="0" bIns="0" anchor="t"/>
          <a:lstStyle/>
          <a:p>
            <a:pPr algn="l">
              <a:lnSpc>
                <a:spcPct val="105000"/>
              </a:lnSpc>
              <a:spcBef>
                <a:spcPts val="0"/>
              </a:spcBef>
              <a:spcAft>
                <a:spcPts val="0"/>
              </a:spcAft>
            </a:pPr>
            <a:r>
              <a:rPr sz="1200" b="0" i="0">
                <a:solidFill>
                  <a:srgbClr val="5C4C54"/>
                </a:solidFill>
                <a:latin typeface="Poppins"/>
                <a:ea typeface="Poppins"/>
                <a:cs typeface="Poppins"/>
              </a:rPr>
              <a:t>A warning, not a name. No audio saved. No list of who walked by.</a:t>
            </a:r>
          </a:p>
        </p:txBody>
      </p:sp>
      <p:sp>
        <p:nvSpPr>
          <p:cNvPr id="17" name="Rounded Rectangle 16"/>
          <p:cNvSpPr/>
          <p:nvPr/>
        </p:nvSpPr>
        <p:spPr>
          <a:xfrm>
            <a:off x="6894576" y="1097280"/>
            <a:ext cx="2057400" cy="3246120"/>
          </a:xfrm>
          <a:prstGeom prst="roundRect">
            <a:avLst>
              <a:gd name="adj" fmla="val 10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22592" y="1261872"/>
            <a:ext cx="1737360" cy="256032"/>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04</a:t>
            </a:r>
          </a:p>
        </p:txBody>
      </p:sp>
      <p:sp>
        <p:nvSpPr>
          <p:cNvPr id="19" name="TextBox 18"/>
          <p:cNvSpPr txBox="1"/>
          <p:nvPr/>
        </p:nvSpPr>
        <p:spPr>
          <a:xfrm>
            <a:off x="7022592" y="1600200"/>
            <a:ext cx="1783080" cy="64008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Cute</a:t>
            </a:r>
          </a:p>
        </p:txBody>
      </p:sp>
      <p:sp>
        <p:nvSpPr>
          <p:cNvPr id="20" name="TextBox 19"/>
          <p:cNvSpPr txBox="1"/>
          <p:nvPr/>
        </p:nvSpPr>
        <p:spPr>
          <a:xfrm>
            <a:off x="7022592" y="2331720"/>
            <a:ext cx="1783080" cy="1737360"/>
          </a:xfrm>
          <a:prstGeom prst="rect">
            <a:avLst/>
          </a:prstGeom>
          <a:noFill/>
        </p:spPr>
        <p:txBody>
          <a:bodyPr wrap="square" lIns="0" rIns="0" tIns="0" bIns="0" anchor="t"/>
          <a:lstStyle/>
          <a:p>
            <a:pPr algn="l">
              <a:lnSpc>
                <a:spcPct val="105000"/>
              </a:lnSpc>
              <a:spcBef>
                <a:spcPts val="0"/>
              </a:spcBef>
              <a:spcAft>
                <a:spcPts val="0"/>
              </a:spcAft>
            </a:pPr>
            <a:r>
              <a:rPr sz="1200" b="0" i="0">
                <a:solidFill>
                  <a:srgbClr val="5C4C54"/>
                </a:solidFill>
                <a:latin typeface="Poppins"/>
                <a:ea typeface="Poppins"/>
                <a:cs typeface="Poppins"/>
              </a:rPr>
              <a:t>A pendant-sized charm. On keys, a zipper, or a bag. Cute is why it leaves the house.</a:t>
            </a:r>
          </a:p>
        </p:txBody>
      </p:sp>
      <p:sp>
        <p:nvSpPr>
          <p:cNvPr id="21" name="TextBox 20"/>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22" name="TextBox 21"/>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92608"/>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CUTE IS THE PRODUCT</a:t>
            </a:r>
          </a:p>
        </p:txBody>
      </p:sp>
      <p:sp>
        <p:nvSpPr>
          <p:cNvPr id="4" name="TextBox 3"/>
          <p:cNvSpPr txBox="1"/>
          <p:nvPr/>
        </p:nvSpPr>
        <p:spPr>
          <a:xfrm>
            <a:off x="384048" y="566928"/>
            <a:ext cx="8321040" cy="960120"/>
          </a:xfrm>
          <a:prstGeom prst="rect">
            <a:avLst/>
          </a:prstGeom>
          <a:noFill/>
        </p:spPr>
        <p:txBody>
          <a:bodyPr wrap="square" lIns="0" rIns="0" tIns="0" bIns="0" anchor="t"/>
          <a:lstStyle/>
          <a:p>
            <a:pPr algn="l">
              <a:lnSpc>
                <a:spcPct val="98000"/>
              </a:lnSpc>
              <a:spcBef>
                <a:spcPts val="0"/>
              </a:spcBef>
              <a:spcAft>
                <a:spcPts val="0"/>
              </a:spcAft>
            </a:pPr>
            <a:r>
              <a:rPr sz="2400" b="1" i="0">
                <a:solidFill>
                  <a:srgbClr val="1C161A"/>
                </a:solidFill>
                <a:latin typeface="Poppins"/>
                <a:ea typeface="Poppins"/>
                <a:cs typeface="Poppins"/>
              </a:rPr>
              <a:t>A detector people will not</a:t>
            </a:r>
          </a:p>
          <a:p>
            <a:pPr algn="l">
              <a:lnSpc>
                <a:spcPct val="98000"/>
              </a:lnSpc>
              <a:spcBef>
                <a:spcPts val="0"/>
              </a:spcBef>
              <a:spcAft>
                <a:spcPts val="0"/>
              </a:spcAft>
            </a:pPr>
            <a:r>
              <a:rPr sz="2400" b="1" i="0">
                <a:solidFill>
                  <a:srgbClr val="1C161A"/>
                </a:solidFill>
                <a:latin typeface="Poppins"/>
                <a:ea typeface="Poppins"/>
                <a:cs typeface="Poppins"/>
              </a:rPr>
              <a:t>wear is the same as no detector.</a:t>
            </a:r>
          </a:p>
        </p:txBody>
      </p:sp>
      <p:sp>
        <p:nvSpPr>
          <p:cNvPr id="5" name="Rounded Rectangle 4"/>
          <p:cNvSpPr/>
          <p:nvPr/>
        </p:nvSpPr>
        <p:spPr>
          <a:xfrm>
            <a:off x="384048" y="1783080"/>
            <a:ext cx="4023360" cy="260604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17720" y="1783080"/>
            <a:ext cx="4114800" cy="260604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965960"/>
            <a:ext cx="3657600" cy="256032"/>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THE GADGET VERSION</a:t>
            </a:r>
          </a:p>
        </p:txBody>
      </p:sp>
      <p:sp>
        <p:nvSpPr>
          <p:cNvPr id="8" name="TextBox 7"/>
          <p:cNvSpPr txBox="1"/>
          <p:nvPr/>
        </p:nvSpPr>
        <p:spPr>
          <a:xfrm>
            <a:off x="566928" y="2331720"/>
            <a:ext cx="3566160" cy="173736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1C161A"/>
                </a:solidFill>
                <a:latin typeface="Poppins"/>
                <a:ea typeface="Poppins"/>
                <a:cs typeface="Poppins"/>
              </a:rPr>
              <a:t>Black plastic.</a:t>
            </a:r>
          </a:p>
          <a:p>
            <a:pPr algn="l">
              <a:lnSpc>
                <a:spcPct val="105000"/>
              </a:lnSpc>
              <a:spcBef>
                <a:spcPts val="0"/>
              </a:spcBef>
              <a:spcAft>
                <a:spcPts val="0"/>
              </a:spcAft>
            </a:pPr>
            <a:r>
              <a:rPr sz="1500" b="0" i="0">
                <a:solidFill>
                  <a:srgbClr val="1C161A"/>
                </a:solidFill>
                <a:latin typeface="Poppins"/>
                <a:ea typeface="Poppins"/>
                <a:cs typeface="Poppins"/>
              </a:rPr>
              <a:t>A lamp on the front.</a:t>
            </a:r>
          </a:p>
          <a:p>
            <a:pPr algn="l">
              <a:lnSpc>
                <a:spcPct val="105000"/>
              </a:lnSpc>
              <a:spcBef>
                <a:spcPts val="0"/>
              </a:spcBef>
              <a:spcAft>
                <a:spcPts val="0"/>
              </a:spcAft>
            </a:pPr>
            <a:r>
              <a:rPr sz="1500" b="0" i="0">
                <a:solidFill>
                  <a:srgbClr val="1C161A"/>
                </a:solidFill>
                <a:latin typeface="Poppins"/>
                <a:ea typeface="Poppins"/>
                <a:cs typeface="Poppins"/>
              </a:rPr>
              <a:t>It announces the job,</a:t>
            </a:r>
          </a:p>
          <a:p>
            <a:pPr algn="l">
              <a:lnSpc>
                <a:spcPct val="105000"/>
              </a:lnSpc>
              <a:spcBef>
                <a:spcPts val="0"/>
              </a:spcBef>
              <a:spcAft>
                <a:spcPts val="0"/>
              </a:spcAft>
            </a:pPr>
            <a:r>
              <a:rPr sz="1500" b="0" i="0">
                <a:solidFill>
                  <a:srgbClr val="1C161A"/>
                </a:solidFill>
                <a:latin typeface="Poppins"/>
                <a:ea typeface="Poppins"/>
                <a:cs typeface="Poppins"/>
              </a:rPr>
              <a:t>so it stays in a drawer.</a:t>
            </a:r>
          </a:p>
        </p:txBody>
      </p:sp>
      <p:sp>
        <p:nvSpPr>
          <p:cNvPr id="9" name="TextBox 8"/>
          <p:cNvSpPr txBox="1"/>
          <p:nvPr/>
        </p:nvSpPr>
        <p:spPr>
          <a:xfrm>
            <a:off x="4800600" y="1965960"/>
            <a:ext cx="3657600" cy="256032"/>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158158"/>
                </a:solidFill>
                <a:latin typeface="Poppins"/>
                <a:ea typeface="Poppins"/>
                <a:cs typeface="Poppins"/>
              </a:rPr>
              <a:t>VENDETTA</a:t>
            </a:r>
          </a:p>
        </p:txBody>
      </p:sp>
      <p:sp>
        <p:nvSpPr>
          <p:cNvPr id="10" name="TextBox 9"/>
          <p:cNvSpPr txBox="1"/>
          <p:nvPr/>
        </p:nvSpPr>
        <p:spPr>
          <a:xfrm>
            <a:off x="4800600" y="2331720"/>
            <a:ext cx="3657600" cy="173736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1C161A"/>
                </a:solidFill>
                <a:latin typeface="Poppins"/>
                <a:ea typeface="Poppins"/>
                <a:cs typeface="Poppins"/>
              </a:rPr>
              <a:t>Enamel and a small ring.</a:t>
            </a:r>
          </a:p>
          <a:p>
            <a:pPr algn="l">
              <a:lnSpc>
                <a:spcPct val="105000"/>
              </a:lnSpc>
              <a:spcBef>
                <a:spcPts val="0"/>
              </a:spcBef>
              <a:spcAft>
                <a:spcPts val="0"/>
              </a:spcAft>
            </a:pPr>
            <a:r>
              <a:rPr sz="1500" b="0" i="0">
                <a:solidFill>
                  <a:srgbClr val="1C161A"/>
                </a:solidFill>
                <a:latin typeface="Poppins"/>
                <a:ea typeface="Poppins"/>
                <a:cs typeface="Poppins"/>
              </a:rPr>
              <a:t>The sensor is sealed inside.</a:t>
            </a:r>
          </a:p>
          <a:p>
            <a:pPr algn="l">
              <a:lnSpc>
                <a:spcPct val="105000"/>
              </a:lnSpc>
              <a:spcBef>
                <a:spcPts val="0"/>
              </a:spcBef>
              <a:spcAft>
                <a:spcPts val="0"/>
              </a:spcAft>
            </a:pPr>
            <a:r>
              <a:rPr sz="1500" b="0" i="0">
                <a:solidFill>
                  <a:srgbClr val="1C161A"/>
                </a:solidFill>
                <a:latin typeface="Poppins"/>
                <a:ea typeface="Poppins"/>
                <a:cs typeface="Poppins"/>
              </a:rPr>
              <a:t>From a meter away,</a:t>
            </a:r>
          </a:p>
          <a:p>
            <a:pPr algn="l">
              <a:lnSpc>
                <a:spcPct val="105000"/>
              </a:lnSpc>
              <a:spcBef>
                <a:spcPts val="0"/>
              </a:spcBef>
              <a:spcAft>
                <a:spcPts val="0"/>
              </a:spcAft>
            </a:pPr>
            <a:r>
              <a:rPr sz="1500" b="0" i="0">
                <a:solidFill>
                  <a:srgbClr val="1C161A"/>
                </a:solidFill>
                <a:latin typeface="Poppins"/>
                <a:ea typeface="Poppins"/>
                <a:cs typeface="Poppins"/>
              </a:rPr>
              <a:t>it is a charm.</a:t>
            </a:r>
          </a:p>
        </p:txBody>
      </p:sp>
      <p:sp>
        <p:nvSpPr>
          <p:cNvPr id="11" name="TextBox 10"/>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2" name="TextBox 11"/>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37744"/>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HOW IT ACTUALLY WORKS</a:t>
            </a:r>
          </a:p>
        </p:txBody>
      </p:sp>
      <p:sp>
        <p:nvSpPr>
          <p:cNvPr id="4" name="TextBox 3"/>
          <p:cNvSpPr txBox="1"/>
          <p:nvPr/>
        </p:nvSpPr>
        <p:spPr>
          <a:xfrm>
            <a:off x="384048" y="457200"/>
            <a:ext cx="82296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C161A"/>
                </a:solidFill>
                <a:latin typeface="Poppins"/>
                <a:ea typeface="Poppins"/>
                <a:cs typeface="Poppins"/>
              </a:rPr>
              <a:t>Two signals. Both already public.</a:t>
            </a:r>
          </a:p>
        </p:txBody>
      </p:sp>
      <p:sp>
        <p:nvSpPr>
          <p:cNvPr id="5" name="Rounded Rectangle 4"/>
          <p:cNvSpPr/>
          <p:nvPr/>
        </p:nvSpPr>
        <p:spPr>
          <a:xfrm>
            <a:off x="365760" y="1005840"/>
            <a:ext cx="4114800" cy="288036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63440" y="1005840"/>
            <a:ext cx="4114800" cy="2880360"/>
          </a:xfrm>
          <a:prstGeom prst="roundRect">
            <a:avLst>
              <a:gd name="adj" fmla="val 8000"/>
            </a:avLst>
          </a:prstGeom>
          <a:solidFill>
            <a:srgbClr val="1C1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70432"/>
            <a:ext cx="3749039" cy="237744"/>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A PAIR IS HERE</a:t>
            </a:r>
          </a:p>
        </p:txBody>
      </p:sp>
      <p:sp>
        <p:nvSpPr>
          <p:cNvPr id="8" name="TextBox 7"/>
          <p:cNvSpPr txBox="1"/>
          <p:nvPr/>
        </p:nvSpPr>
        <p:spPr>
          <a:xfrm>
            <a:off x="548640" y="1508760"/>
            <a:ext cx="3749039" cy="21488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1C161A"/>
                </a:solidFill>
                <a:latin typeface="Poppins"/>
                <a:ea typeface="Poppins"/>
                <a:cs typeface="Poppins"/>
              </a:rPr>
              <a:t>Meta glasses speak</a:t>
            </a:r>
          </a:p>
          <a:p>
            <a:pPr algn="l">
              <a:lnSpc>
                <a:spcPct val="102000"/>
              </a:lnSpc>
              <a:spcBef>
                <a:spcPts val="0"/>
              </a:spcBef>
              <a:spcAft>
                <a:spcPts val="0"/>
              </a:spcAft>
            </a:pPr>
            <a:r>
              <a:rPr sz="1400" b="0" i="0">
                <a:solidFill>
                  <a:srgbClr val="1C161A"/>
                </a:solidFill>
                <a:latin typeface="Poppins"/>
                <a:ea typeface="Poppins"/>
                <a:cs typeface="Poppins"/>
              </a:rPr>
              <a:t>Bluetooth while they are on.</a:t>
            </a:r>
          </a:p>
          <a:p>
            <a:pPr algn="l">
              <a:lnSpc>
                <a:spcPct val="102000"/>
              </a:lnSpc>
              <a:spcBef>
                <a:spcPts val="0"/>
              </a:spcBef>
              <a:spcAft>
                <a:spcPts val="0"/>
              </a:spcAft>
            </a:pPr>
            <a:r>
              <a:rPr sz="1400" b="0" i="0">
                <a:solidFill>
                  <a:srgbClr val="1C161A"/>
                </a:solidFill>
                <a:latin typeface="Poppins"/>
                <a:ea typeface="Poppins"/>
                <a:cs typeface="Poppins"/>
              </a:rPr>
              <a:t/>
            </a:r>
          </a:p>
          <a:p>
            <a:pPr algn="l">
              <a:lnSpc>
                <a:spcPct val="102000"/>
              </a:lnSpc>
              <a:spcBef>
                <a:spcPts val="0"/>
              </a:spcBef>
              <a:spcAft>
                <a:spcPts val="0"/>
              </a:spcAft>
            </a:pPr>
            <a:r>
              <a:rPr sz="1400" b="0" i="0">
                <a:solidFill>
                  <a:srgbClr val="1C161A"/>
                </a:solidFill>
                <a:latin typeface="Poppins"/>
                <a:ea typeface="Poppins"/>
                <a:cs typeface="Poppins"/>
              </a:rPr>
              <a:t>Vendetta recognizes that</a:t>
            </a:r>
          </a:p>
          <a:p>
            <a:pPr algn="l">
              <a:lnSpc>
                <a:spcPct val="102000"/>
              </a:lnSpc>
              <a:spcBef>
                <a:spcPts val="0"/>
              </a:spcBef>
              <a:spcAft>
                <a:spcPts val="0"/>
              </a:spcAft>
            </a:pPr>
            <a:r>
              <a:rPr sz="1400" b="0" i="0">
                <a:solidFill>
                  <a:srgbClr val="1C161A"/>
                </a:solidFill>
                <a:latin typeface="Poppins"/>
                <a:ea typeface="Poppins"/>
                <a:cs typeface="Poppins"/>
              </a:rPr>
              <a:t>family, a few meters away.</a:t>
            </a:r>
          </a:p>
          <a:p>
            <a:pPr algn="l">
              <a:lnSpc>
                <a:spcPct val="102000"/>
              </a:lnSpc>
              <a:spcBef>
                <a:spcPts val="0"/>
              </a:spcBef>
              <a:spcAft>
                <a:spcPts val="0"/>
              </a:spcAft>
            </a:pPr>
            <a:r>
              <a:rPr sz="1400" b="0" i="0">
                <a:solidFill>
                  <a:srgbClr val="1C161A"/>
                </a:solidFill>
                <a:latin typeface="Poppins"/>
                <a:ea typeface="Poppins"/>
                <a:cs typeface="Poppins"/>
              </a:rPr>
              <a:t/>
            </a:r>
          </a:p>
          <a:p>
            <a:pPr algn="l">
              <a:lnSpc>
                <a:spcPct val="102000"/>
              </a:lnSpc>
              <a:spcBef>
                <a:spcPts val="0"/>
              </a:spcBef>
              <a:spcAft>
                <a:spcPts val="0"/>
              </a:spcAft>
            </a:pPr>
            <a:r>
              <a:rPr sz="1400" b="0" i="0">
                <a:solidFill>
                  <a:srgbClr val="1C161A"/>
                </a:solidFill>
                <a:latin typeface="Poppins"/>
                <a:ea typeface="Poppins"/>
                <a:cs typeface="Poppins"/>
              </a:rPr>
              <a:t>Ordinary eyeglasses stay quiet.</a:t>
            </a:r>
          </a:p>
        </p:txBody>
      </p:sp>
      <p:sp>
        <p:nvSpPr>
          <p:cNvPr id="9" name="TextBox 8"/>
          <p:cNvSpPr txBox="1"/>
          <p:nvPr/>
        </p:nvSpPr>
        <p:spPr>
          <a:xfrm>
            <a:off x="4846320" y="1170432"/>
            <a:ext cx="3749039" cy="237744"/>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E7C2A0"/>
                </a:solidFill>
                <a:latin typeface="Poppins"/>
                <a:ea typeface="Poppins"/>
                <a:cs typeface="Poppins"/>
              </a:rPr>
              <a:t>THE LIGHT IS ON</a:t>
            </a:r>
          </a:p>
        </p:txBody>
      </p:sp>
      <p:sp>
        <p:nvSpPr>
          <p:cNvPr id="10" name="TextBox 9"/>
          <p:cNvSpPr txBox="1"/>
          <p:nvPr/>
        </p:nvSpPr>
        <p:spPr>
          <a:xfrm>
            <a:off x="4846320" y="1508760"/>
            <a:ext cx="3749039" cy="21488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FFFFFF"/>
                </a:solidFill>
                <a:latin typeface="Poppins"/>
                <a:ea typeface="Poppins"/>
                <a:cs typeface="Poppins"/>
              </a:rPr>
              <a:t>Meta publishes the pattern.</a:t>
            </a:r>
          </a:p>
          <a:p>
            <a:pPr algn="l">
              <a:lnSpc>
                <a:spcPct val="102000"/>
              </a:lnSpc>
              <a:spcBef>
                <a:spcPts val="0"/>
              </a:spcBef>
              <a:spcAft>
                <a:spcPts val="0"/>
              </a:spcAft>
            </a:pPr>
            <a:r>
              <a:rPr sz="1400" b="0" i="0">
                <a:solidFill>
                  <a:srgbClr val="FFFFFF"/>
                </a:solidFill>
                <a:latin typeface="Poppins"/>
                <a:ea typeface="Poppins"/>
                <a:cs typeface="Poppins"/>
              </a:rPr>
              <a:t>A blink for a photo.</a:t>
            </a:r>
          </a:p>
          <a:p>
            <a:pPr algn="l">
              <a:lnSpc>
                <a:spcPct val="102000"/>
              </a:lnSpc>
              <a:spcBef>
                <a:spcPts val="0"/>
              </a:spcBef>
              <a:spcAft>
                <a:spcPts val="0"/>
              </a:spcAft>
            </a:pPr>
            <a:r>
              <a:rPr sz="1400" b="0" i="0">
                <a:solidFill>
                  <a:srgbClr val="FFFFFF"/>
                </a:solidFill>
                <a:latin typeface="Poppins"/>
                <a:ea typeface="Poppins"/>
                <a:cs typeface="Poppins"/>
              </a:rPr>
              <a:t>On through a video.</a:t>
            </a:r>
          </a:p>
          <a:p>
            <a:pPr algn="l">
              <a:lnSpc>
                <a:spcPct val="102000"/>
              </a:lnSpc>
              <a:spcBef>
                <a:spcPts val="0"/>
              </a:spcBef>
              <a:spcAft>
                <a:spcPts val="0"/>
              </a:spcAft>
            </a:pPr>
            <a:r>
              <a:rPr sz="1400" b="0" i="0">
                <a:solidFill>
                  <a:srgbClr val="FFFFFF"/>
                </a:solidFill>
                <a:latin typeface="Poppins"/>
                <a:ea typeface="Poppins"/>
                <a:cs typeface="Poppins"/>
              </a:rPr>
              <a:t/>
            </a:r>
          </a:p>
          <a:p>
            <a:pPr algn="l">
              <a:lnSpc>
                <a:spcPct val="102000"/>
              </a:lnSpc>
              <a:spcBef>
                <a:spcPts val="0"/>
              </a:spcBef>
              <a:spcAft>
                <a:spcPts val="0"/>
              </a:spcAft>
            </a:pPr>
            <a:r>
              <a:rPr sz="1400" b="0" i="0">
                <a:solidFill>
                  <a:srgbClr val="FFFFFF"/>
                </a:solidFill>
                <a:latin typeface="Poppins"/>
                <a:ea typeface="Poppins"/>
                <a:cs typeface="Poppins"/>
              </a:rPr>
              <a:t>A sensor in the charm</a:t>
            </a:r>
          </a:p>
          <a:p>
            <a:pPr algn="l">
              <a:lnSpc>
                <a:spcPct val="102000"/>
              </a:lnSpc>
              <a:spcBef>
                <a:spcPts val="0"/>
              </a:spcBef>
              <a:spcAft>
                <a:spcPts val="0"/>
              </a:spcAft>
            </a:pPr>
            <a:r>
              <a:rPr sz="1400" b="0" i="0">
                <a:solidFill>
                  <a:srgbClr val="FFFFFF"/>
                </a:solidFill>
                <a:latin typeface="Poppins"/>
                <a:ea typeface="Poppins"/>
                <a:cs typeface="Poppins"/>
              </a:rPr>
              <a:t>watches for that blink</a:t>
            </a:r>
          </a:p>
          <a:p>
            <a:pPr algn="l">
              <a:lnSpc>
                <a:spcPct val="102000"/>
              </a:lnSpc>
              <a:spcBef>
                <a:spcPts val="0"/>
              </a:spcBef>
              <a:spcAft>
                <a:spcPts val="0"/>
              </a:spcAft>
            </a:pPr>
            <a:r>
              <a:rPr sz="1400" b="0" i="0">
                <a:solidFill>
                  <a:srgbClr val="FFFFFF"/>
                </a:solidFill>
                <a:latin typeface="Poppins"/>
                <a:ea typeface="Poppins"/>
                <a:cs typeface="Poppins"/>
              </a:rPr>
              <a:t>and changes the alert.</a:t>
            </a:r>
          </a:p>
        </p:txBody>
      </p:sp>
      <p:sp>
        <p:nvSpPr>
          <p:cNvPr id="11" name="TextBox 10"/>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2" name="TextBox 11"/>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CONTINUOUS, WITHOUT BUZZING ALL DAY</a:t>
            </a:r>
          </a:p>
        </p:txBody>
      </p:sp>
      <p:sp>
        <p:nvSpPr>
          <p:cNvPr id="4" name="TextBox 3"/>
          <p:cNvSpPr txBox="1"/>
          <p:nvPr/>
        </p:nvSpPr>
        <p:spPr>
          <a:xfrm>
            <a:off x="384048" y="502920"/>
            <a:ext cx="8229600" cy="960120"/>
          </a:xfrm>
          <a:prstGeom prst="rect">
            <a:avLst/>
          </a:prstGeom>
          <a:noFill/>
        </p:spPr>
        <p:txBody>
          <a:bodyPr wrap="square" lIns="0" rIns="0" tIns="0" bIns="0" anchor="t"/>
          <a:lstStyle/>
          <a:p>
            <a:pPr algn="l">
              <a:lnSpc>
                <a:spcPct val="95000"/>
              </a:lnSpc>
              <a:spcBef>
                <a:spcPts val="0"/>
              </a:spcBef>
              <a:spcAft>
                <a:spcPts val="0"/>
              </a:spcAft>
            </a:pPr>
            <a:r>
              <a:rPr sz="2800" b="1" i="0">
                <a:solidFill>
                  <a:srgbClr val="1C161A"/>
                </a:solidFill>
                <a:latin typeface="Poppins"/>
                <a:ea typeface="Poppins"/>
                <a:cs typeface="Poppins"/>
              </a:rPr>
              <a:t>Idle is one tap.</a:t>
            </a:r>
          </a:p>
          <a:p>
            <a:pPr algn="l">
              <a:lnSpc>
                <a:spcPct val="95000"/>
              </a:lnSpc>
              <a:spcBef>
                <a:spcPts val="0"/>
              </a:spcBef>
              <a:spcAft>
                <a:spcPts val="0"/>
              </a:spcAft>
            </a:pPr>
            <a:r>
              <a:rPr sz="2800" b="1" i="0">
                <a:solidFill>
                  <a:srgbClr val="1C161A"/>
                </a:solidFill>
                <a:latin typeface="Poppins"/>
                <a:ea typeface="Poppins"/>
                <a:cs typeface="Poppins"/>
              </a:rPr>
              <a:t>Capturing stays.</a:t>
            </a:r>
          </a:p>
        </p:txBody>
      </p:sp>
      <p:sp>
        <p:nvSpPr>
          <p:cNvPr id="5" name="Rounded Rectangle 4"/>
          <p:cNvSpPr/>
          <p:nvPr/>
        </p:nvSpPr>
        <p:spPr>
          <a:xfrm>
            <a:off x="384048" y="1691640"/>
            <a:ext cx="4069080" cy="265176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63440" y="1691640"/>
            <a:ext cx="4096512" cy="265176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74519"/>
            <a:ext cx="3657600" cy="237744"/>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158158"/>
                </a:solidFill>
                <a:latin typeface="Poppins"/>
                <a:ea typeface="Poppins"/>
                <a:cs typeface="Poppins"/>
              </a:rPr>
              <a:t>ONE SOFT TAP</a:t>
            </a:r>
          </a:p>
        </p:txBody>
      </p:sp>
      <p:sp>
        <p:nvSpPr>
          <p:cNvPr id="8" name="TextBox 7"/>
          <p:cNvSpPr txBox="1"/>
          <p:nvPr/>
        </p:nvSpPr>
        <p:spPr>
          <a:xfrm>
            <a:off x="566928" y="2194560"/>
            <a:ext cx="36576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C161A"/>
                </a:solidFill>
                <a:latin typeface="Poppins"/>
                <a:ea typeface="Poppins"/>
                <a:cs typeface="Poppins"/>
              </a:rPr>
              <a:t>Glasses arrived.</a:t>
            </a:r>
          </a:p>
        </p:txBody>
      </p:sp>
      <p:sp>
        <p:nvSpPr>
          <p:cNvPr id="9" name="TextBox 8"/>
          <p:cNvSpPr txBox="1"/>
          <p:nvPr/>
        </p:nvSpPr>
        <p:spPr>
          <a:xfrm>
            <a:off x="566928" y="2697480"/>
            <a:ext cx="3657600" cy="137160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5C4C54"/>
                </a:solidFill>
                <a:latin typeface="Poppins"/>
                <a:ea typeface="Poppins"/>
                <a:cs typeface="Poppins"/>
              </a:rPr>
              <a:t>A pair came into range.</a:t>
            </a:r>
          </a:p>
          <a:p>
            <a:pPr algn="l">
              <a:lnSpc>
                <a:spcPct val="105000"/>
              </a:lnSpc>
              <a:spcBef>
                <a:spcPts val="0"/>
              </a:spcBef>
              <a:spcAft>
                <a:spcPts val="0"/>
              </a:spcAft>
            </a:pPr>
            <a:r>
              <a:rPr sz="1400" b="0" i="0">
                <a:solidFill>
                  <a:srgbClr val="5C4C54"/>
                </a:solidFill>
                <a:latin typeface="Poppins"/>
                <a:ea typeface="Poppins"/>
                <a:cs typeface="Poppins"/>
              </a:rPr>
              <a:t>Then silence. A room full</a:t>
            </a:r>
          </a:p>
          <a:p>
            <a:pPr algn="l">
              <a:lnSpc>
                <a:spcPct val="105000"/>
              </a:lnSpc>
              <a:spcBef>
                <a:spcPts val="0"/>
              </a:spcBef>
              <a:spcAft>
                <a:spcPts val="0"/>
              </a:spcAft>
            </a:pPr>
            <a:r>
              <a:rPr sz="1400" b="0" i="0">
                <a:solidFill>
                  <a:srgbClr val="5C4C54"/>
                </a:solidFill>
                <a:latin typeface="Poppins"/>
                <a:ea typeface="Poppins"/>
                <a:cs typeface="Poppins"/>
              </a:rPr>
              <a:t>of idle glasses cannot</a:t>
            </a:r>
          </a:p>
          <a:p>
            <a:pPr algn="l">
              <a:lnSpc>
                <a:spcPct val="105000"/>
              </a:lnSpc>
              <a:spcBef>
                <a:spcPts val="0"/>
              </a:spcBef>
              <a:spcAft>
                <a:spcPts val="0"/>
              </a:spcAft>
            </a:pPr>
            <a:r>
              <a:rPr sz="1400" b="0" i="0">
                <a:solidFill>
                  <a:srgbClr val="5C4C54"/>
                </a:solidFill>
                <a:latin typeface="Poppins"/>
                <a:ea typeface="Poppins"/>
                <a:cs typeface="Poppins"/>
              </a:rPr>
              <a:t>pulse for an hour.</a:t>
            </a:r>
          </a:p>
        </p:txBody>
      </p:sp>
      <p:sp>
        <p:nvSpPr>
          <p:cNvPr id="10" name="TextBox 9"/>
          <p:cNvSpPr txBox="1"/>
          <p:nvPr/>
        </p:nvSpPr>
        <p:spPr>
          <a:xfrm>
            <a:off x="4846320" y="1874519"/>
            <a:ext cx="3657600" cy="237744"/>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A LONGER PULSE</a:t>
            </a:r>
          </a:p>
        </p:txBody>
      </p:sp>
      <p:sp>
        <p:nvSpPr>
          <p:cNvPr id="11" name="TextBox 10"/>
          <p:cNvSpPr txBox="1"/>
          <p:nvPr/>
        </p:nvSpPr>
        <p:spPr>
          <a:xfrm>
            <a:off x="4846320" y="2194560"/>
            <a:ext cx="36576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C161A"/>
                </a:solidFill>
                <a:latin typeface="Poppins"/>
                <a:ea typeface="Poppins"/>
                <a:cs typeface="Poppins"/>
              </a:rPr>
              <a:t>The light is on.</a:t>
            </a:r>
          </a:p>
        </p:txBody>
      </p:sp>
      <p:sp>
        <p:nvSpPr>
          <p:cNvPr id="12" name="TextBox 11"/>
          <p:cNvSpPr txBox="1"/>
          <p:nvPr/>
        </p:nvSpPr>
        <p:spPr>
          <a:xfrm>
            <a:off x="4846320" y="2697480"/>
            <a:ext cx="3657600" cy="137160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5C4C54"/>
                </a:solidFill>
                <a:latin typeface="Poppins"/>
                <a:ea typeface="Poppins"/>
                <a:cs typeface="Poppins"/>
              </a:rPr>
              <a:t>For as long as the capture</a:t>
            </a:r>
          </a:p>
          <a:p>
            <a:pPr algn="l">
              <a:lnSpc>
                <a:spcPct val="105000"/>
              </a:lnSpc>
              <a:spcBef>
                <a:spcPts val="0"/>
              </a:spcBef>
              <a:spcAft>
                <a:spcPts val="0"/>
              </a:spcAft>
            </a:pPr>
            <a:r>
              <a:rPr sz="1400" b="0" i="0">
                <a:solidFill>
                  <a:srgbClr val="5C4C54"/>
                </a:solidFill>
                <a:latin typeface="Poppins"/>
                <a:ea typeface="Poppins"/>
                <a:cs typeface="Poppins"/>
              </a:rPr>
              <a:t>light blinks. It stops when</a:t>
            </a:r>
          </a:p>
          <a:p>
            <a:pPr algn="l">
              <a:lnSpc>
                <a:spcPct val="105000"/>
              </a:lnSpc>
              <a:spcBef>
                <a:spcPts val="0"/>
              </a:spcBef>
              <a:spcAft>
                <a:spcPts val="0"/>
              </a:spcAft>
            </a:pPr>
            <a:r>
              <a:rPr sz="1400" b="0" i="0">
                <a:solidFill>
                  <a:srgbClr val="5C4C54"/>
                </a:solidFill>
                <a:latin typeface="Poppins"/>
                <a:ea typeface="Poppins"/>
                <a:cs typeface="Poppins"/>
              </a:rPr>
              <a:t>the blink stops. This is</a:t>
            </a:r>
          </a:p>
          <a:p>
            <a:pPr algn="l">
              <a:lnSpc>
                <a:spcPct val="105000"/>
              </a:lnSpc>
              <a:spcBef>
                <a:spcPts val="0"/>
              </a:spcBef>
              <a:spcAft>
                <a:spcPts val="0"/>
              </a:spcAft>
            </a:pPr>
            <a:r>
              <a:rPr sz="1400" b="0" i="0">
                <a:solidFill>
                  <a:srgbClr val="5C4C54"/>
                </a:solidFill>
                <a:latin typeface="Poppins"/>
                <a:ea typeface="Poppins"/>
                <a:cs typeface="Poppins"/>
              </a:rPr>
              <a:t>the alert that matters.</a:t>
            </a:r>
          </a:p>
        </p:txBody>
      </p:sp>
      <p:sp>
        <p:nvSpPr>
          <p:cNvPr id="13" name="TextBox 12"/>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4" name="TextBox 13"/>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37744"/>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NOTIFYING SYSTEM</a:t>
            </a:r>
          </a:p>
        </p:txBody>
      </p:sp>
      <p:sp>
        <p:nvSpPr>
          <p:cNvPr id="4" name="TextBox 3"/>
          <p:cNvSpPr txBox="1"/>
          <p:nvPr/>
        </p:nvSpPr>
        <p:spPr>
          <a:xfrm>
            <a:off x="384048" y="457200"/>
            <a:ext cx="8229600" cy="365760"/>
          </a:xfrm>
          <a:prstGeom prst="rect">
            <a:avLst/>
          </a:prstGeom>
          <a:noFill/>
        </p:spPr>
        <p:txBody>
          <a:bodyPr wrap="square" lIns="0" rIns="0" tIns="0" bIns="0" anchor="t"/>
          <a:lstStyle/>
          <a:p>
            <a:pPr algn="l">
              <a:lnSpc>
                <a:spcPct val="100000"/>
              </a:lnSpc>
              <a:spcBef>
                <a:spcPts val="0"/>
              </a:spcBef>
              <a:spcAft>
                <a:spcPts val="0"/>
              </a:spcAft>
            </a:pPr>
            <a:r>
              <a:rPr sz="2400" b="1" i="0">
                <a:solidFill>
                  <a:srgbClr val="1C161A"/>
                </a:solidFill>
                <a:latin typeface="Poppins"/>
                <a:ea typeface="Poppins"/>
                <a:cs typeface="Poppins"/>
              </a:rPr>
              <a:t>You choose how it tells you.</a:t>
            </a:r>
          </a:p>
        </p:txBody>
      </p:sp>
      <p:sp>
        <p:nvSpPr>
          <p:cNvPr id="5" name="TextBox 4"/>
          <p:cNvSpPr txBox="1"/>
          <p:nvPr/>
        </p:nvSpPr>
        <p:spPr>
          <a:xfrm>
            <a:off x="438912" y="1005840"/>
            <a:ext cx="50292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9A3458"/>
                </a:solidFill>
                <a:latin typeface="Poppins"/>
                <a:ea typeface="Poppins"/>
                <a:cs typeface="Poppins"/>
              </a:rPr>
              <a:t>01</a:t>
            </a:r>
          </a:p>
        </p:txBody>
      </p:sp>
      <p:sp>
        <p:nvSpPr>
          <p:cNvPr id="6" name="TextBox 5"/>
          <p:cNvSpPr txBox="1"/>
          <p:nvPr/>
        </p:nvSpPr>
        <p:spPr>
          <a:xfrm>
            <a:off x="1051560" y="987552"/>
            <a:ext cx="237744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Light</a:t>
            </a:r>
          </a:p>
        </p:txBody>
      </p:sp>
      <p:sp>
        <p:nvSpPr>
          <p:cNvPr id="7" name="TextBox 6"/>
          <p:cNvSpPr txBox="1"/>
          <p:nvPr/>
        </p:nvSpPr>
        <p:spPr>
          <a:xfrm>
            <a:off x="3474720" y="987552"/>
            <a:ext cx="5212080" cy="6400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A tiny lamp on the back of the charm, toward you. Off by default in a bright room.</a:t>
            </a:r>
          </a:p>
        </p:txBody>
      </p:sp>
      <p:sp>
        <p:nvSpPr>
          <p:cNvPr id="8" name="TextBox 7"/>
          <p:cNvSpPr txBox="1"/>
          <p:nvPr/>
        </p:nvSpPr>
        <p:spPr>
          <a:xfrm>
            <a:off x="438912" y="1874519"/>
            <a:ext cx="50292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9A3458"/>
                </a:solidFill>
                <a:latin typeface="Poppins"/>
                <a:ea typeface="Poppins"/>
                <a:cs typeface="Poppins"/>
              </a:rPr>
              <a:t>02</a:t>
            </a:r>
          </a:p>
        </p:txBody>
      </p:sp>
      <p:sp>
        <p:nvSpPr>
          <p:cNvPr id="9" name="TextBox 8"/>
          <p:cNvSpPr txBox="1"/>
          <p:nvPr/>
        </p:nvSpPr>
        <p:spPr>
          <a:xfrm>
            <a:off x="1051560" y="1856231"/>
            <a:ext cx="237744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Sound</a:t>
            </a:r>
          </a:p>
        </p:txBody>
      </p:sp>
      <p:sp>
        <p:nvSpPr>
          <p:cNvPr id="10" name="TextBox 9"/>
          <p:cNvSpPr txBox="1"/>
          <p:nvPr/>
        </p:nvSpPr>
        <p:spPr>
          <a:xfrm>
            <a:off x="3474720" y="1856231"/>
            <a:ext cx="5212080" cy="6400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A short tone. Easy to turn off in class, at dinner, in a library.</a:t>
            </a:r>
          </a:p>
        </p:txBody>
      </p:sp>
      <p:sp>
        <p:nvSpPr>
          <p:cNvPr id="11" name="TextBox 10"/>
          <p:cNvSpPr txBox="1"/>
          <p:nvPr/>
        </p:nvSpPr>
        <p:spPr>
          <a:xfrm>
            <a:off x="438912" y="2743200"/>
            <a:ext cx="50292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9A3458"/>
                </a:solidFill>
                <a:latin typeface="Poppins"/>
                <a:ea typeface="Poppins"/>
                <a:cs typeface="Poppins"/>
              </a:rPr>
              <a:t>03</a:t>
            </a:r>
          </a:p>
        </p:txBody>
      </p:sp>
      <p:sp>
        <p:nvSpPr>
          <p:cNvPr id="12" name="TextBox 11"/>
          <p:cNvSpPr txBox="1"/>
          <p:nvPr/>
        </p:nvSpPr>
        <p:spPr>
          <a:xfrm>
            <a:off x="1051560" y="2724912"/>
            <a:ext cx="237744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Buzz</a:t>
            </a:r>
          </a:p>
        </p:txBody>
      </p:sp>
      <p:sp>
        <p:nvSpPr>
          <p:cNvPr id="13" name="TextBox 12"/>
          <p:cNvSpPr txBox="1"/>
          <p:nvPr/>
        </p:nvSpPr>
        <p:spPr>
          <a:xfrm>
            <a:off x="3474720" y="2724912"/>
            <a:ext cx="5212080" cy="6400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The default. A tap through the charm into your hand or your bag strap.</a:t>
            </a:r>
          </a:p>
        </p:txBody>
      </p:sp>
      <p:sp>
        <p:nvSpPr>
          <p:cNvPr id="14" name="TextBox 13"/>
          <p:cNvSpPr txBox="1"/>
          <p:nvPr/>
        </p:nvSpPr>
        <p:spPr>
          <a:xfrm>
            <a:off x="438912" y="3611879"/>
            <a:ext cx="50292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9A3458"/>
                </a:solidFill>
                <a:latin typeface="Poppins"/>
                <a:ea typeface="Poppins"/>
                <a:cs typeface="Poppins"/>
              </a:rPr>
              <a:t>04</a:t>
            </a:r>
          </a:p>
        </p:txBody>
      </p:sp>
      <p:sp>
        <p:nvSpPr>
          <p:cNvPr id="15" name="TextBox 14"/>
          <p:cNvSpPr txBox="1"/>
          <p:nvPr/>
        </p:nvSpPr>
        <p:spPr>
          <a:xfrm>
            <a:off x="1051560" y="3593591"/>
            <a:ext cx="237744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A text you wrote</a:t>
            </a:r>
          </a:p>
        </p:txBody>
      </p:sp>
      <p:sp>
        <p:nvSpPr>
          <p:cNvPr id="16" name="TextBox 15"/>
          <p:cNvSpPr txBox="1"/>
          <p:nvPr/>
        </p:nvSpPr>
        <p:spPr>
          <a:xfrm>
            <a:off x="3474720" y="3593591"/>
            <a:ext cx="5212080" cy="6400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Optional. After a capture alert, your phone can send a line you saved earlier.</a:t>
            </a:r>
          </a:p>
        </p:txBody>
      </p:sp>
      <p:sp>
        <p:nvSpPr>
          <p:cNvPr id="17" name="TextBox 1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8" name="TextBox 1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PRIVACY FORWARD</a:t>
            </a:r>
          </a:p>
        </p:txBody>
      </p:sp>
      <p:sp>
        <p:nvSpPr>
          <p:cNvPr id="4" name="TextBox 3"/>
          <p:cNvSpPr txBox="1"/>
          <p:nvPr/>
        </p:nvSpPr>
        <p:spPr>
          <a:xfrm>
            <a:off x="384048" y="493776"/>
            <a:ext cx="8229600" cy="41148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C161A"/>
                </a:solidFill>
                <a:latin typeface="Poppins"/>
                <a:ea typeface="Poppins"/>
                <a:cs typeface="Poppins"/>
              </a:rPr>
              <a:t>A notice, not a verdict.</a:t>
            </a:r>
          </a:p>
        </p:txBody>
      </p:sp>
      <p:sp>
        <p:nvSpPr>
          <p:cNvPr id="5" name="TextBox 4"/>
          <p:cNvSpPr txBox="1"/>
          <p:nvPr/>
        </p:nvSpPr>
        <p:spPr>
          <a:xfrm>
            <a:off x="438912" y="1051560"/>
            <a:ext cx="2286000" cy="292608"/>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No recording</a:t>
            </a:r>
          </a:p>
        </p:txBody>
      </p:sp>
      <p:sp>
        <p:nvSpPr>
          <p:cNvPr id="6" name="TextBox 5"/>
          <p:cNvSpPr txBox="1"/>
          <p:nvPr/>
        </p:nvSpPr>
        <p:spPr>
          <a:xfrm>
            <a:off x="2880360" y="1051560"/>
            <a:ext cx="585216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Vendetta does not store audio, video, or a transcript.</a:t>
            </a:r>
          </a:p>
        </p:txBody>
      </p:sp>
      <p:sp>
        <p:nvSpPr>
          <p:cNvPr id="7" name="TextBox 6"/>
          <p:cNvSpPr txBox="1"/>
          <p:nvPr/>
        </p:nvSpPr>
        <p:spPr>
          <a:xfrm>
            <a:off x="438912" y="1737360"/>
            <a:ext cx="2286000" cy="292608"/>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No names</a:t>
            </a:r>
          </a:p>
        </p:txBody>
      </p:sp>
      <p:sp>
        <p:nvSpPr>
          <p:cNvPr id="8" name="TextBox 7"/>
          <p:cNvSpPr txBox="1"/>
          <p:nvPr/>
        </p:nvSpPr>
        <p:spPr>
          <a:xfrm>
            <a:off x="2880360" y="1737360"/>
            <a:ext cx="585216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The tap means nearby, and right now. It does not mean who.</a:t>
            </a:r>
          </a:p>
        </p:txBody>
      </p:sp>
      <p:sp>
        <p:nvSpPr>
          <p:cNvPr id="9" name="TextBox 8"/>
          <p:cNvSpPr txBox="1"/>
          <p:nvPr/>
        </p:nvSpPr>
        <p:spPr>
          <a:xfrm>
            <a:off x="438912" y="2423160"/>
            <a:ext cx="2286000" cy="292608"/>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No tracking</a:t>
            </a:r>
          </a:p>
        </p:txBody>
      </p:sp>
      <p:sp>
        <p:nvSpPr>
          <p:cNvPr id="10" name="TextBox 9"/>
          <p:cNvSpPr txBox="1"/>
          <p:nvPr/>
        </p:nvSpPr>
        <p:spPr>
          <a:xfrm>
            <a:off x="2880360" y="2423160"/>
            <a:ext cx="585216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Nothing is kept once the glasses leave conversation distance.</a:t>
            </a:r>
          </a:p>
        </p:txBody>
      </p:sp>
      <p:sp>
        <p:nvSpPr>
          <p:cNvPr id="11" name="TextBox 10"/>
          <p:cNvSpPr txBox="1"/>
          <p:nvPr/>
        </p:nvSpPr>
        <p:spPr>
          <a:xfrm>
            <a:off x="438912" y="3108960"/>
            <a:ext cx="2286000" cy="292608"/>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No bypass</a:t>
            </a:r>
          </a:p>
        </p:txBody>
      </p:sp>
      <p:sp>
        <p:nvSpPr>
          <p:cNvPr id="12" name="TextBox 11"/>
          <p:cNvSpPr txBox="1"/>
          <p:nvPr/>
        </p:nvSpPr>
        <p:spPr>
          <a:xfrm>
            <a:off x="2880360" y="3108960"/>
            <a:ext cx="585216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It does not cover, disable, or work around the capture LED.</a:t>
            </a:r>
          </a:p>
        </p:txBody>
      </p:sp>
      <p:sp>
        <p:nvSpPr>
          <p:cNvPr id="13" name="TextBox 12"/>
          <p:cNvSpPr txBox="1"/>
          <p:nvPr/>
        </p:nvSpPr>
        <p:spPr>
          <a:xfrm>
            <a:off x="438912" y="3794760"/>
            <a:ext cx="2286000" cy="292608"/>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No proof</a:t>
            </a:r>
          </a:p>
        </p:txBody>
      </p:sp>
      <p:sp>
        <p:nvSpPr>
          <p:cNvPr id="14" name="TextBox 13"/>
          <p:cNvSpPr txBox="1"/>
          <p:nvPr/>
        </p:nvSpPr>
        <p:spPr>
          <a:xfrm>
            <a:off x="2880360" y="3794760"/>
            <a:ext cx="585216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Silence is not safety. It means no Meta glasses in view, and no blink.</a:t>
            </a:r>
          </a:p>
        </p:txBody>
      </p:sp>
      <p:sp>
        <p:nvSpPr>
          <p:cNvPr id="15" name="TextBox 14"/>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6" name="TextBox 15"/>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37744"/>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THREE MOMENTS</a:t>
            </a:r>
          </a:p>
        </p:txBody>
      </p:sp>
      <p:sp>
        <p:nvSpPr>
          <p:cNvPr id="4" name="TextBox 3"/>
          <p:cNvSpPr txBox="1"/>
          <p:nvPr/>
        </p:nvSpPr>
        <p:spPr>
          <a:xfrm>
            <a:off x="384048" y="457200"/>
            <a:ext cx="822960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C161A"/>
                </a:solidFill>
                <a:latin typeface="Poppins"/>
                <a:ea typeface="Poppins"/>
                <a:cs typeface="Poppins"/>
              </a:rPr>
              <a:t>Most minutes, it does nothing.</a:t>
            </a:r>
          </a:p>
        </p:txBody>
      </p:sp>
      <p:sp>
        <p:nvSpPr>
          <p:cNvPr id="5" name="Rounded Rectangle 4"/>
          <p:cNvSpPr/>
          <p:nvPr/>
        </p:nvSpPr>
        <p:spPr>
          <a:xfrm>
            <a:off x="384048" y="1005840"/>
            <a:ext cx="8366760" cy="1078992"/>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33856"/>
            <a:ext cx="1828800" cy="219456"/>
          </a:xfrm>
          <a:prstGeom prst="rect">
            <a:avLst/>
          </a:prstGeom>
          <a:noFill/>
        </p:spPr>
        <p:txBody>
          <a:bodyPr wrap="square" lIns="0" rIns="0" tIns="0" bIns="0" anchor="t"/>
          <a:lstStyle/>
          <a:p>
            <a:pPr algn="l">
              <a:lnSpc>
                <a:spcPct val="100000"/>
              </a:lnSpc>
              <a:spcBef>
                <a:spcPts val="0"/>
              </a:spcBef>
              <a:spcAft>
                <a:spcPts val="0"/>
              </a:spcAft>
            </a:pPr>
            <a:r>
              <a:rPr sz="1100" b="1" i="0" spc="60">
                <a:solidFill>
                  <a:srgbClr val="9A3458"/>
                </a:solidFill>
                <a:latin typeface="Poppins"/>
                <a:ea typeface="Poppins"/>
                <a:cs typeface="Poppins"/>
              </a:rPr>
              <a:t>Monday</a:t>
            </a:r>
          </a:p>
        </p:txBody>
      </p:sp>
      <p:sp>
        <p:nvSpPr>
          <p:cNvPr id="7" name="TextBox 6"/>
          <p:cNvSpPr txBox="1"/>
          <p:nvPr/>
        </p:nvSpPr>
        <p:spPr>
          <a:xfrm>
            <a:off x="548640" y="1389888"/>
            <a:ext cx="192024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Seminar</a:t>
            </a:r>
          </a:p>
        </p:txBody>
      </p:sp>
      <p:sp>
        <p:nvSpPr>
          <p:cNvPr id="8" name="TextBox 7"/>
          <p:cNvSpPr txBox="1"/>
          <p:nvPr/>
        </p:nvSpPr>
        <p:spPr>
          <a:xfrm>
            <a:off x="2606040" y="1207008"/>
            <a:ext cx="5897880" cy="731520"/>
          </a:xfrm>
          <a:prstGeom prst="rect">
            <a:avLst/>
          </a:prstGeom>
          <a:noFill/>
        </p:spPr>
        <p:txBody>
          <a:bodyPr wrap="square" lIns="0" rIns="0" tIns="0" bIns="0" anchor="t"/>
          <a:lstStyle/>
          <a:p>
            <a:pPr algn="l">
              <a:lnSpc>
                <a:spcPct val="102000"/>
              </a:lnSpc>
              <a:spcBef>
                <a:spcPts val="0"/>
              </a:spcBef>
              <a:spcAft>
                <a:spcPts val="0"/>
              </a:spcAft>
            </a:pPr>
            <a:r>
              <a:rPr sz="1300" b="0" i="0">
                <a:solidFill>
                  <a:srgbClr val="1C161A"/>
                </a:solidFill>
                <a:latin typeface="Poppins"/>
                <a:ea typeface="Poppins"/>
                <a:cs typeface="Poppins"/>
              </a:rPr>
              <a:t>Someone's glasses capture the board. The pulse lasts as long as the blink. You look up, see the photo, go back to notes.</a:t>
            </a:r>
          </a:p>
        </p:txBody>
      </p:sp>
      <p:sp>
        <p:nvSpPr>
          <p:cNvPr id="9" name="Rounded Rectangle 8"/>
          <p:cNvSpPr/>
          <p:nvPr/>
        </p:nvSpPr>
        <p:spPr>
          <a:xfrm>
            <a:off x="384048" y="2176272"/>
            <a:ext cx="8366760" cy="1078992"/>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04288"/>
            <a:ext cx="1828800" cy="219456"/>
          </a:xfrm>
          <a:prstGeom prst="rect">
            <a:avLst/>
          </a:prstGeom>
          <a:noFill/>
        </p:spPr>
        <p:txBody>
          <a:bodyPr wrap="square" lIns="0" rIns="0" tIns="0" bIns="0" anchor="t"/>
          <a:lstStyle/>
          <a:p>
            <a:pPr algn="l">
              <a:lnSpc>
                <a:spcPct val="100000"/>
              </a:lnSpc>
              <a:spcBef>
                <a:spcPts val="0"/>
              </a:spcBef>
              <a:spcAft>
                <a:spcPts val="0"/>
              </a:spcAft>
            </a:pPr>
            <a:r>
              <a:rPr sz="1100" b="1" i="0" spc="60">
                <a:solidFill>
                  <a:srgbClr val="9A3458"/>
                </a:solidFill>
                <a:latin typeface="Poppins"/>
                <a:ea typeface="Poppins"/>
                <a:cs typeface="Poppins"/>
              </a:rPr>
              <a:t>Thursday</a:t>
            </a:r>
          </a:p>
        </p:txBody>
      </p:sp>
      <p:sp>
        <p:nvSpPr>
          <p:cNvPr id="11" name="TextBox 10"/>
          <p:cNvSpPr txBox="1"/>
          <p:nvPr/>
        </p:nvSpPr>
        <p:spPr>
          <a:xfrm>
            <a:off x="548640" y="2560320"/>
            <a:ext cx="192024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This class</a:t>
            </a:r>
          </a:p>
        </p:txBody>
      </p:sp>
      <p:sp>
        <p:nvSpPr>
          <p:cNvPr id="12" name="TextBox 11"/>
          <p:cNvSpPr txBox="1"/>
          <p:nvPr/>
        </p:nvSpPr>
        <p:spPr>
          <a:xfrm>
            <a:off x="2606040" y="2377440"/>
            <a:ext cx="5897880" cy="731520"/>
          </a:xfrm>
          <a:prstGeom prst="rect">
            <a:avLst/>
          </a:prstGeom>
          <a:noFill/>
        </p:spPr>
        <p:txBody>
          <a:bodyPr wrap="square" lIns="0" rIns="0" tIns="0" bIns="0" anchor="t"/>
          <a:lstStyle/>
          <a:p>
            <a:pPr algn="l">
              <a:lnSpc>
                <a:spcPct val="102000"/>
              </a:lnSpc>
              <a:spcBef>
                <a:spcPts val="0"/>
              </a:spcBef>
              <a:spcAft>
                <a:spcPts val="0"/>
              </a:spcAft>
            </a:pPr>
            <a:r>
              <a:rPr sz="1300" b="0" i="0">
                <a:solidFill>
                  <a:srgbClr val="1C161A"/>
                </a:solidFill>
                <a:latin typeface="Poppins"/>
                <a:ea typeface="Poppins"/>
                <a:cs typeface="Poppins"/>
              </a:rPr>
              <a:t>Several pairs are idle. One tap as people sit down. Then quiet. You forget it is a device. That is the success.</a:t>
            </a:r>
          </a:p>
        </p:txBody>
      </p:sp>
      <p:sp>
        <p:nvSpPr>
          <p:cNvPr id="13" name="Rounded Rectangle 12"/>
          <p:cNvSpPr/>
          <p:nvPr/>
        </p:nvSpPr>
        <p:spPr>
          <a:xfrm>
            <a:off x="384048" y="3346704"/>
            <a:ext cx="8366760" cy="1078992"/>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74720"/>
            <a:ext cx="1828800" cy="219456"/>
          </a:xfrm>
          <a:prstGeom prst="rect">
            <a:avLst/>
          </a:prstGeom>
          <a:noFill/>
        </p:spPr>
        <p:txBody>
          <a:bodyPr wrap="square" lIns="0" rIns="0" tIns="0" bIns="0" anchor="t"/>
          <a:lstStyle/>
          <a:p>
            <a:pPr algn="l">
              <a:lnSpc>
                <a:spcPct val="100000"/>
              </a:lnSpc>
              <a:spcBef>
                <a:spcPts val="0"/>
              </a:spcBef>
              <a:spcAft>
                <a:spcPts val="0"/>
              </a:spcAft>
            </a:pPr>
            <a:r>
              <a:rPr sz="1100" b="1" i="0" spc="60">
                <a:solidFill>
                  <a:srgbClr val="9A3458"/>
                </a:solidFill>
                <a:latin typeface="Poppins"/>
                <a:ea typeface="Poppins"/>
                <a:cs typeface="Poppins"/>
              </a:rPr>
              <a:t>Saturday</a:t>
            </a:r>
          </a:p>
        </p:txBody>
      </p:sp>
      <p:sp>
        <p:nvSpPr>
          <p:cNvPr id="15" name="TextBox 14"/>
          <p:cNvSpPr txBox="1"/>
          <p:nvPr/>
        </p:nvSpPr>
        <p:spPr>
          <a:xfrm>
            <a:off x="548640" y="3730752"/>
            <a:ext cx="192024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Dinner</a:t>
            </a:r>
          </a:p>
        </p:txBody>
      </p:sp>
      <p:sp>
        <p:nvSpPr>
          <p:cNvPr id="16" name="TextBox 15"/>
          <p:cNvSpPr txBox="1"/>
          <p:nvPr/>
        </p:nvSpPr>
        <p:spPr>
          <a:xfrm>
            <a:off x="2606040" y="3547872"/>
            <a:ext cx="5897880" cy="731520"/>
          </a:xfrm>
          <a:prstGeom prst="rect">
            <a:avLst/>
          </a:prstGeom>
          <a:noFill/>
        </p:spPr>
        <p:txBody>
          <a:bodyPr wrap="square" lIns="0" rIns="0" tIns="0" bIns="0" anchor="t"/>
          <a:lstStyle/>
          <a:p>
            <a:pPr algn="l">
              <a:lnSpc>
                <a:spcPct val="102000"/>
              </a:lnSpc>
              <a:spcBef>
                <a:spcPts val="0"/>
              </a:spcBef>
              <a:spcAft>
                <a:spcPts val="0"/>
              </a:spcAft>
            </a:pPr>
            <a:r>
              <a:rPr sz="1300" b="0" i="0">
                <a:solidFill>
                  <a:srgbClr val="1C161A"/>
                </a:solidFill>
                <a:latin typeface="Poppins"/>
                <a:ea typeface="Poppins"/>
                <a:cs typeface="Poppins"/>
              </a:rPr>
              <a:t>The capture light stays on. You do not hold up a phone and you do not accuse. You feel it, and you choose the next sentence.</a:t>
            </a:r>
          </a:p>
        </p:txBody>
      </p:sp>
      <p:sp>
        <p:nvSpPr>
          <p:cNvPr id="17" name="TextBox 1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8" name="TextBox 1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WHO IT IS FOR</a:t>
            </a:r>
          </a:p>
        </p:txBody>
      </p:sp>
      <p:sp>
        <p:nvSpPr>
          <p:cNvPr id="4" name="TextBox 3"/>
          <p:cNvSpPr txBox="1"/>
          <p:nvPr/>
        </p:nvSpPr>
        <p:spPr>
          <a:xfrm>
            <a:off x="384048" y="502920"/>
            <a:ext cx="8229600" cy="960120"/>
          </a:xfrm>
          <a:prstGeom prst="rect">
            <a:avLst/>
          </a:prstGeom>
          <a:noFill/>
        </p:spPr>
        <p:txBody>
          <a:bodyPr wrap="square" lIns="0" rIns="0" tIns="0" bIns="0" anchor="t"/>
          <a:lstStyle/>
          <a:p>
            <a:pPr algn="l">
              <a:lnSpc>
                <a:spcPct val="95000"/>
              </a:lnSpc>
              <a:spcBef>
                <a:spcPts val="0"/>
              </a:spcBef>
              <a:spcAft>
                <a:spcPts val="0"/>
              </a:spcAft>
            </a:pPr>
            <a:r>
              <a:rPr sz="2800" b="1" i="0">
                <a:solidFill>
                  <a:srgbClr val="1C161A"/>
                </a:solidFill>
                <a:latin typeface="Poppins"/>
                <a:ea typeface="Poppins"/>
                <a:cs typeface="Poppins"/>
              </a:rPr>
              <a:t>About $20.</a:t>
            </a:r>
          </a:p>
          <a:p>
            <a:pPr algn="l">
              <a:lnSpc>
                <a:spcPct val="95000"/>
              </a:lnSpc>
              <a:spcBef>
                <a:spcPts val="0"/>
              </a:spcBef>
              <a:spcAft>
                <a:spcPts val="0"/>
              </a:spcAft>
            </a:pPr>
            <a:r>
              <a:rPr sz="2800" b="1" i="0">
                <a:solidFill>
                  <a:srgbClr val="1C161A"/>
                </a:solidFill>
                <a:latin typeface="Poppins"/>
                <a:ea typeface="Poppins"/>
                <a:cs typeface="Poppins"/>
              </a:rPr>
              <a:t>Priced like a charm.</a:t>
            </a:r>
          </a:p>
        </p:txBody>
      </p:sp>
      <p:sp>
        <p:nvSpPr>
          <p:cNvPr id="5" name="Rounded Rectangle 4"/>
          <p:cNvSpPr/>
          <p:nvPr/>
        </p:nvSpPr>
        <p:spPr>
          <a:xfrm>
            <a:off x="384048" y="1737360"/>
            <a:ext cx="2743200" cy="260604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901952"/>
            <a:ext cx="2468880" cy="256032"/>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PRIMARY</a:t>
            </a:r>
          </a:p>
        </p:txBody>
      </p:sp>
      <p:sp>
        <p:nvSpPr>
          <p:cNvPr id="7" name="TextBox 6"/>
          <p:cNvSpPr txBox="1"/>
          <p:nvPr/>
        </p:nvSpPr>
        <p:spPr>
          <a:xfrm>
            <a:off x="530352" y="2286000"/>
            <a:ext cx="2450592" cy="1783080"/>
          </a:xfrm>
          <a:prstGeom prst="rect">
            <a:avLst/>
          </a:prstGeom>
          <a:noFill/>
        </p:spPr>
        <p:txBody>
          <a:bodyPr wrap="square" lIns="0" rIns="0" tIns="0" bIns="0" anchor="t"/>
          <a:lstStyle/>
          <a:p>
            <a:pPr algn="l">
              <a:lnSpc>
                <a:spcPct val="105000"/>
              </a:lnSpc>
              <a:spcBef>
                <a:spcPts val="0"/>
              </a:spcBef>
              <a:spcAft>
                <a:spcPts val="0"/>
              </a:spcAft>
            </a:pPr>
            <a:r>
              <a:rPr sz="1300" b="0" i="0">
                <a:solidFill>
                  <a:srgbClr val="1C161A"/>
                </a:solidFill>
                <a:latin typeface="Poppins"/>
                <a:ea typeface="Poppins"/>
                <a:cs typeface="Poppins"/>
              </a:rPr>
              <a:t>People who already buy a small accessory, and will not carry a tactical device.</a:t>
            </a:r>
          </a:p>
        </p:txBody>
      </p:sp>
      <p:sp>
        <p:nvSpPr>
          <p:cNvPr id="8" name="Rounded Rectangle 7"/>
          <p:cNvSpPr/>
          <p:nvPr/>
        </p:nvSpPr>
        <p:spPr>
          <a:xfrm>
            <a:off x="3264408" y="1737360"/>
            <a:ext cx="2743200" cy="260604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0712" y="1901952"/>
            <a:ext cx="2468880" cy="256032"/>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ALSO</a:t>
            </a:r>
          </a:p>
        </p:txBody>
      </p:sp>
      <p:sp>
        <p:nvSpPr>
          <p:cNvPr id="10" name="TextBox 9"/>
          <p:cNvSpPr txBox="1"/>
          <p:nvPr/>
        </p:nvSpPr>
        <p:spPr>
          <a:xfrm>
            <a:off x="3410712" y="2286000"/>
            <a:ext cx="2450592" cy="1783080"/>
          </a:xfrm>
          <a:prstGeom prst="rect">
            <a:avLst/>
          </a:prstGeom>
          <a:noFill/>
        </p:spPr>
        <p:txBody>
          <a:bodyPr wrap="square" lIns="0" rIns="0" tIns="0" bIns="0" anchor="t"/>
          <a:lstStyle/>
          <a:p>
            <a:pPr algn="l">
              <a:lnSpc>
                <a:spcPct val="105000"/>
              </a:lnSpc>
              <a:spcBef>
                <a:spcPts val="0"/>
              </a:spcBef>
              <a:spcAft>
                <a:spcPts val="0"/>
              </a:spcAft>
            </a:pPr>
            <a:r>
              <a:rPr sz="1300" b="0" i="0">
                <a:solidFill>
                  <a:srgbClr val="1C161A"/>
                </a:solidFill>
                <a:latin typeface="Poppins"/>
                <a:ea typeface="Poppins"/>
                <a:cs typeface="Poppins"/>
              </a:rPr>
              <a:t>Privacy-conscious friends, students, and anyone who likes the glasses and still wants the other seat protected.</a:t>
            </a:r>
          </a:p>
        </p:txBody>
      </p:sp>
      <p:sp>
        <p:nvSpPr>
          <p:cNvPr id="11" name="Rounded Rectangle 10"/>
          <p:cNvSpPr/>
          <p:nvPr/>
        </p:nvSpPr>
        <p:spPr>
          <a:xfrm>
            <a:off x="6144768" y="1737360"/>
            <a:ext cx="2743200" cy="2606040"/>
          </a:xfrm>
          <a:prstGeom prst="roundRect">
            <a:avLst>
              <a:gd name="adj" fmla="val 8000"/>
            </a:avLst>
          </a:prstGeom>
          <a:solidFill>
            <a:srgbClr val="FFFFFF"/>
          </a:solidFill>
          <a:ln w="12700">
            <a:solidFill>
              <a:srgbClr val="F0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901952"/>
            <a:ext cx="2468880" cy="256032"/>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NOT THIS</a:t>
            </a:r>
          </a:p>
        </p:txBody>
      </p:sp>
      <p:sp>
        <p:nvSpPr>
          <p:cNvPr id="13" name="TextBox 12"/>
          <p:cNvSpPr txBox="1"/>
          <p:nvPr/>
        </p:nvSpPr>
        <p:spPr>
          <a:xfrm>
            <a:off x="6291072" y="2286000"/>
            <a:ext cx="2450592" cy="1783080"/>
          </a:xfrm>
          <a:prstGeom prst="rect">
            <a:avLst/>
          </a:prstGeom>
          <a:noFill/>
        </p:spPr>
        <p:txBody>
          <a:bodyPr wrap="square" lIns="0" rIns="0" tIns="0" bIns="0" anchor="t"/>
          <a:lstStyle/>
          <a:p>
            <a:pPr algn="l">
              <a:lnSpc>
                <a:spcPct val="105000"/>
              </a:lnSpc>
              <a:spcBef>
                <a:spcPts val="0"/>
              </a:spcBef>
              <a:spcAft>
                <a:spcPts val="0"/>
              </a:spcAft>
            </a:pPr>
            <a:r>
              <a:rPr sz="1300" b="0" i="0">
                <a:solidFill>
                  <a:srgbClr val="1C161A"/>
                </a:solidFill>
                <a:latin typeface="Poppins"/>
                <a:ea typeface="Poppins"/>
                <a:cs typeface="Poppins"/>
              </a:rPr>
              <a:t>Sumi was the exercise. Vendetta is not a mental health treatment, and it is not a medical device.</a:t>
            </a:r>
          </a:p>
        </p:txBody>
      </p:sp>
      <p:sp>
        <p:nvSpPr>
          <p:cNvPr id="14" name="TextBox 13"/>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5" name="TextBox 14"/>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WHAT THE PRICE COVERS</a:t>
            </a:r>
          </a:p>
        </p:txBody>
      </p:sp>
      <p:sp>
        <p:nvSpPr>
          <p:cNvPr id="4" name="TextBox 3"/>
          <p:cNvSpPr txBox="1"/>
          <p:nvPr/>
        </p:nvSpPr>
        <p:spPr>
          <a:xfrm>
            <a:off x="384048" y="530352"/>
            <a:ext cx="8321040" cy="4114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C161A"/>
                </a:solidFill>
                <a:latin typeface="Poppins"/>
                <a:ea typeface="Poppins"/>
                <a:cs typeface="Poppins"/>
              </a:rPr>
              <a:t>A charm, two signals, and the switches.</a:t>
            </a:r>
          </a:p>
        </p:txBody>
      </p:sp>
      <p:sp>
        <p:nvSpPr>
          <p:cNvPr id="5" name="TextBox 4"/>
          <p:cNvSpPr txBox="1"/>
          <p:nvPr/>
        </p:nvSpPr>
        <p:spPr>
          <a:xfrm>
            <a:off x="438912" y="1097280"/>
            <a:ext cx="3931920" cy="256032"/>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158158"/>
                </a:solidFill>
                <a:latin typeface="Poppins"/>
                <a:ea typeface="Poppins"/>
                <a:cs typeface="Poppins"/>
              </a:rPr>
              <a:t>IN THE BOX</a:t>
            </a:r>
          </a:p>
        </p:txBody>
      </p:sp>
      <p:sp>
        <p:nvSpPr>
          <p:cNvPr id="6" name="TextBox 5"/>
          <p:cNvSpPr txBox="1"/>
          <p:nvPr/>
        </p:nvSpPr>
        <p:spPr>
          <a:xfrm>
            <a:off x="4709160" y="1097280"/>
            <a:ext cx="4023360" cy="256032"/>
          </a:xfrm>
          <a:prstGeom prst="rect">
            <a:avLst/>
          </a:prstGeom>
          <a:noFill/>
        </p:spPr>
        <p:txBody>
          <a:bodyPr wrap="square" lIns="0" rIns="0" tIns="0" bIns="0" anchor="t"/>
          <a:lstStyle/>
          <a:p>
            <a:pPr algn="l">
              <a:lnSpc>
                <a:spcPct val="100000"/>
              </a:lnSpc>
              <a:spcBef>
                <a:spcPts val="0"/>
              </a:spcBef>
              <a:spcAft>
                <a:spcPts val="0"/>
              </a:spcAft>
            </a:pPr>
            <a:r>
              <a:rPr sz="1200" b="1" i="0" spc="80">
                <a:solidFill>
                  <a:srgbClr val="9A3458"/>
                </a:solidFill>
                <a:latin typeface="Poppins"/>
                <a:ea typeface="Poppins"/>
                <a:cs typeface="Poppins"/>
              </a:rPr>
              <a:t>NOT IN THE BOX</a:t>
            </a:r>
          </a:p>
        </p:txBody>
      </p:sp>
      <p:sp>
        <p:nvSpPr>
          <p:cNvPr id="7" name="TextBox 6"/>
          <p:cNvSpPr txBox="1"/>
          <p:nvPr/>
        </p:nvSpPr>
        <p:spPr>
          <a:xfrm>
            <a:off x="438912" y="1463040"/>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The pendant and the ring</a:t>
            </a:r>
          </a:p>
        </p:txBody>
      </p:sp>
      <p:sp>
        <p:nvSpPr>
          <p:cNvPr id="8" name="TextBox 7"/>
          <p:cNvSpPr txBox="1"/>
          <p:nvPr/>
        </p:nvSpPr>
        <p:spPr>
          <a:xfrm>
            <a:off x="438912" y="1993392"/>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A battery for a day of class, until we measure longer</a:t>
            </a:r>
          </a:p>
        </p:txBody>
      </p:sp>
      <p:sp>
        <p:nvSpPr>
          <p:cNvPr id="9" name="TextBox 8"/>
          <p:cNvSpPr txBox="1"/>
          <p:nvPr/>
        </p:nvSpPr>
        <p:spPr>
          <a:xfrm>
            <a:off x="438912" y="2523744"/>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Bluetooth recognition of Meta glasses</a:t>
            </a:r>
          </a:p>
        </p:txBody>
      </p:sp>
      <p:sp>
        <p:nvSpPr>
          <p:cNvPr id="10" name="TextBox 9"/>
          <p:cNvSpPr txBox="1"/>
          <p:nvPr/>
        </p:nvSpPr>
        <p:spPr>
          <a:xfrm>
            <a:off x="438912" y="3054096"/>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The capture-blink sensor</a:t>
            </a:r>
          </a:p>
        </p:txBody>
      </p:sp>
      <p:sp>
        <p:nvSpPr>
          <p:cNvPr id="11" name="TextBox 10"/>
          <p:cNvSpPr txBox="1"/>
          <p:nvPr/>
        </p:nvSpPr>
        <p:spPr>
          <a:xfrm>
            <a:off x="438912" y="3584448"/>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Light, sound, buzz, and the preset text</a:t>
            </a:r>
          </a:p>
        </p:txBody>
      </p:sp>
      <p:sp>
        <p:nvSpPr>
          <p:cNvPr id="12" name="TextBox 11"/>
          <p:cNvSpPr txBox="1"/>
          <p:nvPr/>
        </p:nvSpPr>
        <p:spPr>
          <a:xfrm>
            <a:off x="4709160" y="1463040"/>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A promise to catch every hidden mic</a:t>
            </a:r>
          </a:p>
        </p:txBody>
      </p:sp>
      <p:sp>
        <p:nvSpPr>
          <p:cNvPr id="13" name="TextBox 12"/>
          <p:cNvSpPr txBox="1"/>
          <p:nvPr/>
        </p:nvSpPr>
        <p:spPr>
          <a:xfrm>
            <a:off x="4709160" y="1993392"/>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A name, a face, or a saved clip</a:t>
            </a:r>
          </a:p>
        </p:txBody>
      </p:sp>
      <p:sp>
        <p:nvSpPr>
          <p:cNvPr id="14" name="TextBox 13"/>
          <p:cNvSpPr txBox="1"/>
          <p:nvPr/>
        </p:nvSpPr>
        <p:spPr>
          <a:xfrm>
            <a:off x="4709160" y="2523744"/>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A way around Meta's capture LED</a:t>
            </a:r>
          </a:p>
        </p:txBody>
      </p:sp>
      <p:sp>
        <p:nvSpPr>
          <p:cNvPr id="15" name="TextBox 14"/>
          <p:cNvSpPr txBox="1"/>
          <p:nvPr/>
        </p:nvSpPr>
        <p:spPr>
          <a:xfrm>
            <a:off x="4709160" y="3054096"/>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A medical or therapy claim</a:t>
            </a:r>
          </a:p>
        </p:txBody>
      </p:sp>
      <p:sp>
        <p:nvSpPr>
          <p:cNvPr id="16" name="TextBox 15"/>
          <p:cNvSpPr txBox="1"/>
          <p:nvPr/>
        </p:nvSpPr>
        <p:spPr>
          <a:xfrm>
            <a:off x="4709160" y="3584448"/>
            <a:ext cx="402336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1C161A"/>
                </a:solidFill>
                <a:latin typeface="Poppins"/>
                <a:ea typeface="Poppins"/>
                <a:cs typeface="Poppins"/>
              </a:rPr>
              <a:t>A price lower than the parts, just to sound generous</a:t>
            </a:r>
          </a:p>
        </p:txBody>
      </p:sp>
      <p:sp>
        <p:nvSpPr>
          <p:cNvPr id="17" name="TextBox 1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8" name="TextBox 1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37744"/>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BEFORE THE REPORT</a:t>
            </a:r>
          </a:p>
        </p:txBody>
      </p:sp>
      <p:sp>
        <p:nvSpPr>
          <p:cNvPr id="4" name="TextBox 3"/>
          <p:cNvSpPr txBox="1"/>
          <p:nvPr/>
        </p:nvSpPr>
        <p:spPr>
          <a:xfrm>
            <a:off x="384048" y="475488"/>
            <a:ext cx="8229600" cy="868680"/>
          </a:xfrm>
          <a:prstGeom prst="rect">
            <a:avLst/>
          </a:prstGeom>
          <a:noFill/>
        </p:spPr>
        <p:txBody>
          <a:bodyPr wrap="square" lIns="0" rIns="0" tIns="0" bIns="0" anchor="t"/>
          <a:lstStyle/>
          <a:p>
            <a:pPr algn="l">
              <a:lnSpc>
                <a:spcPct val="96000"/>
              </a:lnSpc>
              <a:spcBef>
                <a:spcPts val="0"/>
              </a:spcBef>
              <a:spcAft>
                <a:spcPts val="0"/>
              </a:spcAft>
            </a:pPr>
            <a:r>
              <a:rPr sz="2400" b="1" i="0">
                <a:solidFill>
                  <a:srgbClr val="1C161A"/>
                </a:solidFill>
                <a:latin typeface="Poppins"/>
                <a:ea typeface="Poppins"/>
                <a:cs typeface="Poppins"/>
              </a:rPr>
              <a:t>Four tests. One of them is</a:t>
            </a:r>
          </a:p>
          <a:p>
            <a:pPr algn="l">
              <a:lnSpc>
                <a:spcPct val="96000"/>
              </a:lnSpc>
              <a:spcBef>
                <a:spcPts val="0"/>
              </a:spcBef>
              <a:spcAft>
                <a:spcPts val="0"/>
              </a:spcAft>
            </a:pPr>
            <a:r>
              <a:rPr sz="2400" b="1" i="0">
                <a:solidFill>
                  <a:srgbClr val="1C161A"/>
                </a:solidFill>
                <a:latin typeface="Poppins"/>
                <a:ea typeface="Poppins"/>
                <a:cs typeface="Poppins"/>
              </a:rPr>
              <a:t>whether it is cute enough.</a:t>
            </a:r>
          </a:p>
        </p:txBody>
      </p:sp>
      <p:sp>
        <p:nvSpPr>
          <p:cNvPr id="5" name="TextBox 4"/>
          <p:cNvSpPr txBox="1"/>
          <p:nvPr/>
        </p:nvSpPr>
        <p:spPr>
          <a:xfrm>
            <a:off x="384048" y="1554480"/>
            <a:ext cx="50292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01</a:t>
            </a:r>
          </a:p>
        </p:txBody>
      </p:sp>
      <p:sp>
        <p:nvSpPr>
          <p:cNvPr id="6" name="TextBox 5"/>
          <p:cNvSpPr txBox="1"/>
          <p:nvPr/>
        </p:nvSpPr>
        <p:spPr>
          <a:xfrm>
            <a:off x="932688" y="1536192"/>
            <a:ext cx="356616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C161A"/>
                </a:solidFill>
                <a:latin typeface="Poppins"/>
                <a:ea typeface="Poppins"/>
                <a:cs typeface="Poppins"/>
              </a:rPr>
              <a:t>Wear</a:t>
            </a:r>
          </a:p>
        </p:txBody>
      </p:sp>
      <p:sp>
        <p:nvSpPr>
          <p:cNvPr id="7" name="TextBox 6"/>
          <p:cNvSpPr txBox="1"/>
          <p:nvPr/>
        </p:nvSpPr>
        <p:spPr>
          <a:xfrm>
            <a:off x="932688" y="1847088"/>
            <a:ext cx="3611880" cy="960120"/>
          </a:xfrm>
          <a:prstGeom prst="rect">
            <a:avLst/>
          </a:prstGeom>
          <a:noFill/>
        </p:spPr>
        <p:txBody>
          <a:bodyPr wrap="square" lIns="0" rIns="0" tIns="0" bIns="0" anchor="t"/>
          <a:lstStyle/>
          <a:p>
            <a:pPr algn="l">
              <a:lnSpc>
                <a:spcPct val="102000"/>
              </a:lnSpc>
              <a:spcBef>
                <a:spcPts val="0"/>
              </a:spcBef>
              <a:spcAft>
                <a:spcPts val="0"/>
              </a:spcAft>
            </a:pPr>
            <a:r>
              <a:rPr sz="1200" b="0" i="0">
                <a:solidFill>
                  <a:srgbClr val="5C4C54"/>
                </a:solidFill>
                <a:latin typeface="Poppins"/>
                <a:ea typeface="Poppins"/>
                <a:cs typeface="Poppins"/>
              </a:rPr>
              <a:t>Will someone clip it on because they like it, the way they clip on any other charm?</a:t>
            </a:r>
          </a:p>
        </p:txBody>
      </p:sp>
      <p:sp>
        <p:nvSpPr>
          <p:cNvPr id="8" name="TextBox 7"/>
          <p:cNvSpPr txBox="1"/>
          <p:nvPr/>
        </p:nvSpPr>
        <p:spPr>
          <a:xfrm>
            <a:off x="4773168" y="1554480"/>
            <a:ext cx="50292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02</a:t>
            </a:r>
          </a:p>
        </p:txBody>
      </p:sp>
      <p:sp>
        <p:nvSpPr>
          <p:cNvPr id="9" name="TextBox 8"/>
          <p:cNvSpPr txBox="1"/>
          <p:nvPr/>
        </p:nvSpPr>
        <p:spPr>
          <a:xfrm>
            <a:off x="5321807" y="1536192"/>
            <a:ext cx="356616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C161A"/>
                </a:solidFill>
                <a:latin typeface="Poppins"/>
                <a:ea typeface="Poppins"/>
                <a:cs typeface="Poppins"/>
              </a:rPr>
              <a:t>Meta, not everything</a:t>
            </a:r>
          </a:p>
        </p:txBody>
      </p:sp>
      <p:sp>
        <p:nvSpPr>
          <p:cNvPr id="10" name="TextBox 9"/>
          <p:cNvSpPr txBox="1"/>
          <p:nvPr/>
        </p:nvSpPr>
        <p:spPr>
          <a:xfrm>
            <a:off x="5321807" y="1847088"/>
            <a:ext cx="3611880" cy="960120"/>
          </a:xfrm>
          <a:prstGeom prst="rect">
            <a:avLst/>
          </a:prstGeom>
          <a:noFill/>
        </p:spPr>
        <p:txBody>
          <a:bodyPr wrap="square" lIns="0" rIns="0" tIns="0" bIns="0" anchor="t"/>
          <a:lstStyle/>
          <a:p>
            <a:pPr algn="l">
              <a:lnSpc>
                <a:spcPct val="102000"/>
              </a:lnSpc>
              <a:spcBef>
                <a:spcPts val="0"/>
              </a:spcBef>
              <a:spcAft>
                <a:spcPts val="0"/>
              </a:spcAft>
            </a:pPr>
            <a:r>
              <a:rPr sz="1200" b="0" i="0">
                <a:solidFill>
                  <a:srgbClr val="5C4C54"/>
                </a:solidFill>
                <a:latin typeface="Poppins"/>
                <a:ea typeface="Poppins"/>
                <a:cs typeface="Poppins"/>
              </a:rPr>
              <a:t>Does a pair of Meta glasses tap it across this table, while ordinary glasses do not?</a:t>
            </a:r>
          </a:p>
        </p:txBody>
      </p:sp>
      <p:sp>
        <p:nvSpPr>
          <p:cNvPr id="11" name="TextBox 10"/>
          <p:cNvSpPr txBox="1"/>
          <p:nvPr/>
        </p:nvSpPr>
        <p:spPr>
          <a:xfrm>
            <a:off x="384048" y="3017520"/>
            <a:ext cx="50292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03</a:t>
            </a:r>
          </a:p>
        </p:txBody>
      </p:sp>
      <p:sp>
        <p:nvSpPr>
          <p:cNvPr id="12" name="TextBox 11"/>
          <p:cNvSpPr txBox="1"/>
          <p:nvPr/>
        </p:nvSpPr>
        <p:spPr>
          <a:xfrm>
            <a:off x="932688" y="2999232"/>
            <a:ext cx="356616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C161A"/>
                </a:solidFill>
                <a:latin typeface="Poppins"/>
                <a:ea typeface="Poppins"/>
                <a:cs typeface="Poppins"/>
              </a:rPr>
              <a:t>The blink</a:t>
            </a:r>
          </a:p>
        </p:txBody>
      </p:sp>
      <p:sp>
        <p:nvSpPr>
          <p:cNvPr id="13" name="TextBox 12"/>
          <p:cNvSpPr txBox="1"/>
          <p:nvPr/>
        </p:nvSpPr>
        <p:spPr>
          <a:xfrm>
            <a:off x="932688" y="3310127"/>
            <a:ext cx="3611880" cy="960120"/>
          </a:xfrm>
          <a:prstGeom prst="rect">
            <a:avLst/>
          </a:prstGeom>
          <a:noFill/>
        </p:spPr>
        <p:txBody>
          <a:bodyPr wrap="square" lIns="0" rIns="0" tIns="0" bIns="0" anchor="t"/>
          <a:lstStyle/>
          <a:p>
            <a:pPr algn="l">
              <a:lnSpc>
                <a:spcPct val="102000"/>
              </a:lnSpc>
              <a:spcBef>
                <a:spcPts val="0"/>
              </a:spcBef>
              <a:spcAft>
                <a:spcPts val="0"/>
              </a:spcAft>
            </a:pPr>
            <a:r>
              <a:rPr sz="1200" b="0" i="0">
                <a:solidFill>
                  <a:srgbClr val="5C4C54"/>
                </a:solidFill>
                <a:latin typeface="Poppins"/>
                <a:ea typeface="Poppins"/>
                <a:cs typeface="Poppins"/>
              </a:rPr>
              <a:t>Can the sensor tell a capture blink from a ceiling light? If not, we ship presence only, and we say so.</a:t>
            </a:r>
          </a:p>
        </p:txBody>
      </p:sp>
      <p:sp>
        <p:nvSpPr>
          <p:cNvPr id="14" name="TextBox 13"/>
          <p:cNvSpPr txBox="1"/>
          <p:nvPr/>
        </p:nvSpPr>
        <p:spPr>
          <a:xfrm>
            <a:off x="4773168" y="3017520"/>
            <a:ext cx="50292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04</a:t>
            </a:r>
          </a:p>
        </p:txBody>
      </p:sp>
      <p:sp>
        <p:nvSpPr>
          <p:cNvPr id="15" name="TextBox 14"/>
          <p:cNvSpPr txBox="1"/>
          <p:nvPr/>
        </p:nvSpPr>
        <p:spPr>
          <a:xfrm>
            <a:off x="5321807" y="2999232"/>
            <a:ext cx="356616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C161A"/>
                </a:solidFill>
                <a:latin typeface="Poppins"/>
                <a:ea typeface="Poppins"/>
                <a:cs typeface="Poppins"/>
              </a:rPr>
              <a:t>Today</a:t>
            </a:r>
          </a:p>
        </p:txBody>
      </p:sp>
      <p:sp>
        <p:nvSpPr>
          <p:cNvPr id="16" name="TextBox 15"/>
          <p:cNvSpPr txBox="1"/>
          <p:nvPr/>
        </p:nvSpPr>
        <p:spPr>
          <a:xfrm>
            <a:off x="5321807" y="3310127"/>
            <a:ext cx="3611880" cy="960120"/>
          </a:xfrm>
          <a:prstGeom prst="rect">
            <a:avLst/>
          </a:prstGeom>
          <a:noFill/>
        </p:spPr>
        <p:txBody>
          <a:bodyPr wrap="square" lIns="0" rIns="0" tIns="0" bIns="0" anchor="t"/>
          <a:lstStyle/>
          <a:p>
            <a:pPr algn="l">
              <a:lnSpc>
                <a:spcPct val="102000"/>
              </a:lnSpc>
              <a:spcBef>
                <a:spcPts val="0"/>
              </a:spcBef>
              <a:spcAft>
                <a:spcPts val="0"/>
              </a:spcAft>
            </a:pPr>
            <a:r>
              <a:rPr sz="1200" b="0" i="0">
                <a:solidFill>
                  <a:srgbClr val="5C4C54"/>
                </a:solidFill>
                <a:latin typeface="Poppins"/>
                <a:ea typeface="Poppins"/>
                <a:cs typeface="Poppins"/>
              </a:rPr>
              <a:t>Did this exercise make you want Vendetta, or only startle you? We ask that after class, on paper.</a:t>
            </a:r>
          </a:p>
        </p:txBody>
      </p:sp>
      <p:sp>
        <p:nvSpPr>
          <p:cNvPr id="17" name="TextBox 1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8" name="TextBox 1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502920"/>
            <a:ext cx="8229600" cy="237744"/>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FFFFFF"/>
                </a:solidFill>
                <a:latin typeface="Poppins"/>
                <a:ea typeface="Poppins"/>
                <a:cs typeface="Poppins"/>
              </a:rPr>
              <a:t>FOR THE PEOPLE WEARING THEM</a:t>
            </a:r>
          </a:p>
        </p:txBody>
      </p:sp>
      <p:sp>
        <p:nvSpPr>
          <p:cNvPr id="4" name="TextBox 3"/>
          <p:cNvSpPr txBox="1"/>
          <p:nvPr/>
        </p:nvSpPr>
        <p:spPr>
          <a:xfrm>
            <a:off x="411480" y="868680"/>
            <a:ext cx="8229600" cy="54864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FFFFFF"/>
                </a:solidFill>
                <a:latin typeface="Poppins"/>
                <a:ea typeface="Poppins"/>
                <a:cs typeface="Poppins"/>
              </a:rPr>
              <a:t>Keep the glasses.</a:t>
            </a:r>
          </a:p>
        </p:txBody>
      </p:sp>
      <p:sp>
        <p:nvSpPr>
          <p:cNvPr id="5" name="TextBox 4"/>
          <p:cNvSpPr txBox="1"/>
          <p:nvPr/>
        </p:nvSpPr>
        <p:spPr>
          <a:xfrm>
            <a:off x="457200" y="1645920"/>
            <a:ext cx="8229600" cy="4572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FFFFFF"/>
                </a:solidFill>
                <a:latin typeface="Poppins"/>
                <a:ea typeface="Poppins"/>
                <a:cs typeface="Poppins"/>
              </a:rPr>
              <a:t>A camera you don't have to hold is a good camera.</a:t>
            </a:r>
          </a:p>
        </p:txBody>
      </p:sp>
      <p:sp>
        <p:nvSpPr>
          <p:cNvPr id="6" name="TextBox 5"/>
          <p:cNvSpPr txBox="1"/>
          <p:nvPr/>
        </p:nvSpPr>
        <p:spPr>
          <a:xfrm>
            <a:off x="457200" y="2286000"/>
            <a:ext cx="8229600" cy="4572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FFFFFF"/>
                </a:solidFill>
                <a:latin typeface="Poppins"/>
                <a:ea typeface="Poppins"/>
                <a:cs typeface="Poppins"/>
              </a:rPr>
              <a:t>Vendetta uses the Bluetooth they already speak, and the blink they already show.</a:t>
            </a:r>
          </a:p>
        </p:txBody>
      </p:sp>
      <p:sp>
        <p:nvSpPr>
          <p:cNvPr id="7" name="TextBox 6"/>
          <p:cNvSpPr txBox="1"/>
          <p:nvPr/>
        </p:nvSpPr>
        <p:spPr>
          <a:xfrm>
            <a:off x="457200" y="2926080"/>
            <a:ext cx="8229600" cy="4572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FFFFFF"/>
                </a:solidFill>
                <a:latin typeface="Poppins"/>
                <a:ea typeface="Poppins"/>
                <a:cs typeface="Poppins"/>
              </a:rPr>
              <a:t>The tap lands on the person who did not press record.</a:t>
            </a:r>
          </a:p>
        </p:txBody>
      </p:sp>
      <p:sp>
        <p:nvSpPr>
          <p:cNvPr id="8" name="TextBox 7"/>
          <p:cNvSpPr txBox="1"/>
          <p:nvPr/>
        </p:nvSpPr>
        <p:spPr>
          <a:xfrm>
            <a:off x="457200" y="3566159"/>
            <a:ext cx="8229600" cy="4572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FFFFFF"/>
                </a:solidFill>
                <a:latin typeface="Poppins"/>
                <a:ea typeface="Poppins"/>
                <a:cs typeface="Poppins"/>
              </a:rPr>
              <a:t>A wearer who wants the same courtesy clips Vendetta on, too.</a:t>
            </a:r>
          </a:p>
        </p:txBody>
      </p:sp>
      <p:sp>
        <p:nvSpPr>
          <p:cNvPr id="9" name="TextBox 8"/>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10" name="TextBox 9"/>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SAID OUT LOUD</a:t>
            </a:r>
          </a:p>
        </p:txBody>
      </p:sp>
      <p:sp>
        <p:nvSpPr>
          <p:cNvPr id="4" name="TextBox 3"/>
          <p:cNvSpPr txBox="1"/>
          <p:nvPr/>
        </p:nvSpPr>
        <p:spPr>
          <a:xfrm>
            <a:off x="384048" y="493776"/>
            <a:ext cx="8229600" cy="365760"/>
          </a:xfrm>
          <a:prstGeom prst="rect">
            <a:avLst/>
          </a:prstGeom>
          <a:noFill/>
        </p:spPr>
        <p:txBody>
          <a:bodyPr wrap="square" lIns="0" rIns="0" tIns="0" bIns="0" anchor="t"/>
          <a:lstStyle/>
          <a:p>
            <a:pPr algn="l">
              <a:lnSpc>
                <a:spcPct val="100000"/>
              </a:lnSpc>
              <a:spcBef>
                <a:spcPts val="0"/>
              </a:spcBef>
              <a:spcAft>
                <a:spcPts val="0"/>
              </a:spcAft>
            </a:pPr>
            <a:r>
              <a:rPr sz="2400" b="1" i="0">
                <a:solidFill>
                  <a:srgbClr val="1C161A"/>
                </a:solidFill>
                <a:latin typeface="Poppins"/>
                <a:ea typeface="Poppins"/>
                <a:cs typeface="Poppins"/>
              </a:rPr>
              <a:t>The ways this goes wrong.</a:t>
            </a:r>
          </a:p>
        </p:txBody>
      </p:sp>
      <p:sp>
        <p:nvSpPr>
          <p:cNvPr id="5" name="TextBox 4"/>
          <p:cNvSpPr txBox="1"/>
          <p:nvPr/>
        </p:nvSpPr>
        <p:spPr>
          <a:xfrm>
            <a:off x="438912" y="1051560"/>
            <a:ext cx="822960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A room of idle glasses.</a:t>
            </a:r>
          </a:p>
        </p:txBody>
      </p:sp>
      <p:sp>
        <p:nvSpPr>
          <p:cNvPr id="6" name="TextBox 5"/>
          <p:cNvSpPr txBox="1"/>
          <p:nvPr/>
        </p:nvSpPr>
        <p:spPr>
          <a:xfrm>
            <a:off x="438912" y="1344168"/>
            <a:ext cx="822960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If presence and recording feel the same, the charm comes off. The two taps have to differ.</a:t>
            </a:r>
          </a:p>
        </p:txBody>
      </p:sp>
      <p:sp>
        <p:nvSpPr>
          <p:cNvPr id="7" name="TextBox 6"/>
          <p:cNvSpPr txBox="1"/>
          <p:nvPr/>
        </p:nvSpPr>
        <p:spPr>
          <a:xfrm>
            <a:off x="438912" y="1920239"/>
            <a:ext cx="822960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Cute as a disguise.</a:t>
            </a:r>
          </a:p>
        </p:txBody>
      </p:sp>
      <p:sp>
        <p:nvSpPr>
          <p:cNvPr id="8" name="TextBox 7"/>
          <p:cNvSpPr txBox="1"/>
          <p:nvPr/>
        </p:nvSpPr>
        <p:spPr>
          <a:xfrm>
            <a:off x="438912" y="2212847"/>
            <a:ext cx="822960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A pretty object that secretly records the room is worse than a gadget. Vendetta listens for a signal. It does not capture.</a:t>
            </a:r>
          </a:p>
        </p:txBody>
      </p:sp>
      <p:sp>
        <p:nvSpPr>
          <p:cNvPr id="9" name="TextBox 8"/>
          <p:cNvSpPr txBox="1"/>
          <p:nvPr/>
        </p:nvSpPr>
        <p:spPr>
          <a:xfrm>
            <a:off x="438912" y="2788920"/>
            <a:ext cx="822960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The text can expose you.</a:t>
            </a:r>
          </a:p>
        </p:txBody>
      </p:sp>
      <p:sp>
        <p:nvSpPr>
          <p:cNvPr id="10" name="TextBox 9"/>
          <p:cNvSpPr txBox="1"/>
          <p:nvPr/>
        </p:nvSpPr>
        <p:spPr>
          <a:xfrm>
            <a:off x="438912" y="3081527"/>
            <a:ext cx="822960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A message that fires at dinner can be louder than a buzz. Text is opt-in. Buzz is the default.</a:t>
            </a:r>
          </a:p>
        </p:txBody>
      </p:sp>
      <p:sp>
        <p:nvSpPr>
          <p:cNvPr id="11" name="TextBox 10"/>
          <p:cNvSpPr txBox="1"/>
          <p:nvPr/>
        </p:nvSpPr>
        <p:spPr>
          <a:xfrm>
            <a:off x="438912" y="3657599"/>
            <a:ext cx="822960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1C161A"/>
                </a:solidFill>
                <a:latin typeface="Poppins"/>
                <a:ea typeface="Poppins"/>
                <a:cs typeface="Poppins"/>
              </a:rPr>
              <a:t>The exercise was a false premise.</a:t>
            </a:r>
          </a:p>
        </p:txBody>
      </p:sp>
      <p:sp>
        <p:nvSpPr>
          <p:cNvPr id="12" name="TextBox 11"/>
          <p:cNvSpPr txBox="1"/>
          <p:nvPr/>
        </p:nvSpPr>
        <p:spPr>
          <a:xfrm>
            <a:off x="438912" y="3950207"/>
            <a:ext cx="8229600" cy="41148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The next sentence had to be that nothing exists. The professor hears the plan first.</a:t>
            </a:r>
          </a:p>
        </p:txBody>
      </p:sp>
      <p:sp>
        <p:nvSpPr>
          <p:cNvPr id="13" name="TextBox 12"/>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4" name="TextBox 13"/>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77240"/>
            <a:ext cx="8229600" cy="237744"/>
          </a:xfrm>
          <a:prstGeom prst="rect">
            <a:avLst/>
          </a:prstGeom>
          <a:noFill/>
        </p:spPr>
        <p:txBody>
          <a:bodyPr wrap="square" lIns="0" rIns="0" tIns="0" bIns="0" anchor="t"/>
          <a:lstStyle/>
          <a:p>
            <a:pPr algn="l">
              <a:lnSpc>
                <a:spcPct val="100000"/>
              </a:lnSpc>
              <a:spcBef>
                <a:spcPts val="0"/>
              </a:spcBef>
              <a:spcAft>
                <a:spcPts val="0"/>
              </a:spcAft>
            </a:pPr>
            <a:r>
              <a:rPr sz="1200" b="1" i="0" spc="180">
                <a:solidFill>
                  <a:srgbClr val="FFFFFF"/>
                </a:solidFill>
                <a:latin typeface="Poppins"/>
                <a:ea typeface="Poppins"/>
                <a:cs typeface="Poppins"/>
              </a:rPr>
              <a:t>CONCLUSION</a:t>
            </a:r>
          </a:p>
        </p:txBody>
      </p:sp>
      <p:sp>
        <p:nvSpPr>
          <p:cNvPr id="4" name="TextBox 3"/>
          <p:cNvSpPr txBox="1"/>
          <p:nvPr/>
        </p:nvSpPr>
        <p:spPr>
          <a:xfrm>
            <a:off x="457200" y="1188720"/>
            <a:ext cx="8229600" cy="1188720"/>
          </a:xfrm>
          <a:prstGeom prst="rect">
            <a:avLst/>
          </a:prstGeom>
          <a:noFill/>
        </p:spPr>
        <p:txBody>
          <a:bodyPr wrap="square" lIns="0" rIns="0" tIns="0" bIns="0" anchor="t"/>
          <a:lstStyle/>
          <a:p>
            <a:pPr algn="l">
              <a:lnSpc>
                <a:spcPct val="98000"/>
              </a:lnSpc>
              <a:spcBef>
                <a:spcPts val="0"/>
              </a:spcBef>
              <a:spcAft>
                <a:spcPts val="0"/>
              </a:spcAft>
            </a:pPr>
            <a:r>
              <a:rPr sz="2600" b="1" i="0">
                <a:solidFill>
                  <a:srgbClr val="FFFFFF"/>
                </a:solidFill>
                <a:latin typeface="Poppins"/>
                <a:ea typeface="Poppins"/>
                <a:cs typeface="Poppins"/>
              </a:rPr>
              <a:t>You may not have control</a:t>
            </a:r>
          </a:p>
          <a:p>
            <a:pPr algn="l">
              <a:lnSpc>
                <a:spcPct val="98000"/>
              </a:lnSpc>
              <a:spcBef>
                <a:spcPts val="0"/>
              </a:spcBef>
              <a:spcAft>
                <a:spcPts val="0"/>
              </a:spcAft>
            </a:pPr>
            <a:r>
              <a:rPr sz="2600" b="1" i="0">
                <a:solidFill>
                  <a:srgbClr val="FFFFFF"/>
                </a:solidFill>
                <a:latin typeface="Poppins"/>
                <a:ea typeface="Poppins"/>
                <a:cs typeface="Poppins"/>
              </a:rPr>
              <a:t>over who is recording you.</a:t>
            </a:r>
          </a:p>
        </p:txBody>
      </p:sp>
      <p:sp>
        <p:nvSpPr>
          <p:cNvPr id="5" name="TextBox 4"/>
          <p:cNvSpPr txBox="1"/>
          <p:nvPr/>
        </p:nvSpPr>
        <p:spPr>
          <a:xfrm>
            <a:off x="457200" y="2560320"/>
            <a:ext cx="8229600" cy="1051560"/>
          </a:xfrm>
          <a:prstGeom prst="rect">
            <a:avLst/>
          </a:prstGeom>
          <a:noFill/>
        </p:spPr>
        <p:txBody>
          <a:bodyPr wrap="square" lIns="0" rIns="0" tIns="0" bIns="0" anchor="t"/>
          <a:lstStyle/>
          <a:p>
            <a:pPr algn="l">
              <a:lnSpc>
                <a:spcPct val="98000"/>
              </a:lnSpc>
              <a:spcBef>
                <a:spcPts val="0"/>
              </a:spcBef>
              <a:spcAft>
                <a:spcPts val="0"/>
              </a:spcAft>
            </a:pPr>
            <a:r>
              <a:rPr sz="2600" b="1" i="0">
                <a:solidFill>
                  <a:srgbClr val="FFFFFF"/>
                </a:solidFill>
                <a:latin typeface="Poppins"/>
                <a:ea typeface="Poppins"/>
                <a:cs typeface="Poppins"/>
              </a:rPr>
              <a:t>You should be able to know</a:t>
            </a:r>
          </a:p>
          <a:p>
            <a:pPr algn="l">
              <a:lnSpc>
                <a:spcPct val="98000"/>
              </a:lnSpc>
              <a:spcBef>
                <a:spcPts val="0"/>
              </a:spcBef>
              <a:spcAft>
                <a:spcPts val="0"/>
              </a:spcAft>
            </a:pPr>
            <a:r>
              <a:rPr sz="2600" b="1" i="0">
                <a:solidFill>
                  <a:srgbClr val="FFFFFF"/>
                </a:solidFill>
                <a:latin typeface="Poppins"/>
                <a:ea typeface="Poppins"/>
                <a:cs typeface="Poppins"/>
              </a:rPr>
              <a:t>if it is happening to you.</a:t>
            </a:r>
          </a:p>
        </p:txBody>
      </p:sp>
      <p:sp>
        <p:nvSpPr>
          <p:cNvPr id="6" name="TextBox 5"/>
          <p:cNvSpPr txBox="1"/>
          <p:nvPr/>
        </p:nvSpPr>
        <p:spPr>
          <a:xfrm>
            <a:off x="457200" y="3840480"/>
            <a:ext cx="822960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FFFFFF"/>
                </a:solidFill>
                <a:latin typeface="Poppins"/>
                <a:ea typeface="Poppins"/>
                <a:cs typeface="Poppins"/>
              </a:rPr>
              <a:t>Vendetta is that knowledge, on something you will actually wear.</a:t>
            </a:r>
          </a:p>
        </p:txBody>
      </p:sp>
      <p:sp>
        <p:nvSpPr>
          <p:cNvPr id="7" name="TextBox 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8" name="TextBox 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34440"/>
            <a:ext cx="8229600" cy="320040"/>
          </a:xfrm>
          <a:prstGeom prst="rect">
            <a:avLst/>
          </a:prstGeom>
          <a:noFill/>
        </p:spPr>
        <p:txBody>
          <a:bodyPr wrap="square" lIns="0" rIns="0" tIns="0" bIns="0" anchor="t"/>
          <a:lstStyle/>
          <a:p>
            <a:pPr algn="ctr">
              <a:lnSpc>
                <a:spcPct val="100000"/>
              </a:lnSpc>
              <a:spcBef>
                <a:spcPts val="0"/>
              </a:spcBef>
              <a:spcAft>
                <a:spcPts val="0"/>
              </a:spcAft>
            </a:pPr>
            <a:r>
              <a:rPr sz="1400" b="1" i="0" spc="200">
                <a:solidFill>
                  <a:srgbClr val="FFFFFF"/>
                </a:solidFill>
                <a:latin typeface="Poppins"/>
                <a:ea typeface="Poppins"/>
                <a:cs typeface="Poppins"/>
              </a:rPr>
              <a:t>Vendetta</a:t>
            </a:r>
          </a:p>
        </p:txBody>
      </p:sp>
      <p:sp>
        <p:nvSpPr>
          <p:cNvPr id="4" name="TextBox 3"/>
          <p:cNvSpPr txBox="1"/>
          <p:nvPr/>
        </p:nvSpPr>
        <p:spPr>
          <a:xfrm>
            <a:off x="457200" y="1691640"/>
            <a:ext cx="8229600" cy="914400"/>
          </a:xfrm>
          <a:prstGeom prst="rect">
            <a:avLst/>
          </a:prstGeom>
          <a:noFill/>
        </p:spPr>
        <p:txBody>
          <a:bodyPr wrap="square" lIns="0" rIns="0" tIns="0" bIns="0" anchor="t"/>
          <a:lstStyle/>
          <a:p>
            <a:pPr algn="ctr">
              <a:lnSpc>
                <a:spcPct val="100000"/>
              </a:lnSpc>
              <a:spcBef>
                <a:spcPts val="0"/>
              </a:spcBef>
              <a:spcAft>
                <a:spcPts val="0"/>
              </a:spcAft>
            </a:pPr>
            <a:r>
              <a:rPr sz="4800" b="1" i="0">
                <a:solidFill>
                  <a:srgbClr val="FFFFFF"/>
                </a:solidFill>
                <a:latin typeface="Poppins"/>
                <a:ea typeface="Poppins"/>
                <a:cs typeface="Poppins"/>
              </a:rPr>
              <a:t>Thank you.</a:t>
            </a:r>
          </a:p>
        </p:txBody>
      </p:sp>
      <p:sp>
        <p:nvSpPr>
          <p:cNvPr id="5" name="TextBox 4"/>
          <p:cNvSpPr txBox="1"/>
          <p:nvPr/>
        </p:nvSpPr>
        <p:spPr>
          <a:xfrm>
            <a:off x="457200" y="2880360"/>
            <a:ext cx="8229600" cy="365760"/>
          </a:xfrm>
          <a:prstGeom prst="rect">
            <a:avLst/>
          </a:prstGeom>
          <a:noFill/>
        </p:spPr>
        <p:txBody>
          <a:bodyPr wrap="square" lIns="0" rIns="0" tIns="0" bIns="0" anchor="t"/>
          <a:lstStyle/>
          <a:p>
            <a:pPr algn="ctr">
              <a:lnSpc>
                <a:spcPct val="100000"/>
              </a:lnSpc>
              <a:spcBef>
                <a:spcPts val="0"/>
              </a:spcBef>
              <a:spcAft>
                <a:spcPts val="0"/>
              </a:spcAft>
            </a:pPr>
            <a:r>
              <a:rPr sz="1800" b="0" i="0">
                <a:solidFill>
                  <a:srgbClr val="FFFFFF"/>
                </a:solidFill>
                <a:latin typeface="Poppins"/>
                <a:ea typeface="Poppins"/>
                <a:cs typeface="Poppins"/>
              </a:rPr>
              <a:t>Questions.</a:t>
            </a:r>
          </a:p>
        </p:txBody>
      </p:sp>
      <p:sp>
        <p:nvSpPr>
          <p:cNvPr id="6" name="TextBox 5"/>
          <p:cNvSpPr txBox="1"/>
          <p:nvPr/>
        </p:nvSpPr>
        <p:spPr>
          <a:xfrm>
            <a:off x="457200" y="3840480"/>
            <a:ext cx="8229600" cy="274320"/>
          </a:xfrm>
          <a:prstGeom prst="rect">
            <a:avLst/>
          </a:prstGeom>
          <a:noFill/>
        </p:spPr>
        <p:txBody>
          <a:bodyPr wrap="square" lIns="0" rIns="0" tIns="0" bIns="0" anchor="t"/>
          <a:lstStyle/>
          <a:p>
            <a:pPr algn="ctr">
              <a:lnSpc>
                <a:spcPct val="100000"/>
              </a:lnSpc>
              <a:spcBef>
                <a:spcPts val="0"/>
              </a:spcBef>
              <a:spcAft>
                <a:spcPts val="0"/>
              </a:spcAft>
            </a:pPr>
            <a:r>
              <a:rPr sz="1400" b="0" i="0">
                <a:solidFill>
                  <a:srgbClr val="FFFFFF"/>
                </a:solidFill>
                <a:latin typeface="Poppins"/>
                <a:ea typeface="Poppins"/>
                <a:cs typeface="Poppins"/>
              </a:rPr>
              <a:t>Livia Aschheim    ·    [ Name ]    ·    [ Name ]</a:t>
            </a:r>
          </a:p>
        </p:txBody>
      </p:sp>
      <p:sp>
        <p:nvSpPr>
          <p:cNvPr id="7" name="TextBox 6"/>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8" name="TextBox 7"/>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gradFill rotWithShape="1">
            <a:gsLst>
              <a:gs pos="0">
                <a:srgbClr val="158158"/>
              </a:gs>
              <a:gs pos="100000">
                <a:srgbClr val="CC527A"/>
              </a:gs>
            </a:gsLst>
            <a:lin scaled="0" ang="14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0"/>
            <a:ext cx="8229600" cy="274320"/>
          </a:xfrm>
          <a:prstGeom prst="rect">
            <a:avLst/>
          </a:prstGeom>
          <a:noFill/>
        </p:spPr>
        <p:txBody>
          <a:bodyPr wrap="square" lIns="0" rIns="0" tIns="0" bIns="0" anchor="t"/>
          <a:lstStyle/>
          <a:p>
            <a:pPr algn="ctr">
              <a:lnSpc>
                <a:spcPct val="100000"/>
              </a:lnSpc>
              <a:spcBef>
                <a:spcPts val="0"/>
              </a:spcBef>
              <a:spcAft>
                <a:spcPts val="0"/>
              </a:spcAft>
            </a:pPr>
            <a:r>
              <a:rPr sz="1300" b="1" i="0" spc="200">
                <a:solidFill>
                  <a:srgbClr val="FFFFFF"/>
                </a:solidFill>
                <a:latin typeface="Poppins"/>
                <a:ea typeface="Poppins"/>
                <a:cs typeface="Poppins"/>
              </a:rPr>
              <a:t>APPENDIX</a:t>
            </a:r>
          </a:p>
        </p:txBody>
      </p:sp>
      <p:sp>
        <p:nvSpPr>
          <p:cNvPr id="4" name="TextBox 3"/>
          <p:cNvSpPr txBox="1"/>
          <p:nvPr/>
        </p:nvSpPr>
        <p:spPr>
          <a:xfrm>
            <a:off x="457200" y="1920240"/>
            <a:ext cx="8229600" cy="1280160"/>
          </a:xfrm>
          <a:prstGeom prst="rect">
            <a:avLst/>
          </a:prstGeom>
          <a:noFill/>
        </p:spPr>
        <p:txBody>
          <a:bodyPr wrap="square" lIns="0" rIns="0" tIns="0" bIns="0" anchor="t"/>
          <a:lstStyle/>
          <a:p>
            <a:pPr algn="ctr">
              <a:lnSpc>
                <a:spcPct val="95000"/>
              </a:lnSpc>
              <a:spcBef>
                <a:spcPts val="0"/>
              </a:spcBef>
              <a:spcAft>
                <a:spcPts val="0"/>
              </a:spcAft>
            </a:pPr>
            <a:r>
              <a:rPr sz="3600" b="1" i="0">
                <a:solidFill>
                  <a:srgbClr val="FFFFFF"/>
                </a:solidFill>
                <a:latin typeface="Poppins"/>
                <a:ea typeface="Poppins"/>
                <a:cs typeface="Poppins"/>
              </a:rPr>
              <a:t>Do not project</a:t>
            </a:r>
          </a:p>
          <a:p>
            <a:pPr algn="ctr">
              <a:lnSpc>
                <a:spcPct val="95000"/>
              </a:lnSpc>
              <a:spcBef>
                <a:spcPts val="0"/>
              </a:spcBef>
              <a:spcAft>
                <a:spcPts val="0"/>
              </a:spcAft>
            </a:pPr>
            <a:r>
              <a:rPr sz="3600" b="1" i="0">
                <a:solidFill>
                  <a:srgbClr val="FFFFFF"/>
                </a:solidFill>
                <a:latin typeface="Poppins"/>
                <a:ea typeface="Poppins"/>
                <a:cs typeface="Poppins"/>
              </a:rPr>
              <a:t>the rest.</a:t>
            </a:r>
          </a:p>
        </p:txBody>
      </p:sp>
      <p:sp>
        <p:nvSpPr>
          <p:cNvPr id="5" name="TextBox 4"/>
          <p:cNvSpPr txBox="1"/>
          <p:nvPr/>
        </p:nvSpPr>
        <p:spPr>
          <a:xfrm>
            <a:off x="457200" y="3474720"/>
            <a:ext cx="8229600" cy="320040"/>
          </a:xfrm>
          <a:prstGeom prst="rect">
            <a:avLst/>
          </a:prstGeom>
          <a:noFill/>
        </p:spPr>
        <p:txBody>
          <a:bodyPr wrap="square" lIns="0" rIns="0" tIns="0" bIns="0" anchor="t"/>
          <a:lstStyle/>
          <a:p>
            <a:pPr algn="ctr">
              <a:lnSpc>
                <a:spcPct val="100000"/>
              </a:lnSpc>
              <a:spcBef>
                <a:spcPts val="0"/>
              </a:spcBef>
              <a:spcAft>
                <a:spcPts val="0"/>
              </a:spcAft>
            </a:pPr>
            <a:r>
              <a:rPr sz="1400" b="0" i="0">
                <a:solidFill>
                  <a:srgbClr val="FFFFFF"/>
                </a:solidFill>
                <a:latin typeface="Poppins"/>
                <a:ea typeface="Poppins"/>
                <a:cs typeface="Poppins"/>
              </a:rPr>
              <a:t>Run of show, hallway script, repairs, sources.</a:t>
            </a:r>
          </a:p>
        </p:txBody>
      </p:sp>
      <p:sp>
        <p:nvSpPr>
          <p:cNvPr id="6" name="TextBox 5"/>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FFFFFF"/>
                </a:solidFill>
                <a:latin typeface="Poppins"/>
                <a:ea typeface="Poppins"/>
                <a:cs typeface="Poppins"/>
              </a:rPr>
              <a:t>Product vision  |  Pitch deck</a:t>
            </a:r>
          </a:p>
        </p:txBody>
      </p:sp>
      <p:sp>
        <p:nvSpPr>
          <p:cNvPr id="7" name="TextBox 6"/>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FFFFFF"/>
                </a:solidFill>
                <a:latin typeface="Poppins"/>
                <a:ea typeface="Poppins"/>
                <a:cs typeface="Poppi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RUN OF SHOW</a:t>
            </a:r>
          </a:p>
        </p:txBody>
      </p:sp>
      <p:sp>
        <p:nvSpPr>
          <p:cNvPr id="4" name="TextBox 3"/>
          <p:cNvSpPr txBox="1"/>
          <p:nvPr/>
        </p:nvSpPr>
        <p:spPr>
          <a:xfrm>
            <a:off x="384048" y="420624"/>
            <a:ext cx="82296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C161A"/>
                </a:solidFill>
                <a:latin typeface="Poppins"/>
                <a:ea typeface="Poppins"/>
                <a:cs typeface="Poppins"/>
              </a:rPr>
              <a:t>About nine minutes. The scare is not the grade.</a:t>
            </a:r>
          </a:p>
        </p:txBody>
      </p:sp>
      <p:sp>
        <p:nvSpPr>
          <p:cNvPr id="5" name="TextBox 4"/>
          <p:cNvSpPr txBox="1"/>
          <p:nvPr/>
        </p:nvSpPr>
        <p:spPr>
          <a:xfrm>
            <a:off x="384048" y="822960"/>
            <a:ext cx="82296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0:00</a:t>
            </a:r>
          </a:p>
        </p:txBody>
      </p:sp>
      <p:sp>
        <p:nvSpPr>
          <p:cNvPr id="6" name="TextBox 5"/>
          <p:cNvSpPr txBox="1"/>
          <p:nvPr/>
        </p:nvSpPr>
        <p:spPr>
          <a:xfrm>
            <a:off x="1280160" y="822960"/>
            <a:ext cx="164592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Sumi</a:t>
            </a:r>
          </a:p>
        </p:txBody>
      </p:sp>
      <p:sp>
        <p:nvSpPr>
          <p:cNvPr id="7" name="TextBox 6"/>
          <p:cNvSpPr txBox="1"/>
          <p:nvPr/>
        </p:nvSpPr>
        <p:spPr>
          <a:xfrm>
            <a:off x="3017520" y="822960"/>
            <a:ext cx="5669280" cy="36576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Five volunteers. Straight face.</a:t>
            </a:r>
          </a:p>
        </p:txBody>
      </p:sp>
      <p:sp>
        <p:nvSpPr>
          <p:cNvPr id="8" name="TextBox 7"/>
          <p:cNvSpPr txBox="1"/>
          <p:nvPr/>
        </p:nvSpPr>
        <p:spPr>
          <a:xfrm>
            <a:off x="384048" y="1353312"/>
            <a:ext cx="82296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0:30</a:t>
            </a:r>
          </a:p>
        </p:txBody>
      </p:sp>
      <p:sp>
        <p:nvSpPr>
          <p:cNvPr id="9" name="TextBox 8"/>
          <p:cNvSpPr txBox="1"/>
          <p:nvPr/>
        </p:nvSpPr>
        <p:spPr>
          <a:xfrm>
            <a:off x="1280160" y="1353312"/>
            <a:ext cx="164592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Hallway</a:t>
            </a:r>
          </a:p>
        </p:txBody>
      </p:sp>
      <p:sp>
        <p:nvSpPr>
          <p:cNvPr id="10" name="TextBox 9"/>
          <p:cNvSpPr txBox="1"/>
          <p:nvPr/>
        </p:nvSpPr>
        <p:spPr>
          <a:xfrm>
            <a:off x="3017520" y="1353312"/>
            <a:ext cx="5669280" cy="36576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Read the script. They sit. Nobody records.</a:t>
            </a:r>
          </a:p>
        </p:txBody>
      </p:sp>
      <p:sp>
        <p:nvSpPr>
          <p:cNvPr id="11" name="TextBox 10"/>
          <p:cNvSpPr txBox="1"/>
          <p:nvPr/>
        </p:nvSpPr>
        <p:spPr>
          <a:xfrm>
            <a:off x="384048" y="1883664"/>
            <a:ext cx="82296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1:15</a:t>
            </a:r>
          </a:p>
        </p:txBody>
      </p:sp>
      <p:sp>
        <p:nvSpPr>
          <p:cNvPr id="12" name="TextBox 11"/>
          <p:cNvSpPr txBox="1"/>
          <p:nvPr/>
        </p:nvSpPr>
        <p:spPr>
          <a:xfrm>
            <a:off x="1280160" y="1883664"/>
            <a:ext cx="164592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Prompt</a:t>
            </a:r>
          </a:p>
        </p:txBody>
      </p:sp>
      <p:sp>
        <p:nvSpPr>
          <p:cNvPr id="13" name="TextBox 12"/>
          <p:cNvSpPr txBox="1"/>
          <p:nvPr/>
        </p:nvSpPr>
        <p:spPr>
          <a:xfrm>
            <a:off x="3017520" y="1883664"/>
            <a:ext cx="5669280" cy="36576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75 seconds. Watch for distress, not for stories.</a:t>
            </a:r>
          </a:p>
        </p:txBody>
      </p:sp>
      <p:sp>
        <p:nvSpPr>
          <p:cNvPr id="14" name="TextBox 13"/>
          <p:cNvSpPr txBox="1"/>
          <p:nvPr/>
        </p:nvSpPr>
        <p:spPr>
          <a:xfrm>
            <a:off x="384048" y="2414015"/>
            <a:ext cx="82296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2:45</a:t>
            </a:r>
          </a:p>
        </p:txBody>
      </p:sp>
      <p:sp>
        <p:nvSpPr>
          <p:cNvPr id="15" name="TextBox 14"/>
          <p:cNvSpPr txBox="1"/>
          <p:nvPr/>
        </p:nvSpPr>
        <p:spPr>
          <a:xfrm>
            <a:off x="1280160" y="2414015"/>
            <a:ext cx="164592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Plot twist</a:t>
            </a:r>
          </a:p>
        </p:txBody>
      </p:sp>
      <p:sp>
        <p:nvSpPr>
          <p:cNvPr id="16" name="TextBox 15"/>
          <p:cNvSpPr txBox="1"/>
          <p:nvPr/>
        </p:nvSpPr>
        <p:spPr>
          <a:xfrm>
            <a:off x="3017520" y="2414015"/>
            <a:ext cx="5669280" cy="36576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One second. Skip it if the room is already shaky.</a:t>
            </a:r>
          </a:p>
        </p:txBody>
      </p:sp>
      <p:sp>
        <p:nvSpPr>
          <p:cNvPr id="17" name="TextBox 16"/>
          <p:cNvSpPr txBox="1"/>
          <p:nvPr/>
        </p:nvSpPr>
        <p:spPr>
          <a:xfrm>
            <a:off x="384048" y="2944368"/>
            <a:ext cx="82296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3:00</a:t>
            </a:r>
          </a:p>
        </p:txBody>
      </p:sp>
      <p:sp>
        <p:nvSpPr>
          <p:cNvPr id="18" name="TextBox 17"/>
          <p:cNvSpPr txBox="1"/>
          <p:nvPr/>
        </p:nvSpPr>
        <p:spPr>
          <a:xfrm>
            <a:off x="1280160" y="2944368"/>
            <a:ext cx="164592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Clear</a:t>
            </a:r>
          </a:p>
        </p:txBody>
      </p:sp>
      <p:sp>
        <p:nvSpPr>
          <p:cNvPr id="19" name="TextBox 18"/>
          <p:cNvSpPr txBox="1"/>
          <p:nvPr/>
        </p:nvSpPr>
        <p:spPr>
          <a:xfrm>
            <a:off x="3017520" y="2944368"/>
            <a:ext cx="5669280" cy="36576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Phones up before any joke.</a:t>
            </a:r>
          </a:p>
        </p:txBody>
      </p:sp>
      <p:sp>
        <p:nvSpPr>
          <p:cNvPr id="20" name="TextBox 19"/>
          <p:cNvSpPr txBox="1"/>
          <p:nvPr/>
        </p:nvSpPr>
        <p:spPr>
          <a:xfrm>
            <a:off x="384048" y="3474720"/>
            <a:ext cx="82296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3:30</a:t>
            </a:r>
          </a:p>
        </p:txBody>
      </p:sp>
      <p:sp>
        <p:nvSpPr>
          <p:cNvPr id="21" name="TextBox 20"/>
          <p:cNvSpPr txBox="1"/>
          <p:nvPr/>
        </p:nvSpPr>
        <p:spPr>
          <a:xfrm>
            <a:off x="1280160" y="3474720"/>
            <a:ext cx="164592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Vendetta</a:t>
            </a:r>
          </a:p>
        </p:txBody>
      </p:sp>
      <p:sp>
        <p:nvSpPr>
          <p:cNvPr id="22" name="TextBox 21"/>
          <p:cNvSpPr txBox="1"/>
          <p:nvPr/>
        </p:nvSpPr>
        <p:spPr>
          <a:xfrm>
            <a:off x="3017520" y="3474720"/>
            <a:ext cx="5669280" cy="36576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Cute, how it works, the two taps, the text.</a:t>
            </a:r>
          </a:p>
        </p:txBody>
      </p:sp>
      <p:sp>
        <p:nvSpPr>
          <p:cNvPr id="23" name="TextBox 22"/>
          <p:cNvSpPr txBox="1"/>
          <p:nvPr/>
        </p:nvSpPr>
        <p:spPr>
          <a:xfrm>
            <a:off x="384048" y="4005072"/>
            <a:ext cx="82296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9A3458"/>
                </a:solidFill>
                <a:latin typeface="Poppins"/>
                <a:ea typeface="Poppins"/>
                <a:cs typeface="Poppins"/>
              </a:rPr>
              <a:t>8:30</a:t>
            </a:r>
          </a:p>
        </p:txBody>
      </p:sp>
      <p:sp>
        <p:nvSpPr>
          <p:cNvPr id="24" name="TextBox 23"/>
          <p:cNvSpPr txBox="1"/>
          <p:nvPr/>
        </p:nvSpPr>
        <p:spPr>
          <a:xfrm>
            <a:off x="1280160" y="4005072"/>
            <a:ext cx="1645920" cy="320040"/>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Conclusion</a:t>
            </a:r>
          </a:p>
        </p:txBody>
      </p:sp>
      <p:sp>
        <p:nvSpPr>
          <p:cNvPr id="25" name="TextBox 24"/>
          <p:cNvSpPr txBox="1"/>
          <p:nvPr/>
        </p:nvSpPr>
        <p:spPr>
          <a:xfrm>
            <a:off x="3017520" y="4005072"/>
            <a:ext cx="5669280" cy="36576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5C4C54"/>
                </a:solidFill>
                <a:latin typeface="Poppins"/>
                <a:ea typeface="Poppins"/>
                <a:cs typeface="Poppins"/>
              </a:rPr>
              <a:t>Their sentence. Then questions.</a:t>
            </a:r>
          </a:p>
        </p:txBody>
      </p:sp>
      <p:sp>
        <p:nvSpPr>
          <p:cNvPr id="26" name="TextBox 25"/>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27" name="TextBox 26"/>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19456"/>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HALLWAY  ·  READ IT</a:t>
            </a:r>
          </a:p>
        </p:txBody>
      </p:sp>
      <p:sp>
        <p:nvSpPr>
          <p:cNvPr id="4" name="TextBox 3"/>
          <p:cNvSpPr txBox="1"/>
          <p:nvPr/>
        </p:nvSpPr>
        <p:spPr>
          <a:xfrm>
            <a:off x="384048" y="457200"/>
            <a:ext cx="82296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C161A"/>
                </a:solidFill>
                <a:latin typeface="Poppins"/>
                <a:ea typeface="Poppins"/>
                <a:cs typeface="Poppins"/>
              </a:rPr>
              <a:t>Nobody outside is recording anything.</a:t>
            </a:r>
          </a:p>
        </p:txBody>
      </p:sp>
      <p:sp>
        <p:nvSpPr>
          <p:cNvPr id="5" name="Oval 4"/>
          <p:cNvSpPr/>
          <p:nvPr/>
        </p:nvSpPr>
        <p:spPr>
          <a:xfrm>
            <a:off x="411480" y="914400"/>
            <a:ext cx="292608" cy="292608"/>
          </a:xfrm>
          <a:prstGeom prst="ellipse">
            <a:avLst/>
          </a:prstGeom>
          <a:solidFill>
            <a:srgbClr val="1C1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932688"/>
            <a:ext cx="292608" cy="256032"/>
          </a:xfrm>
          <a:prstGeom prst="rect">
            <a:avLst/>
          </a:prstGeom>
          <a:noFill/>
        </p:spPr>
        <p:txBody>
          <a:bodyPr wrap="square" lIns="0" rIns="0" tIns="0" bIns="0" anchor="t"/>
          <a:lstStyle/>
          <a:p>
            <a:pPr algn="ctr">
              <a:lnSpc>
                <a:spcPct val="100000"/>
              </a:lnSpc>
              <a:spcBef>
                <a:spcPts val="0"/>
              </a:spcBef>
              <a:spcAft>
                <a:spcPts val="0"/>
              </a:spcAft>
            </a:pPr>
            <a:r>
              <a:rPr sz="1100" b="1" i="0">
                <a:solidFill>
                  <a:srgbClr val="FFFFFF"/>
                </a:solidFill>
                <a:latin typeface="Poppins"/>
                <a:ea typeface="Poppins"/>
                <a:cs typeface="Poppins"/>
              </a:rPr>
              <a:t>1</a:t>
            </a:r>
          </a:p>
        </p:txBody>
      </p:sp>
      <p:sp>
        <p:nvSpPr>
          <p:cNvPr id="7" name="TextBox 6"/>
          <p:cNvSpPr txBox="1"/>
          <p:nvPr/>
        </p:nvSpPr>
        <p:spPr>
          <a:xfrm>
            <a:off x="868680" y="914400"/>
            <a:ext cx="77724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Walk back in separately. Sit down.</a:t>
            </a:r>
          </a:p>
        </p:txBody>
      </p:sp>
      <p:sp>
        <p:nvSpPr>
          <p:cNvPr id="8" name="Oval 7"/>
          <p:cNvSpPr/>
          <p:nvPr/>
        </p:nvSpPr>
        <p:spPr>
          <a:xfrm>
            <a:off x="411480" y="1508760"/>
            <a:ext cx="292608" cy="292608"/>
          </a:xfrm>
          <a:prstGeom prst="ellipse">
            <a:avLst/>
          </a:prstGeom>
          <a:solidFill>
            <a:srgbClr val="1C1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527048"/>
            <a:ext cx="292608" cy="256032"/>
          </a:xfrm>
          <a:prstGeom prst="rect">
            <a:avLst/>
          </a:prstGeom>
          <a:noFill/>
        </p:spPr>
        <p:txBody>
          <a:bodyPr wrap="square" lIns="0" rIns="0" tIns="0" bIns="0" anchor="t"/>
          <a:lstStyle/>
          <a:p>
            <a:pPr algn="ctr">
              <a:lnSpc>
                <a:spcPct val="100000"/>
              </a:lnSpc>
              <a:spcBef>
                <a:spcPts val="0"/>
              </a:spcBef>
              <a:spcAft>
                <a:spcPts val="0"/>
              </a:spcAft>
            </a:pPr>
            <a:r>
              <a:rPr sz="1100" b="1" i="0">
                <a:solidFill>
                  <a:srgbClr val="FFFFFF"/>
                </a:solidFill>
                <a:latin typeface="Poppins"/>
                <a:ea typeface="Poppins"/>
                <a:cs typeface="Poppins"/>
              </a:rPr>
              <a:t>2</a:t>
            </a:r>
          </a:p>
        </p:txBody>
      </p:sp>
      <p:sp>
        <p:nvSpPr>
          <p:cNvPr id="10" name="TextBox 9"/>
          <p:cNvSpPr txBox="1"/>
          <p:nvPr/>
        </p:nvSpPr>
        <p:spPr>
          <a:xfrm>
            <a:off x="868680" y="1508760"/>
            <a:ext cx="77724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Phone face up, lock screen. Don't touch it.</a:t>
            </a:r>
          </a:p>
        </p:txBody>
      </p:sp>
      <p:sp>
        <p:nvSpPr>
          <p:cNvPr id="11" name="Oval 10"/>
          <p:cNvSpPr/>
          <p:nvPr/>
        </p:nvSpPr>
        <p:spPr>
          <a:xfrm>
            <a:off x="411480" y="2103120"/>
            <a:ext cx="292608" cy="292608"/>
          </a:xfrm>
          <a:prstGeom prst="ellipse">
            <a:avLst/>
          </a:prstGeom>
          <a:solidFill>
            <a:srgbClr val="1C1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121408"/>
            <a:ext cx="292608" cy="256032"/>
          </a:xfrm>
          <a:prstGeom prst="rect">
            <a:avLst/>
          </a:prstGeom>
          <a:noFill/>
        </p:spPr>
        <p:txBody>
          <a:bodyPr wrap="square" lIns="0" rIns="0" tIns="0" bIns="0" anchor="t"/>
          <a:lstStyle/>
          <a:p>
            <a:pPr algn="ctr">
              <a:lnSpc>
                <a:spcPct val="100000"/>
              </a:lnSpc>
              <a:spcBef>
                <a:spcPts val="0"/>
              </a:spcBef>
              <a:spcAft>
                <a:spcPts val="0"/>
              </a:spcAft>
            </a:pPr>
            <a:r>
              <a:rPr sz="1100" b="1" i="0">
                <a:solidFill>
                  <a:srgbClr val="FFFFFF"/>
                </a:solidFill>
                <a:latin typeface="Poppins"/>
                <a:ea typeface="Poppins"/>
                <a:cs typeface="Poppins"/>
              </a:rPr>
              <a:t>3</a:t>
            </a:r>
          </a:p>
        </p:txBody>
      </p:sp>
      <p:sp>
        <p:nvSpPr>
          <p:cNvPr id="13" name="TextBox 12"/>
          <p:cNvSpPr txBox="1"/>
          <p:nvPr/>
        </p:nvSpPr>
        <p:spPr>
          <a:xfrm>
            <a:off x="868680" y="2103120"/>
            <a:ext cx="77724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Do not open the camera. Do not go live. Do not take notes.</a:t>
            </a:r>
          </a:p>
        </p:txBody>
      </p:sp>
      <p:sp>
        <p:nvSpPr>
          <p:cNvPr id="14" name="Oval 13"/>
          <p:cNvSpPr/>
          <p:nvPr/>
        </p:nvSpPr>
        <p:spPr>
          <a:xfrm>
            <a:off x="411480" y="2697480"/>
            <a:ext cx="292608" cy="292608"/>
          </a:xfrm>
          <a:prstGeom prst="ellipse">
            <a:avLst/>
          </a:prstGeom>
          <a:solidFill>
            <a:srgbClr val="1C1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715768"/>
            <a:ext cx="292608" cy="256032"/>
          </a:xfrm>
          <a:prstGeom prst="rect">
            <a:avLst/>
          </a:prstGeom>
          <a:noFill/>
        </p:spPr>
        <p:txBody>
          <a:bodyPr wrap="square" lIns="0" rIns="0" tIns="0" bIns="0" anchor="t"/>
          <a:lstStyle/>
          <a:p>
            <a:pPr algn="ctr">
              <a:lnSpc>
                <a:spcPct val="100000"/>
              </a:lnSpc>
              <a:spcBef>
                <a:spcPts val="0"/>
              </a:spcBef>
              <a:spcAft>
                <a:spcPts val="0"/>
              </a:spcAft>
            </a:pPr>
            <a:r>
              <a:rPr sz="1100" b="1" i="0">
                <a:solidFill>
                  <a:srgbClr val="FFFFFF"/>
                </a:solidFill>
                <a:latin typeface="Poppins"/>
                <a:ea typeface="Poppins"/>
                <a:cs typeface="Poppins"/>
              </a:rPr>
              <a:t>4</a:t>
            </a:r>
          </a:p>
        </p:txBody>
      </p:sp>
      <p:sp>
        <p:nvSpPr>
          <p:cNvPr id="16" name="TextBox 15"/>
          <p:cNvSpPr txBox="1"/>
          <p:nvPr/>
        </p:nvSpPr>
        <p:spPr>
          <a:xfrm>
            <a:off x="868680" y="2697480"/>
            <a:ext cx="77724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Look ordinary. If you smirk, the exercise dies.</a:t>
            </a:r>
          </a:p>
        </p:txBody>
      </p:sp>
      <p:sp>
        <p:nvSpPr>
          <p:cNvPr id="17" name="Oval 16"/>
          <p:cNvSpPr/>
          <p:nvPr/>
        </p:nvSpPr>
        <p:spPr>
          <a:xfrm>
            <a:off x="411480" y="3291840"/>
            <a:ext cx="292608" cy="292608"/>
          </a:xfrm>
          <a:prstGeom prst="ellipse">
            <a:avLst/>
          </a:prstGeom>
          <a:solidFill>
            <a:srgbClr val="1C1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310128"/>
            <a:ext cx="292608" cy="256032"/>
          </a:xfrm>
          <a:prstGeom prst="rect">
            <a:avLst/>
          </a:prstGeom>
          <a:noFill/>
        </p:spPr>
        <p:txBody>
          <a:bodyPr wrap="square" lIns="0" rIns="0" tIns="0" bIns="0" anchor="t"/>
          <a:lstStyle/>
          <a:p>
            <a:pPr algn="ctr">
              <a:lnSpc>
                <a:spcPct val="100000"/>
              </a:lnSpc>
              <a:spcBef>
                <a:spcPts val="0"/>
              </a:spcBef>
              <a:spcAft>
                <a:spcPts val="0"/>
              </a:spcAft>
            </a:pPr>
            <a:r>
              <a:rPr sz="1100" b="1" i="0">
                <a:solidFill>
                  <a:srgbClr val="FFFFFF"/>
                </a:solidFill>
                <a:latin typeface="Poppins"/>
                <a:ea typeface="Poppins"/>
                <a:cs typeface="Poppins"/>
              </a:rPr>
              <a:t>5</a:t>
            </a:r>
          </a:p>
        </p:txBody>
      </p:sp>
      <p:sp>
        <p:nvSpPr>
          <p:cNvPr id="19" name="TextBox 18"/>
          <p:cNvSpPr txBox="1"/>
          <p:nvPr/>
        </p:nvSpPr>
        <p:spPr>
          <a:xfrm>
            <a:off x="868680" y="3291840"/>
            <a:ext cx="77724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When we say phones up, show the lock screen.</a:t>
            </a:r>
          </a:p>
        </p:txBody>
      </p:sp>
      <p:sp>
        <p:nvSpPr>
          <p:cNvPr id="20" name="Oval 19"/>
          <p:cNvSpPr/>
          <p:nvPr/>
        </p:nvSpPr>
        <p:spPr>
          <a:xfrm>
            <a:off x="411480" y="3886200"/>
            <a:ext cx="292608" cy="292608"/>
          </a:xfrm>
          <a:prstGeom prst="ellipse">
            <a:avLst/>
          </a:prstGeom>
          <a:solidFill>
            <a:srgbClr val="1C1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904487"/>
            <a:ext cx="292608" cy="256032"/>
          </a:xfrm>
          <a:prstGeom prst="rect">
            <a:avLst/>
          </a:prstGeom>
          <a:noFill/>
        </p:spPr>
        <p:txBody>
          <a:bodyPr wrap="square" lIns="0" rIns="0" tIns="0" bIns="0" anchor="t"/>
          <a:lstStyle/>
          <a:p>
            <a:pPr algn="ctr">
              <a:lnSpc>
                <a:spcPct val="100000"/>
              </a:lnSpc>
              <a:spcBef>
                <a:spcPts val="0"/>
              </a:spcBef>
              <a:spcAft>
                <a:spcPts val="0"/>
              </a:spcAft>
            </a:pPr>
            <a:r>
              <a:rPr sz="1100" b="1" i="0">
                <a:solidFill>
                  <a:srgbClr val="FFFFFF"/>
                </a:solidFill>
                <a:latin typeface="Poppins"/>
                <a:ea typeface="Poppins"/>
                <a:cs typeface="Poppins"/>
              </a:rPr>
              <a:t>6</a:t>
            </a:r>
          </a:p>
        </p:txBody>
      </p:sp>
      <p:sp>
        <p:nvSpPr>
          <p:cNvPr id="22" name="TextBox 21"/>
          <p:cNvSpPr txBox="1"/>
          <p:nvPr/>
        </p:nvSpPr>
        <p:spPr>
          <a:xfrm>
            <a:off x="868680" y="3886200"/>
            <a:ext cx="77724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If anyone looks upset, don't wait. Phones up first.</a:t>
            </a:r>
          </a:p>
        </p:txBody>
      </p:sp>
      <p:sp>
        <p:nvSpPr>
          <p:cNvPr id="23" name="TextBox 22"/>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24" name="TextBox 23"/>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01168"/>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LINES</a:t>
            </a:r>
          </a:p>
        </p:txBody>
      </p:sp>
      <p:sp>
        <p:nvSpPr>
          <p:cNvPr id="4" name="TextBox 3"/>
          <p:cNvSpPr txBox="1"/>
          <p:nvPr/>
        </p:nvSpPr>
        <p:spPr>
          <a:xfrm>
            <a:off x="384048" y="502920"/>
            <a:ext cx="1371600" cy="365760"/>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OPEN</a:t>
            </a:r>
          </a:p>
        </p:txBody>
      </p:sp>
      <p:sp>
        <p:nvSpPr>
          <p:cNvPr id="5" name="TextBox 4"/>
          <p:cNvSpPr txBox="1"/>
          <p:nvPr/>
        </p:nvSpPr>
        <p:spPr>
          <a:xfrm>
            <a:off x="1874519" y="502920"/>
            <a:ext cx="676656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This is Sumi. We need five volunteers outside.</a:t>
            </a:r>
          </a:p>
        </p:txBody>
      </p:sp>
      <p:sp>
        <p:nvSpPr>
          <p:cNvPr id="6" name="TextBox 5"/>
          <p:cNvSpPr txBox="1"/>
          <p:nvPr/>
        </p:nvSpPr>
        <p:spPr>
          <a:xfrm>
            <a:off x="384048" y="1088136"/>
            <a:ext cx="1371600" cy="365760"/>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PROMPT</a:t>
            </a:r>
          </a:p>
        </p:txBody>
      </p:sp>
      <p:sp>
        <p:nvSpPr>
          <p:cNvPr id="7" name="TextBox 6"/>
          <p:cNvSpPr txBox="1"/>
          <p:nvPr/>
        </p:nvSpPr>
        <p:spPr>
          <a:xfrm>
            <a:off x="1874519" y="1088136"/>
            <a:ext cx="676656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How your week went is enough. You don't owe a confession.</a:t>
            </a:r>
          </a:p>
        </p:txBody>
      </p:sp>
      <p:sp>
        <p:nvSpPr>
          <p:cNvPr id="8" name="TextBox 7"/>
          <p:cNvSpPr txBox="1"/>
          <p:nvPr/>
        </p:nvSpPr>
        <p:spPr>
          <a:xfrm>
            <a:off x="384048" y="1673352"/>
            <a:ext cx="1371600" cy="365760"/>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TWIST</a:t>
            </a:r>
          </a:p>
        </p:txBody>
      </p:sp>
      <p:sp>
        <p:nvSpPr>
          <p:cNvPr id="9" name="TextBox 8"/>
          <p:cNvSpPr txBox="1"/>
          <p:nvPr/>
        </p:nvSpPr>
        <p:spPr>
          <a:xfrm>
            <a:off x="1874519" y="1673352"/>
            <a:ext cx="676656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We had the volunteers livestream your discussions.</a:t>
            </a:r>
          </a:p>
        </p:txBody>
      </p:sp>
      <p:sp>
        <p:nvSpPr>
          <p:cNvPr id="10" name="TextBox 9"/>
          <p:cNvSpPr txBox="1"/>
          <p:nvPr/>
        </p:nvSpPr>
        <p:spPr>
          <a:xfrm>
            <a:off x="384048" y="2258568"/>
            <a:ext cx="1371600" cy="365760"/>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CLEAR</a:t>
            </a:r>
          </a:p>
        </p:txBody>
      </p:sp>
      <p:sp>
        <p:nvSpPr>
          <p:cNvPr id="11" name="TextBox 10"/>
          <p:cNvSpPr txBox="1"/>
          <p:nvPr/>
        </p:nvSpPr>
        <p:spPr>
          <a:xfrm>
            <a:off x="1874519" y="2258568"/>
            <a:ext cx="676656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Nobody livestreamed you. Nothing exists. Phones up.</a:t>
            </a:r>
          </a:p>
        </p:txBody>
      </p:sp>
      <p:sp>
        <p:nvSpPr>
          <p:cNvPr id="12" name="TextBox 11"/>
          <p:cNvSpPr txBox="1"/>
          <p:nvPr/>
        </p:nvSpPr>
        <p:spPr>
          <a:xfrm>
            <a:off x="384048" y="2843784"/>
            <a:ext cx="1371600" cy="365760"/>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PRODUCT</a:t>
            </a:r>
          </a:p>
        </p:txBody>
      </p:sp>
      <p:sp>
        <p:nvSpPr>
          <p:cNvPr id="13" name="TextBox 12"/>
          <p:cNvSpPr txBox="1"/>
          <p:nvPr/>
        </p:nvSpPr>
        <p:spPr>
          <a:xfrm>
            <a:off x="1874519" y="2843784"/>
            <a:ext cx="676656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Vendetta notices Meta glasses. It looks like a charm.</a:t>
            </a:r>
          </a:p>
        </p:txBody>
      </p:sp>
      <p:sp>
        <p:nvSpPr>
          <p:cNvPr id="14" name="TextBox 13"/>
          <p:cNvSpPr txBox="1"/>
          <p:nvPr/>
        </p:nvSpPr>
        <p:spPr>
          <a:xfrm>
            <a:off x="384048" y="3429000"/>
            <a:ext cx="1371600" cy="365760"/>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LIMIT</a:t>
            </a:r>
          </a:p>
        </p:txBody>
      </p:sp>
      <p:sp>
        <p:nvSpPr>
          <p:cNvPr id="15" name="TextBox 14"/>
          <p:cNvSpPr txBox="1"/>
          <p:nvPr/>
        </p:nvSpPr>
        <p:spPr>
          <a:xfrm>
            <a:off x="1874519" y="3429000"/>
            <a:ext cx="676656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Idle is one tap. Capturing stays. We do not name anyone.</a:t>
            </a:r>
          </a:p>
        </p:txBody>
      </p:sp>
      <p:sp>
        <p:nvSpPr>
          <p:cNvPr id="16" name="TextBox 15"/>
          <p:cNvSpPr txBox="1"/>
          <p:nvPr/>
        </p:nvSpPr>
        <p:spPr>
          <a:xfrm>
            <a:off x="384048" y="4014215"/>
            <a:ext cx="1371600" cy="365760"/>
          </a:xfrm>
          <a:prstGeom prst="rect">
            <a:avLst/>
          </a:prstGeom>
          <a:noFill/>
        </p:spPr>
        <p:txBody>
          <a:bodyPr wrap="square" lIns="0" rIns="0" tIns="0" bIns="0" anchor="t"/>
          <a:lstStyle/>
          <a:p>
            <a:pPr algn="l">
              <a:lnSpc>
                <a:spcPct val="100000"/>
              </a:lnSpc>
              <a:spcBef>
                <a:spcPts val="0"/>
              </a:spcBef>
              <a:spcAft>
                <a:spcPts val="0"/>
              </a:spcAft>
            </a:pPr>
            <a:r>
              <a:rPr sz="1200" b="1" i="0">
                <a:solidFill>
                  <a:srgbClr val="9A3458"/>
                </a:solidFill>
                <a:latin typeface="Poppins"/>
                <a:ea typeface="Poppins"/>
                <a:cs typeface="Poppins"/>
              </a:rPr>
              <a:t>CLOSE</a:t>
            </a:r>
          </a:p>
        </p:txBody>
      </p:sp>
      <p:sp>
        <p:nvSpPr>
          <p:cNvPr id="17" name="TextBox 16"/>
          <p:cNvSpPr txBox="1"/>
          <p:nvPr/>
        </p:nvSpPr>
        <p:spPr>
          <a:xfrm>
            <a:off x="1874519" y="4014215"/>
            <a:ext cx="6766560" cy="41148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1C161A"/>
                </a:solidFill>
                <a:latin typeface="Poppins"/>
                <a:ea typeface="Poppins"/>
                <a:cs typeface="Poppins"/>
              </a:rPr>
              <a:t>You should be able to know if it is happening to you.</a:t>
            </a:r>
          </a:p>
        </p:txBody>
      </p:sp>
      <p:sp>
        <p:nvSpPr>
          <p:cNvPr id="18" name="TextBox 17"/>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9" name="TextBox 18"/>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B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82880"/>
            <a:ext cx="7315200" cy="219456"/>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9A3458"/>
                </a:solidFill>
                <a:latin typeface="Poppins"/>
                <a:ea typeface="Poppins"/>
                <a:cs typeface="Poppins"/>
              </a:rPr>
              <a:t>IF THEY ASK</a:t>
            </a:r>
          </a:p>
        </p:txBody>
      </p:sp>
      <p:sp>
        <p:nvSpPr>
          <p:cNvPr id="4" name="TextBox 3"/>
          <p:cNvSpPr txBox="1"/>
          <p:nvPr/>
        </p:nvSpPr>
        <p:spPr>
          <a:xfrm>
            <a:off x="384048" y="438912"/>
            <a:ext cx="832104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Glasses already have an LED.</a:t>
            </a:r>
          </a:p>
        </p:txBody>
      </p:sp>
      <p:sp>
        <p:nvSpPr>
          <p:cNvPr id="5" name="TextBox 4"/>
          <p:cNvSpPr txBox="1"/>
          <p:nvPr/>
        </p:nvSpPr>
        <p:spPr>
          <a:xfrm>
            <a:off x="384048" y="713232"/>
            <a:ext cx="8321040" cy="457200"/>
          </a:xfrm>
          <a:prstGeom prst="rect">
            <a:avLst/>
          </a:prstGeom>
          <a:noFill/>
        </p:spPr>
        <p:txBody>
          <a:bodyPr wrap="square" lIns="0" rIns="0" tIns="0" bIns="0" anchor="t"/>
          <a:lstStyle/>
          <a:p>
            <a:pPr algn="l">
              <a:lnSpc>
                <a:spcPct val="100000"/>
              </a:lnSpc>
              <a:spcBef>
                <a:spcPts val="0"/>
              </a:spcBef>
              <a:spcAft>
                <a:spcPts val="0"/>
              </a:spcAft>
            </a:pPr>
            <a:r>
              <a:rPr sz="1200" b="0" i="0">
                <a:solidFill>
                  <a:srgbClr val="5C4C54"/>
                </a:solidFill>
                <a:latin typeface="Poppins"/>
                <a:ea typeface="Poppins"/>
                <a:cs typeface="Poppins"/>
              </a:rPr>
              <a:t>Yes. We use it. The blink is on their frame. Vendetta puts that fact on your charm.</a:t>
            </a:r>
          </a:p>
        </p:txBody>
      </p:sp>
      <p:sp>
        <p:nvSpPr>
          <p:cNvPr id="6" name="TextBox 5"/>
          <p:cNvSpPr txBox="1"/>
          <p:nvPr/>
        </p:nvSpPr>
        <p:spPr>
          <a:xfrm>
            <a:off x="384048" y="1307592"/>
            <a:ext cx="832104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Can you detect a hidden mic?</a:t>
            </a:r>
          </a:p>
        </p:txBody>
      </p:sp>
      <p:sp>
        <p:nvSpPr>
          <p:cNvPr id="7" name="TextBox 6"/>
          <p:cNvSpPr txBox="1"/>
          <p:nvPr/>
        </p:nvSpPr>
        <p:spPr>
          <a:xfrm>
            <a:off x="384048" y="1581912"/>
            <a:ext cx="8321040" cy="457200"/>
          </a:xfrm>
          <a:prstGeom prst="rect">
            <a:avLst/>
          </a:prstGeom>
          <a:noFill/>
        </p:spPr>
        <p:txBody>
          <a:bodyPr wrap="square" lIns="0" rIns="0" tIns="0" bIns="0" anchor="t"/>
          <a:lstStyle/>
          <a:p>
            <a:pPr algn="l">
              <a:lnSpc>
                <a:spcPct val="100000"/>
              </a:lnSpc>
              <a:spcBef>
                <a:spcPts val="0"/>
              </a:spcBef>
              <a:spcAft>
                <a:spcPts val="0"/>
              </a:spcAft>
            </a:pPr>
            <a:r>
              <a:rPr sz="1200" b="0" i="0">
                <a:solidFill>
                  <a:srgbClr val="5C4C54"/>
                </a:solidFill>
                <a:latin typeface="Poppins"/>
                <a:ea typeface="Poppins"/>
                <a:cs typeface="Poppins"/>
              </a:rPr>
              <a:t>No. Vendetta notices Meta glasses, and the capture blink those glasses publish.</a:t>
            </a:r>
          </a:p>
        </p:txBody>
      </p:sp>
      <p:sp>
        <p:nvSpPr>
          <p:cNvPr id="8" name="TextBox 7"/>
          <p:cNvSpPr txBox="1"/>
          <p:nvPr/>
        </p:nvSpPr>
        <p:spPr>
          <a:xfrm>
            <a:off x="384048" y="2176272"/>
            <a:ext cx="832104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Won't it buzz all class?</a:t>
            </a:r>
          </a:p>
        </p:txBody>
      </p:sp>
      <p:sp>
        <p:nvSpPr>
          <p:cNvPr id="9" name="TextBox 8"/>
          <p:cNvSpPr txBox="1"/>
          <p:nvPr/>
        </p:nvSpPr>
        <p:spPr>
          <a:xfrm>
            <a:off x="384048" y="2450591"/>
            <a:ext cx="8321040" cy="457200"/>
          </a:xfrm>
          <a:prstGeom prst="rect">
            <a:avLst/>
          </a:prstGeom>
          <a:noFill/>
        </p:spPr>
        <p:txBody>
          <a:bodyPr wrap="square" lIns="0" rIns="0" tIns="0" bIns="0" anchor="t"/>
          <a:lstStyle/>
          <a:p>
            <a:pPr algn="l">
              <a:lnSpc>
                <a:spcPct val="100000"/>
              </a:lnSpc>
              <a:spcBef>
                <a:spcPts val="0"/>
              </a:spcBef>
              <a:spcAft>
                <a:spcPts val="0"/>
              </a:spcAft>
            </a:pPr>
            <a:r>
              <a:rPr sz="1200" b="0" i="0">
                <a:solidFill>
                  <a:srgbClr val="5C4C54"/>
                </a:solidFill>
                <a:latin typeface="Poppins"/>
                <a:ea typeface="Poppins"/>
                <a:cs typeface="Poppins"/>
              </a:rPr>
              <a:t>Idle is one tap. The pulse stays only while the capture light is on.</a:t>
            </a:r>
          </a:p>
        </p:txBody>
      </p:sp>
      <p:sp>
        <p:nvSpPr>
          <p:cNvPr id="10" name="TextBox 9"/>
          <p:cNvSpPr txBox="1"/>
          <p:nvPr/>
        </p:nvSpPr>
        <p:spPr>
          <a:xfrm>
            <a:off x="384048" y="3044951"/>
            <a:ext cx="8321040" cy="256032"/>
          </a:xfrm>
          <a:prstGeom prst="rect">
            <a:avLst/>
          </a:prstGeom>
          <a:noFill/>
        </p:spPr>
        <p:txBody>
          <a:bodyPr wrap="square" lIns="0" rIns="0" tIns="0" bIns="0" anchor="t"/>
          <a:lstStyle/>
          <a:p>
            <a:pPr algn="l">
              <a:lnSpc>
                <a:spcPct val="100000"/>
              </a:lnSpc>
              <a:spcBef>
                <a:spcPts val="0"/>
              </a:spcBef>
              <a:spcAft>
                <a:spcPts val="0"/>
              </a:spcAft>
            </a:pPr>
            <a:r>
              <a:rPr sz="1300" b="1" i="0">
                <a:solidFill>
                  <a:srgbClr val="1C161A"/>
                </a:solidFill>
                <a:latin typeface="Poppins"/>
                <a:ea typeface="Poppins"/>
                <a:cs typeface="Poppins"/>
              </a:rPr>
              <a:t>Isn't the text a privacy problem?</a:t>
            </a:r>
          </a:p>
        </p:txBody>
      </p:sp>
      <p:sp>
        <p:nvSpPr>
          <p:cNvPr id="11" name="TextBox 10"/>
          <p:cNvSpPr txBox="1"/>
          <p:nvPr/>
        </p:nvSpPr>
        <p:spPr>
          <a:xfrm>
            <a:off x="384048" y="3319271"/>
            <a:ext cx="8321040" cy="457200"/>
          </a:xfrm>
          <a:prstGeom prst="rect">
            <a:avLst/>
          </a:prstGeom>
          <a:noFill/>
        </p:spPr>
        <p:txBody>
          <a:bodyPr wrap="square" lIns="0" rIns="0" tIns="0" bIns="0" anchor="t"/>
          <a:lstStyle/>
          <a:p>
            <a:pPr algn="l">
              <a:lnSpc>
                <a:spcPct val="100000"/>
              </a:lnSpc>
              <a:spcBef>
                <a:spcPts val="0"/>
              </a:spcBef>
              <a:spcAft>
                <a:spcPts val="0"/>
              </a:spcAft>
            </a:pPr>
            <a:r>
              <a:rPr sz="1200" b="0" i="0">
                <a:solidFill>
                  <a:srgbClr val="5C4C54"/>
                </a:solidFill>
                <a:latin typeface="Poppins"/>
                <a:ea typeface="Poppins"/>
                <a:cs typeface="Poppins"/>
              </a:rPr>
              <a:t>You write it. You opt in. It names nobody and attaches nothing. Buzz is the default.</a:t>
            </a:r>
          </a:p>
        </p:txBody>
      </p:sp>
      <p:sp>
        <p:nvSpPr>
          <p:cNvPr id="12" name="TextBox 11"/>
          <p:cNvSpPr txBox="1"/>
          <p:nvPr/>
        </p:nvSpPr>
        <p:spPr>
          <a:xfrm>
            <a:off x="384048" y="4828032"/>
            <a:ext cx="5029200" cy="219456"/>
          </a:xfrm>
          <a:prstGeom prst="rect">
            <a:avLst/>
          </a:prstGeom>
          <a:noFill/>
        </p:spPr>
        <p:txBody>
          <a:bodyPr wrap="square" lIns="0" rIns="0" tIns="0" bIns="0" anchor="t"/>
          <a:lstStyle/>
          <a:p>
            <a:pPr algn="l">
              <a:lnSpc>
                <a:spcPct val="100000"/>
              </a:lnSpc>
              <a:spcBef>
                <a:spcPts val="0"/>
              </a:spcBef>
              <a:spcAft>
                <a:spcPts val="0"/>
              </a:spcAft>
            </a:pPr>
            <a:r>
              <a:rPr sz="1000" b="1" i="0" spc="40">
                <a:solidFill>
                  <a:srgbClr val="5C4C54"/>
                </a:solidFill>
                <a:latin typeface="Poppins"/>
                <a:ea typeface="Poppins"/>
                <a:cs typeface="Poppins"/>
              </a:rPr>
              <a:t>Product vision  |  Pitch deck</a:t>
            </a:r>
          </a:p>
        </p:txBody>
      </p:sp>
      <p:sp>
        <p:nvSpPr>
          <p:cNvPr id="13" name="TextBox 12"/>
          <p:cNvSpPr txBox="1"/>
          <p:nvPr/>
        </p:nvSpPr>
        <p:spPr>
          <a:xfrm>
            <a:off x="7818120" y="4828032"/>
            <a:ext cx="960120" cy="219456"/>
          </a:xfrm>
          <a:prstGeom prst="rect">
            <a:avLst/>
          </a:prstGeom>
          <a:noFill/>
        </p:spPr>
        <p:txBody>
          <a:bodyPr wrap="square" lIns="0" rIns="0" tIns="0" bIns="0" anchor="t"/>
          <a:lstStyle/>
          <a:p>
            <a:pPr algn="r">
              <a:lnSpc>
                <a:spcPct val="100000"/>
              </a:lnSpc>
              <a:spcBef>
                <a:spcPts val="0"/>
              </a:spcBef>
              <a:spcAft>
                <a:spcPts val="0"/>
              </a:spcAft>
            </a:pPr>
            <a:r>
              <a:rPr sz="1000" b="1" i="0">
                <a:solidFill>
                  <a:srgbClr val="5C4C54"/>
                </a:solidFill>
                <a:latin typeface="Poppins"/>
                <a:ea typeface="Poppins"/>
                <a:cs typeface="Poppins"/>
              </a:rP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Vendetta — expanded pitch</dc:title>
  <dc:subject>Sumi exercise, then Vendetta, a charm that notices Meta glasses</dc:subject>
  <dc:creator>Livia Aschheim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