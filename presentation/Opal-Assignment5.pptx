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straight. Do not smile like a prank.</a:t>
            </a:r>
          </a:p>
          <a:p/>
          <a:p>
            <a:r>
              <a:t>"Quick change before we start. We dropped the old idea. This is Beside. A mental health connection app. We need five volunteers. Leave your stuff. Come outside for ten seconds."</a:t>
            </a:r>
          </a:p>
          <a:p/>
          <a:p>
            <a:r>
              <a:t>Pick five people who can keep a straight face. Tell the professor the day before: slides 1 through 7 are a staged feeling, and nobody records. If they say no, start on the Opal title.</a:t>
            </a:r>
          </a:p>
          <a:p/>
          <a:p>
            <a:r>
              <a:t>If the class never heard a prior product, drop "we changed our product" and say: "We want to start with a one-minute exercise. It's called Beside."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Volunteers are back in their seats. Phones face up, lock screen, untouched.</a:t>
            </a:r>
          </a:p>
          <a:p/>
          <a:p>
            <a:r>
              <a:t>"Beside is the conversation. Phones on the table. Face up is fine. Don't touch them."</a:t>
            </a:r>
          </a:p>
          <a:p/>
          <a:p>
            <a:r>
              <a:t>If someone will not put a phone down, let them. Do not collect phones.</a:t>
            </a:r>
          </a:p>
          <a:p/>
          <a:p>
            <a:r>
              <a:t>Say the easy version out loud: "How your week went is enough. You do not owe anyone an embarrassing story."</a:t>
            </a:r>
          </a:p>
          <a:p/>
          <a:p>
            <a:r>
              <a:t>Click to the prompt and start a 75-second timer. Stay at the front. Do not write down what anyone says.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Seventy-five seconds. If someone is actually distressed, end it: "That's a minute. Phones up, we're good." Then go to the clear slide and skip both black slides.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full second of silence. Then, flat: "The five people who stepped outside put their phones down so they could record."</a:t>
            </a:r>
          </a:p>
          <a:p/>
          <a:p>
            <a:r>
              <a:t>Look at the volunteers. Do not repeat anyone's story. If the room already feels bad, skip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breath. Do not add a joke. Do not point at a person. If anyone looks genuinely upset, click straight to the next slide.</a:t>
            </a:r>
          </a:p>
          <a:p/>
          <a:p>
            <a:r>
              <a:t>This slide is optional. Cut it if the first black slide already landed, or if the professor asked for a smaller scare.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before anything clever.</a:t>
            </a:r>
          </a:p>
          <a:p/>
          <a:p>
            <a:r>
              <a:t>"Nobody recorded you. I need you to see that before anything else. Phones up. Lock screens. There is no clip, no file, nothing to post."</a:t>
            </a:r>
          </a:p>
          <a:p/>
          <a:p>
            <a:r>
              <a:t>If a volunteer actually recorded, stop. Delete it in front of the room. Tell the professor. Do not continue the pitch that day.</a:t>
            </a:r>
          </a:p>
          <a:p/>
          <a:p>
            <a:r>
              <a:t>Do not ask anyone to repeat what they said.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told you to put the useful object down and act normal. You still would not have known. Whatever we build has to work while you are dressed as yourself, in that room. Beside was the exercise. Here is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we actually brought. Opal. It notices Meta glasses, and it looks like something you already put on."</a:t>
            </a:r>
          </a:p>
          <a:p/>
          <a:p>
            <a:r>
              <a:t>Hold up the prop here if you have one: a pin, a hair clip, or a bag charm. Cardboard is fine if it looks considered. A bare dev board is the old mistake.</a:t>
            </a:r>
          </a:p>
          <a:p/>
          <a:p>
            <a:r>
              <a:t>Fill in the three names before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design thesis. Do not sneer for long.</a:t>
            </a:r>
          </a:p>
          <a:p/>
          <a:p>
            <a:r>
              <a:t>"There is already a version of this idea. It is a keychain. It can do the job, and it looks like it can do the job. So it stays in a bag. An ugly detector at dinner is a statement. People decline the statement. Then the product is the same as not having one.</a:t>
            </a:r>
          </a:p>
          <a:p/>
          <a:p>
            <a:r>
              <a:t>Opal is the correction. The sensing is sealed inside a pin, a clip, or a charm. From across the table it is jewelry. The only signal is a tap, and only the person wearing it feels the tap."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sneer at Meta or at anyone who likes the glasses.</a:t>
            </a:r>
          </a:p>
          <a:p/>
          <a:p>
            <a:r>
              <a:t>"You can like them. We do. Opal does not ask anyone to take them off. It is for the other person at the table."</a:t>
            </a:r>
          </a:p>
          <a:p/>
          <a:p>
            <a:r>
              <a:t>If someone says "they already have an LED," answer: "Yes. Next slide. We use that light. We do not pretend it isn't there."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This room will punish a fake claim.</a:t>
            </a:r>
          </a:p>
          <a:p/>
          <a:p>
            <a:r>
              <a:t>"Two different facts. First: a pair of Meta glasses is nearby. They already broadcast over Bluetooth while they are powered. Ordinary glasses do not. Opal listens for that family, at the distance of a conversation. We do not store a name, and we do not follow anyone out of the room.</a:t>
            </a:r>
          </a:p>
          <a:p/>
          <a:p>
            <a:r>
              <a:t>Second: they are capturing. Meta's own capture LED blinks for a photo and stays on through a video. The sensor is behind the face of the pin, looking at the room. When it sees that blink, the tap changes. One soft tap means the glasses arrived. A longer pulse means the light is on. The pulse stops when the blink stops.</a:t>
            </a:r>
          </a:p>
          <a:p/>
          <a:p>
            <a:r>
              <a:t>If every pair in this room buzzed for the whole class, the product would be unbearable. Idle glasses get one tap. Capturing is the signal that stays."</a:t>
            </a:r>
          </a:p>
          <a:p/>
          <a:p>
            <a:r>
              <a:t>Do not quote protocol bytes, radio identifiers, or a method for covering the LED. If asked how the radio is recognized: "The glasses already announce themselves. We match that family. The report will cite Meta's privacy page for the light, and describe the radio match at the level of a product, not a teardown."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"隐蔽" in the brief means the object disappears into what you already wear. Say it in those words, not as a spy gadget.</a:t>
            </a:r>
          </a:p>
          <a:p/>
          <a:p>
            <a:r>
              <a:t>"We do not want a thing you have to hide in your hand. We want a thing nobody reads as a device. The concealment is the finish. Pin, clip, charm. The information stays on your body, because announcing it to the whole table would be the keychain with better manners."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each one.</a:t>
            </a:r>
          </a:p>
          <a:p/>
          <a:p>
            <a:r>
              <a:t>"The pin is the clearest. The clip is the one you forget you are wearing, which is the highest compliment we can pay it. The charm is the callback: the phone was on the table and could not help. A charm on the bag is already out, and it does not look like equipment."</a:t>
            </a:r>
          </a:p>
          <a:p/>
          <a:p>
            <a:r>
              <a:t>If you only bring one prop, bring the pin. It reads in the back 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 fails the demo. A keychain fails the outfit. Opal has to survive both tests: you are not looking at a screen, and you are willing to be seen wearing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with two knocks on the table if you have no hardware. One knock. Then a slow pair. Say which is which.</a:t>
            </a:r>
          </a:p>
          <a:p/>
          <a:p>
            <a:r>
              <a:t>"If we only detected the glasses, this class would hate it by minute three. Half of you would be wearing them. Presence is a courtesy tap. Recording is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them. They are the product.</a:t>
            </a:r>
          </a:p>
          <a:p/>
          <a:p>
            <a:r>
              <a:t>"If Opal ever tells you a classmate's name, we built the wrong thing. A decoration that accuses people is worse than the ugly keychain."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this slowly. It is how you win the room.</a:t>
            </a:r>
          </a:p>
          <a:p/>
          <a:p>
            <a:r>
              <a:t>"If you wear them, you already accepted a light. We are not adding a lecture. We are letting the person across from you feel the blink without staring at your temple. And if you want that same tap when someone else is wearing a pair, Opal is a pin. It looks like a pin on you, too."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Thursday is the slide that answers "won't this buzz all day in a room that loves these glasses?" Say that sentence out loud.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01 and 04.</a:t>
            </a:r>
          </a:p>
          <a:p/>
          <a:p>
            <a:r>
              <a:t>"The last product failed because it was ugly. If Opal is also ugly, we have learned nothing. And today is a feeling, not evidence. After class, one unsigned question: do you want this tap, or did we only startle you? If the answer is the second, the report says so."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this before they ask. If the room is still annoyed about the exercise, stay 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Do not recap the whole deck.</a:t>
            </a:r>
          </a:p>
          <a:p/>
          <a:p>
            <a:r>
              <a:t>"You already felt the second. Opal is that second, on something you will actually wear. Questions."</a:t>
            </a:r>
          </a:p>
          <a:p/>
          <a:p>
            <a:r>
              <a:t>Then be quiet.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sharing the screen here.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on time: Beside through Clear, then the keychain slide, what Opal notices, and the three ornaments.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 this onto the phone of whoever walks them out, so it is not on the projector. Add: if one of you hits record as a joke, we stop and delete it in front of everyone.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forget everything else: the clear line, and the limit line.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volunteer who actually recorded is a hard stop.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session: May 11, 2026, 10 points.</a:t>
            </a:r>
          </a:p>
          <a:p>
            <a:r>
              <a:t>Written report: Sunday, May 17, 2026, 15 points.</a:t>
            </a:r>
          </a:p>
          <a:p>
            <a:r>
              <a:t>The upload box also says Friday by 5:10pm, 10 points, file upload. Confirm which Friday, and which file, on the course page.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opens and runs the hallway. B owns both black slides and the clear slide. C takes Opal through the close.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rehearses the clear line until it sounds like relief.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if you need them:</a:t>
            </a:r>
          </a:p>
          <a:p/>
          <a:p>
            <a:r>
              <a:t>What about glasses behind me? The blink sensor faces forward with the pin. Bluetooth can still say a pair is near. We say which one fired.</a:t>
            </a:r>
          </a:p>
          <a:p/>
          <a:p>
            <a:r>
              <a:t>Are you tracking people? No. We do not keep an identifier after they leave conversation distance. The tap is the whole output.</a:t>
            </a:r>
          </a:p>
          <a:p/>
          <a:p>
            <a:r>
              <a:t>What if someone covers the LED? Meta says the camera is supposed to stop. We do not help anyone cover it, and we do not claim to see through tape.</a:t>
            </a:r>
          </a:p>
          <a:p/>
          <a:p>
            <a:r>
              <a:t>Ordinary eyeglasses? No radio, no capture LED, no tap.</a:t>
            </a:r>
          </a:p>
          <a:p/>
          <a:p>
            <a:r>
              <a:t>Cost? No parts list yet. A price before that is fiction.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claim is narrower than Meta's. The LED is real. It helps the person who is looking at the frame. Opal notices the glasses by the Bluetooth they already speak, and notices capture by that published blink. We are not describing how to tamper with the light.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234440"/>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A SMALL CHANGE OF PLAN</a:t>
            </a:r>
          </a:p>
        </p:txBody>
      </p:sp>
      <p:sp>
        <p:nvSpPr>
          <p:cNvPr id="4" name="TextBox 3"/>
          <p:cNvSpPr txBox="1"/>
          <p:nvPr/>
        </p:nvSpPr>
        <p:spPr>
          <a:xfrm>
            <a:off x="685800" y="1600200"/>
            <a:ext cx="9144000" cy="1234440"/>
          </a:xfrm>
          <a:prstGeom prst="rect">
            <a:avLst/>
          </a:prstGeom>
          <a:noFill/>
        </p:spPr>
        <p:txBody>
          <a:bodyPr wrap="square" lIns="0" rIns="0" tIns="0" bIns="0" anchor="t"/>
          <a:lstStyle/>
          <a:p>
            <a:pPr algn="l">
              <a:lnSpc>
                <a:spcPct val="90000"/>
              </a:lnSpc>
              <a:spcBef>
                <a:spcPts val="0"/>
              </a:spcBef>
              <a:spcAft>
                <a:spcPts val="0"/>
              </a:spcAft>
            </a:pPr>
            <a:r>
              <a:rPr sz="8400" b="1" i="0">
                <a:solidFill>
                  <a:srgbClr val="161412"/>
                </a:solidFill>
                <a:latin typeface="Arial"/>
                <a:ea typeface="Arial"/>
                <a:cs typeface="Arial"/>
              </a:rPr>
              <a:t>Beside</a:t>
            </a:r>
          </a:p>
        </p:txBody>
      </p:sp>
      <p:sp>
        <p:nvSpPr>
          <p:cNvPr id="5" name="Rectangle 4"/>
          <p:cNvSpPr/>
          <p:nvPr/>
        </p:nvSpPr>
        <p:spPr>
          <a:xfrm>
            <a:off x="731520" y="2971800"/>
            <a:ext cx="1920240" cy="44450"/>
          </a:xfrm>
          <a:prstGeom prst="rect">
            <a:avLst/>
          </a:prstGeom>
          <a:solidFill>
            <a:srgbClr val="C44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3200400"/>
            <a:ext cx="9144000" cy="548640"/>
          </a:xfrm>
          <a:prstGeom prst="rect">
            <a:avLst/>
          </a:prstGeom>
          <a:noFill/>
        </p:spPr>
        <p:txBody>
          <a:bodyPr wrap="square" lIns="0" rIns="0" tIns="0" bIns="0" anchor="t"/>
          <a:lstStyle/>
          <a:p>
            <a:pPr algn="l">
              <a:lnSpc>
                <a:spcPct val="100000"/>
              </a:lnSpc>
              <a:spcBef>
                <a:spcPts val="0"/>
              </a:spcBef>
              <a:spcAft>
                <a:spcPts val="0"/>
              </a:spcAft>
            </a:pPr>
            <a:r>
              <a:rPr sz="3200" b="1" i="0">
                <a:solidFill>
                  <a:srgbClr val="161412"/>
                </a:solidFill>
                <a:latin typeface="Arial"/>
                <a:ea typeface="Arial"/>
                <a:cs typeface="Arial"/>
              </a:rPr>
              <a:t>We changed our product.</a:t>
            </a:r>
          </a:p>
        </p:txBody>
      </p:sp>
      <p:sp>
        <p:nvSpPr>
          <p:cNvPr id="7" name="TextBox 6"/>
          <p:cNvSpPr txBox="1"/>
          <p:nvPr/>
        </p:nvSpPr>
        <p:spPr>
          <a:xfrm>
            <a:off x="713232" y="3840480"/>
            <a:ext cx="9144000" cy="457200"/>
          </a:xfrm>
          <a:prstGeom prst="rect">
            <a:avLst/>
          </a:prstGeom>
          <a:noFill/>
        </p:spPr>
        <p:txBody>
          <a:bodyPr wrap="square" lIns="0" rIns="0" tIns="0" bIns="0" anchor="t"/>
          <a:lstStyle/>
          <a:p>
            <a:pPr algn="l">
              <a:lnSpc>
                <a:spcPct val="100000"/>
              </a:lnSpc>
              <a:spcBef>
                <a:spcPts val="0"/>
              </a:spcBef>
              <a:spcAft>
                <a:spcPts val="0"/>
              </a:spcAft>
            </a:pPr>
            <a:r>
              <a:rPr sz="2400" b="0" i="0">
                <a:solidFill>
                  <a:srgbClr val="6F685E"/>
                </a:solidFill>
                <a:latin typeface="Arial"/>
                <a:ea typeface="Arial"/>
                <a:cs typeface="Arial"/>
              </a:rPr>
              <a:t>A mental health connection app.</a:t>
            </a:r>
          </a:p>
        </p:txBody>
      </p:sp>
      <p:sp>
        <p:nvSpPr>
          <p:cNvPr id="8" name="TextBox 7"/>
          <p:cNvSpPr txBox="1"/>
          <p:nvPr/>
        </p:nvSpPr>
        <p:spPr>
          <a:xfrm>
            <a:off x="713232" y="5806440"/>
            <a:ext cx="9144000" cy="36576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161412"/>
                </a:solidFill>
                <a:latin typeface="Arial"/>
                <a:ea typeface="Arial"/>
                <a:cs typeface="Arial"/>
              </a:rPr>
              <a:t>Five volunteers. Step outside with us for a moment.</a:t>
            </a:r>
          </a:p>
        </p:txBody>
      </p:sp>
      <p:sp>
        <p:nvSpPr>
          <p:cNvPr id="9" name="TextBox 8"/>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BESIDE</a:t>
            </a:r>
          </a:p>
        </p:txBody>
      </p:sp>
      <p:sp>
        <p:nvSpPr>
          <p:cNvPr id="4" name="TextBox 3"/>
          <p:cNvSpPr txBox="1"/>
          <p:nvPr/>
        </p:nvSpPr>
        <p:spPr>
          <a:xfrm>
            <a:off x="685800" y="960120"/>
            <a:ext cx="10972800" cy="822960"/>
          </a:xfrm>
          <a:prstGeom prst="rect">
            <a:avLst/>
          </a:prstGeom>
          <a:noFill/>
        </p:spPr>
        <p:txBody>
          <a:bodyPr wrap="square" lIns="0" rIns="0" tIns="0" bIns="0" anchor="t"/>
          <a:lstStyle/>
          <a:p>
            <a:pPr algn="l">
              <a:lnSpc>
                <a:spcPct val="100000"/>
              </a:lnSpc>
              <a:spcBef>
                <a:spcPts val="0"/>
              </a:spcBef>
              <a:spcAft>
                <a:spcPts val="0"/>
              </a:spcAft>
            </a:pPr>
            <a:r>
              <a:rPr sz="6000" b="1" i="0">
                <a:solidFill>
                  <a:srgbClr val="161412"/>
                </a:solidFill>
                <a:latin typeface="Arial"/>
                <a:ea typeface="Arial"/>
                <a:cs typeface="Arial"/>
              </a:rPr>
              <a:t>Phones down.</a:t>
            </a:r>
          </a:p>
        </p:txBody>
      </p:sp>
      <p:sp>
        <p:nvSpPr>
          <p:cNvPr id="5" name="TextBox 4"/>
          <p:cNvSpPr txBox="1"/>
          <p:nvPr/>
        </p:nvSpPr>
        <p:spPr>
          <a:xfrm>
            <a:off x="713232" y="1965960"/>
            <a:ext cx="10058400" cy="1051560"/>
          </a:xfrm>
          <a:prstGeom prst="rect">
            <a:avLst/>
          </a:prstGeom>
          <a:noFill/>
        </p:spPr>
        <p:txBody>
          <a:bodyPr wrap="square" lIns="0" rIns="0" tIns="0" bIns="0" anchor="t"/>
          <a:lstStyle/>
          <a:p>
            <a:pPr algn="l">
              <a:lnSpc>
                <a:spcPct val="105000"/>
              </a:lnSpc>
              <a:spcBef>
                <a:spcPts val="0"/>
              </a:spcBef>
              <a:spcAft>
                <a:spcPts val="0"/>
              </a:spcAft>
            </a:pPr>
            <a:r>
              <a:rPr sz="2800" b="0" i="0">
                <a:solidFill>
                  <a:srgbClr val="161412"/>
                </a:solidFill>
                <a:latin typeface="Arial"/>
                <a:ea typeface="Arial"/>
                <a:cs typeface="Arial"/>
              </a:rPr>
              <a:t>Groups of two or three. One minute.</a:t>
            </a:r>
          </a:p>
          <a:p>
            <a:pPr algn="l">
              <a:lnSpc>
                <a:spcPct val="105000"/>
              </a:lnSpc>
              <a:spcBef>
                <a:spcPts val="0"/>
              </a:spcBef>
              <a:spcAft>
                <a:spcPts val="0"/>
              </a:spcAft>
            </a:pPr>
            <a:r>
              <a:rPr sz="2800" b="0" i="0">
                <a:solidFill>
                  <a:srgbClr val="161412"/>
                </a:solidFill>
                <a:latin typeface="Arial"/>
                <a:ea typeface="Arial"/>
                <a:cs typeface="Arial"/>
              </a:rPr>
              <a:t>Talk to the people next to you.</a:t>
            </a:r>
          </a:p>
        </p:txBody>
      </p:sp>
      <p:sp>
        <p:nvSpPr>
          <p:cNvPr id="6" name="Rectangle 5"/>
          <p:cNvSpPr/>
          <p:nvPr/>
        </p:nvSpPr>
        <p:spPr>
          <a:xfrm>
            <a:off x="731520" y="3246120"/>
            <a:ext cx="10698480" cy="15875"/>
          </a:xfrm>
          <a:prstGeom prst="rect">
            <a:avLst/>
          </a:prstGeom>
          <a:solidFill>
            <a:srgbClr val="E0D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3520440"/>
            <a:ext cx="914400" cy="36576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C4492C"/>
                </a:solidFill>
                <a:latin typeface="Arial"/>
                <a:ea typeface="Arial"/>
                <a:cs typeface="Arial"/>
              </a:rPr>
              <a:t>01</a:t>
            </a:r>
          </a:p>
        </p:txBody>
      </p:sp>
      <p:sp>
        <p:nvSpPr>
          <p:cNvPr id="8" name="TextBox 7"/>
          <p:cNvSpPr txBox="1"/>
          <p:nvPr/>
        </p:nvSpPr>
        <p:spPr>
          <a:xfrm>
            <a:off x="1737360" y="3493008"/>
            <a:ext cx="8686800" cy="41148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Something from this week you would not post.</a:t>
            </a:r>
          </a:p>
        </p:txBody>
      </p:sp>
      <p:sp>
        <p:nvSpPr>
          <p:cNvPr id="9" name="TextBox 8"/>
          <p:cNvSpPr txBox="1"/>
          <p:nvPr/>
        </p:nvSpPr>
        <p:spPr>
          <a:xfrm>
            <a:off x="713232" y="4160520"/>
            <a:ext cx="914400" cy="36576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C4492C"/>
                </a:solidFill>
                <a:latin typeface="Arial"/>
                <a:ea typeface="Arial"/>
                <a:cs typeface="Arial"/>
              </a:rPr>
              <a:t>02</a:t>
            </a:r>
          </a:p>
        </p:txBody>
      </p:sp>
      <p:sp>
        <p:nvSpPr>
          <p:cNvPr id="10" name="TextBox 9"/>
          <p:cNvSpPr txBox="1"/>
          <p:nvPr/>
        </p:nvSpPr>
        <p:spPr>
          <a:xfrm>
            <a:off x="1737360" y="4133087"/>
            <a:ext cx="8686800" cy="41148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An embarrassing thing, or just how the week went.</a:t>
            </a:r>
          </a:p>
        </p:txBody>
      </p:sp>
      <p:sp>
        <p:nvSpPr>
          <p:cNvPr id="11" name="TextBox 10"/>
          <p:cNvSpPr txBox="1"/>
          <p:nvPr/>
        </p:nvSpPr>
        <p:spPr>
          <a:xfrm>
            <a:off x="713232" y="4800600"/>
            <a:ext cx="914400" cy="36576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C4492C"/>
                </a:solidFill>
                <a:latin typeface="Arial"/>
                <a:ea typeface="Arial"/>
                <a:cs typeface="Arial"/>
              </a:rPr>
              <a:t>03</a:t>
            </a:r>
          </a:p>
        </p:txBody>
      </p:sp>
      <p:sp>
        <p:nvSpPr>
          <p:cNvPr id="12" name="TextBox 11"/>
          <p:cNvSpPr txBox="1"/>
          <p:nvPr/>
        </p:nvSpPr>
        <p:spPr>
          <a:xfrm>
            <a:off x="1737360" y="4773168"/>
            <a:ext cx="8686800" cy="41148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We'll tell you when to stop. Ordinary is fine.</a:t>
            </a:r>
          </a:p>
        </p:txBody>
      </p:sp>
      <p:sp>
        <p:nvSpPr>
          <p:cNvPr id="13" name="TextBox 12"/>
          <p:cNvSpPr txBox="1"/>
          <p:nvPr/>
        </p:nvSpPr>
        <p:spPr>
          <a:xfrm>
            <a:off x="713232" y="5806440"/>
            <a:ext cx="9144000" cy="365760"/>
          </a:xfrm>
          <a:prstGeom prst="rect">
            <a:avLst/>
          </a:prstGeom>
          <a:noFill/>
        </p:spPr>
        <p:txBody>
          <a:bodyPr wrap="square" lIns="0" rIns="0" tIns="0" bIns="0" anchor="t"/>
          <a:lstStyle/>
          <a:p>
            <a:pPr algn="l">
              <a:lnSpc>
                <a:spcPct val="100000"/>
              </a:lnSpc>
              <a:spcBef>
                <a:spcPts val="0"/>
              </a:spcBef>
              <a:spcAft>
                <a:spcPts val="0"/>
              </a:spcAft>
            </a:pPr>
            <a:r>
              <a:rPr sz="1800" b="0" i="1">
                <a:solidFill>
                  <a:srgbClr val="6F685E"/>
                </a:solidFill>
                <a:latin typeface="Arial"/>
                <a:ea typeface="Arial"/>
                <a:cs typeface="Arial"/>
              </a:rPr>
              <a:t>Don't perform it. Actually say it.</a:t>
            </a:r>
          </a:p>
        </p:txBody>
      </p:sp>
      <p:sp>
        <p:nvSpPr>
          <p:cNvPr id="14" name="TextBox 13"/>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691640"/>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SIXTY SECONDS</a:t>
            </a:r>
          </a:p>
        </p:txBody>
      </p:sp>
      <p:sp>
        <p:nvSpPr>
          <p:cNvPr id="4" name="TextBox 3"/>
          <p:cNvSpPr txBox="1"/>
          <p:nvPr/>
        </p:nvSpPr>
        <p:spPr>
          <a:xfrm>
            <a:off x="685800" y="2103120"/>
            <a:ext cx="10972800" cy="2194560"/>
          </a:xfrm>
          <a:prstGeom prst="rect">
            <a:avLst/>
          </a:prstGeom>
          <a:noFill/>
        </p:spPr>
        <p:txBody>
          <a:bodyPr wrap="square" lIns="0" rIns="0" tIns="0" bIns="0" anchor="t"/>
          <a:lstStyle/>
          <a:p>
            <a:pPr algn="l">
              <a:lnSpc>
                <a:spcPct val="98000"/>
              </a:lnSpc>
              <a:spcBef>
                <a:spcPts val="0"/>
              </a:spcBef>
              <a:spcAft>
                <a:spcPts val="0"/>
              </a:spcAft>
            </a:pPr>
            <a:r>
              <a:rPr sz="4800" b="1" i="0">
                <a:solidFill>
                  <a:srgbClr val="161412"/>
                </a:solidFill>
                <a:latin typeface="Arial"/>
                <a:ea typeface="Arial"/>
                <a:cs typeface="Arial"/>
              </a:rPr>
              <a:t>Something from this week</a:t>
            </a:r>
          </a:p>
          <a:p>
            <a:pPr algn="l">
              <a:lnSpc>
                <a:spcPct val="98000"/>
              </a:lnSpc>
              <a:spcBef>
                <a:spcPts val="0"/>
              </a:spcBef>
              <a:spcAft>
                <a:spcPts val="0"/>
              </a:spcAft>
            </a:pPr>
            <a:r>
              <a:rPr sz="4800" b="1" i="0">
                <a:solidFill>
                  <a:srgbClr val="161412"/>
                </a:solidFill>
                <a:latin typeface="Arial"/>
                <a:ea typeface="Arial"/>
                <a:cs typeface="Arial"/>
              </a:rPr>
              <a:t>you would not post.</a:t>
            </a:r>
          </a:p>
        </p:txBody>
      </p:sp>
      <p:sp>
        <p:nvSpPr>
          <p:cNvPr id="5" name="TextBox 4"/>
          <p:cNvSpPr txBox="1"/>
          <p:nvPr/>
        </p:nvSpPr>
        <p:spPr>
          <a:xfrm>
            <a:off x="713232" y="5029200"/>
            <a:ext cx="7315200" cy="365760"/>
          </a:xfrm>
          <a:prstGeom prst="rect">
            <a:avLst/>
          </a:prstGeom>
          <a:noFill/>
        </p:spPr>
        <p:txBody>
          <a:bodyPr wrap="square" lIns="0" rIns="0" tIns="0" bIns="0" anchor="t"/>
          <a:lstStyle/>
          <a:p>
            <a:pPr algn="l">
              <a:lnSpc>
                <a:spcPct val="100000"/>
              </a:lnSpc>
              <a:spcBef>
                <a:spcPts val="0"/>
              </a:spcBef>
              <a:spcAft>
                <a:spcPts val="0"/>
              </a:spcAft>
            </a:pPr>
            <a:r>
              <a:rPr sz="2000" b="0" i="0">
                <a:solidFill>
                  <a:srgbClr val="6F685E"/>
                </a:solidFill>
                <a:latin typeface="Arial"/>
                <a:ea typeface="Arial"/>
                <a:cs typeface="Arial"/>
              </a:rPr>
              <a:t>Then we move on.</a:t>
            </a:r>
          </a:p>
        </p:txBody>
      </p:sp>
      <p:sp>
        <p:nvSpPr>
          <p:cNvPr id="6" name="TextBox 5"/>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E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737360"/>
            <a:ext cx="9144000" cy="274320"/>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E39B12"/>
                </a:solidFill>
                <a:latin typeface="Arial"/>
                <a:ea typeface="Arial"/>
                <a:cs typeface="Arial"/>
              </a:rPr>
              <a:t>BEFORE WE GO ON</a:t>
            </a:r>
          </a:p>
        </p:txBody>
      </p:sp>
      <p:sp>
        <p:nvSpPr>
          <p:cNvPr id="4" name="TextBox 3"/>
          <p:cNvSpPr txBox="1"/>
          <p:nvPr/>
        </p:nvSpPr>
        <p:spPr>
          <a:xfrm>
            <a:off x="685800" y="2148840"/>
            <a:ext cx="10972800" cy="2286000"/>
          </a:xfrm>
          <a:prstGeom prst="rect">
            <a:avLst/>
          </a:prstGeom>
          <a:noFill/>
        </p:spPr>
        <p:txBody>
          <a:bodyPr wrap="square" lIns="0" rIns="0" tIns="0" bIns="0" anchor="t"/>
          <a:lstStyle/>
          <a:p>
            <a:pPr algn="l">
              <a:lnSpc>
                <a:spcPct val="95000"/>
              </a:lnSpc>
              <a:spcBef>
                <a:spcPts val="0"/>
              </a:spcBef>
              <a:spcAft>
                <a:spcPts val="0"/>
              </a:spcAft>
            </a:pPr>
            <a:r>
              <a:rPr sz="6000" b="1" i="0">
                <a:solidFill>
                  <a:srgbClr val="F6F1E8"/>
                </a:solidFill>
                <a:latin typeface="Arial"/>
                <a:ea typeface="Arial"/>
                <a:cs typeface="Arial"/>
              </a:rPr>
              <a:t>The volunteers</a:t>
            </a:r>
          </a:p>
          <a:p>
            <a:pPr algn="l">
              <a:lnSpc>
                <a:spcPct val="95000"/>
              </a:lnSpc>
              <a:spcBef>
                <a:spcPts val="0"/>
              </a:spcBef>
              <a:spcAft>
                <a:spcPts val="0"/>
              </a:spcAft>
            </a:pPr>
            <a:r>
              <a:rPr sz="6000" b="1" i="0">
                <a:solidFill>
                  <a:srgbClr val="F6F1E8"/>
                </a:solidFill>
                <a:latin typeface="Arial"/>
                <a:ea typeface="Arial"/>
                <a:cs typeface="Arial"/>
              </a:rPr>
              <a:t>were recording you.</a:t>
            </a:r>
          </a:p>
        </p:txBody>
      </p:sp>
      <p:sp>
        <p:nvSpPr>
          <p:cNvPr id="5" name="TextBox 4"/>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5C5852"/>
                </a:solidFill>
                <a:latin typeface="Arial"/>
                <a:ea typeface="Arial"/>
                <a:cs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E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737360"/>
            <a:ext cx="9144000" cy="274320"/>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E39B12"/>
                </a:solidFill>
                <a:latin typeface="Arial"/>
                <a:ea typeface="Arial"/>
                <a:cs typeface="Arial"/>
              </a:rPr>
              <a:t>ONE MORE THING</a:t>
            </a:r>
          </a:p>
        </p:txBody>
      </p:sp>
      <p:sp>
        <p:nvSpPr>
          <p:cNvPr id="4" name="TextBox 3"/>
          <p:cNvSpPr txBox="1"/>
          <p:nvPr/>
        </p:nvSpPr>
        <p:spPr>
          <a:xfrm>
            <a:off x="685800" y="2148840"/>
            <a:ext cx="10972800" cy="2286000"/>
          </a:xfrm>
          <a:prstGeom prst="rect">
            <a:avLst/>
          </a:prstGeom>
          <a:noFill/>
        </p:spPr>
        <p:txBody>
          <a:bodyPr wrap="square" lIns="0" rIns="0" tIns="0" bIns="0" anchor="t"/>
          <a:lstStyle/>
          <a:p>
            <a:pPr algn="l">
              <a:lnSpc>
                <a:spcPct val="95000"/>
              </a:lnSpc>
              <a:spcBef>
                <a:spcPts val="0"/>
              </a:spcBef>
              <a:spcAft>
                <a:spcPts val="0"/>
              </a:spcAft>
            </a:pPr>
            <a:r>
              <a:rPr sz="6400" b="1" i="0">
                <a:solidFill>
                  <a:srgbClr val="F6F1E8"/>
                </a:solidFill>
                <a:latin typeface="Arial"/>
                <a:ea typeface="Arial"/>
                <a:cs typeface="Arial"/>
              </a:rPr>
              <a:t>We might post</a:t>
            </a:r>
          </a:p>
          <a:p>
            <a:pPr algn="l">
              <a:lnSpc>
                <a:spcPct val="95000"/>
              </a:lnSpc>
              <a:spcBef>
                <a:spcPts val="0"/>
              </a:spcBef>
              <a:spcAft>
                <a:spcPts val="0"/>
              </a:spcAft>
            </a:pPr>
            <a:r>
              <a:rPr sz="6400" b="1" i="0">
                <a:solidFill>
                  <a:srgbClr val="F6F1E8"/>
                </a:solidFill>
                <a:latin typeface="Arial"/>
                <a:ea typeface="Arial"/>
                <a:cs typeface="Arial"/>
              </a:rPr>
              <a:t>the clips.</a:t>
            </a:r>
          </a:p>
        </p:txBody>
      </p:sp>
      <p:sp>
        <p:nvSpPr>
          <p:cNvPr id="5" name="TextBox 4"/>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5C5852"/>
                </a:solidFill>
                <a:latin typeface="Arial"/>
                <a:ea typeface="Arial"/>
                <a:cs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051560"/>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1C6844"/>
                </a:solidFill>
                <a:latin typeface="Arial"/>
                <a:ea typeface="Arial"/>
                <a:cs typeface="Arial"/>
              </a:rPr>
              <a:t>CLEAR</a:t>
            </a:r>
          </a:p>
        </p:txBody>
      </p:sp>
      <p:sp>
        <p:nvSpPr>
          <p:cNvPr id="4" name="TextBox 3"/>
          <p:cNvSpPr txBox="1"/>
          <p:nvPr/>
        </p:nvSpPr>
        <p:spPr>
          <a:xfrm>
            <a:off x="685800" y="1463040"/>
            <a:ext cx="10972800" cy="685800"/>
          </a:xfrm>
          <a:prstGeom prst="rect">
            <a:avLst/>
          </a:prstGeom>
          <a:noFill/>
        </p:spPr>
        <p:txBody>
          <a:bodyPr wrap="square" lIns="0" rIns="0" tIns="0" bIns="0" anchor="t"/>
          <a:lstStyle/>
          <a:p>
            <a:pPr algn="l">
              <a:lnSpc>
                <a:spcPct val="100000"/>
              </a:lnSpc>
              <a:spcBef>
                <a:spcPts val="0"/>
              </a:spcBef>
              <a:spcAft>
                <a:spcPts val="0"/>
              </a:spcAft>
            </a:pPr>
            <a:r>
              <a:rPr sz="4400" b="1" i="0">
                <a:solidFill>
                  <a:srgbClr val="161412"/>
                </a:solidFill>
                <a:latin typeface="Arial"/>
                <a:ea typeface="Arial"/>
                <a:cs typeface="Arial"/>
              </a:rPr>
              <a:t>Nobody recorded you.</a:t>
            </a:r>
          </a:p>
        </p:txBody>
      </p:sp>
      <p:sp>
        <p:nvSpPr>
          <p:cNvPr id="5" name="TextBox 4"/>
          <p:cNvSpPr txBox="1"/>
          <p:nvPr/>
        </p:nvSpPr>
        <p:spPr>
          <a:xfrm>
            <a:off x="685800" y="2194560"/>
            <a:ext cx="10972800" cy="640080"/>
          </a:xfrm>
          <a:prstGeom prst="rect">
            <a:avLst/>
          </a:prstGeom>
          <a:noFill/>
        </p:spPr>
        <p:txBody>
          <a:bodyPr wrap="square" lIns="0" rIns="0" tIns="0" bIns="0" anchor="t"/>
          <a:lstStyle/>
          <a:p>
            <a:pPr algn="l">
              <a:lnSpc>
                <a:spcPct val="100000"/>
              </a:lnSpc>
              <a:spcBef>
                <a:spcPts val="0"/>
              </a:spcBef>
              <a:spcAft>
                <a:spcPts val="0"/>
              </a:spcAft>
            </a:pPr>
            <a:r>
              <a:rPr sz="4400" b="1" i="0">
                <a:solidFill>
                  <a:srgbClr val="161412"/>
                </a:solidFill>
                <a:latin typeface="Arial"/>
                <a:ea typeface="Arial"/>
                <a:cs typeface="Arial"/>
              </a:rPr>
              <a:t>Nothing was posted.</a:t>
            </a:r>
          </a:p>
        </p:txBody>
      </p:sp>
      <p:sp>
        <p:nvSpPr>
          <p:cNvPr id="6" name="TextBox 5"/>
          <p:cNvSpPr txBox="1"/>
          <p:nvPr/>
        </p:nvSpPr>
        <p:spPr>
          <a:xfrm>
            <a:off x="685800" y="2926080"/>
            <a:ext cx="10972800" cy="640080"/>
          </a:xfrm>
          <a:prstGeom prst="rect">
            <a:avLst/>
          </a:prstGeom>
          <a:noFill/>
        </p:spPr>
        <p:txBody>
          <a:bodyPr wrap="square" lIns="0" rIns="0" tIns="0" bIns="0" anchor="t"/>
          <a:lstStyle/>
          <a:p>
            <a:pPr algn="l">
              <a:lnSpc>
                <a:spcPct val="100000"/>
              </a:lnSpc>
              <a:spcBef>
                <a:spcPts val="0"/>
              </a:spcBef>
              <a:spcAft>
                <a:spcPts val="0"/>
              </a:spcAft>
            </a:pPr>
            <a:r>
              <a:rPr sz="4400" b="1" i="0">
                <a:solidFill>
                  <a:srgbClr val="161412"/>
                </a:solidFill>
                <a:latin typeface="Arial"/>
                <a:ea typeface="Arial"/>
                <a:cs typeface="Arial"/>
              </a:rPr>
              <a:t>Nothing exists.</a:t>
            </a:r>
          </a:p>
        </p:txBody>
      </p:sp>
      <p:sp>
        <p:nvSpPr>
          <p:cNvPr id="7" name="Rounded Rectangle 6"/>
          <p:cNvSpPr/>
          <p:nvPr/>
        </p:nvSpPr>
        <p:spPr>
          <a:xfrm>
            <a:off x="713232" y="4297680"/>
            <a:ext cx="7863840" cy="1051560"/>
          </a:xfrm>
          <a:prstGeom prst="roundRect">
            <a:avLst>
              <a:gd name="adj" fmla="val 10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434840"/>
            <a:ext cx="7406640" cy="36576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Phones up. Lock screen. Camera closed.</a:t>
            </a:r>
          </a:p>
        </p:txBody>
      </p:sp>
      <p:sp>
        <p:nvSpPr>
          <p:cNvPr id="9" name="TextBox 8"/>
          <p:cNvSpPr txBox="1"/>
          <p:nvPr/>
        </p:nvSpPr>
        <p:spPr>
          <a:xfrm>
            <a:off x="960120" y="4864608"/>
            <a:ext cx="7406640" cy="32004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Show the room. Take your time.</a:t>
            </a:r>
          </a:p>
        </p:txBody>
      </p:sp>
      <p:sp>
        <p:nvSpPr>
          <p:cNvPr id="10" name="TextBox 9"/>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417320"/>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WHAT THAT PROVED</a:t>
            </a:r>
          </a:p>
        </p:txBody>
      </p:sp>
      <p:sp>
        <p:nvSpPr>
          <p:cNvPr id="4" name="TextBox 3"/>
          <p:cNvSpPr txBox="1"/>
          <p:nvPr/>
        </p:nvSpPr>
        <p:spPr>
          <a:xfrm>
            <a:off x="685800" y="1874519"/>
            <a:ext cx="10972800" cy="1737360"/>
          </a:xfrm>
          <a:prstGeom prst="rect">
            <a:avLst/>
          </a:prstGeom>
          <a:noFill/>
        </p:spPr>
        <p:txBody>
          <a:bodyPr wrap="square" lIns="0" rIns="0" tIns="0" bIns="0" anchor="t"/>
          <a:lstStyle/>
          <a:p>
            <a:pPr algn="l">
              <a:lnSpc>
                <a:spcPct val="96000"/>
              </a:lnSpc>
              <a:spcBef>
                <a:spcPts val="0"/>
              </a:spcBef>
              <a:spcAft>
                <a:spcPts val="0"/>
              </a:spcAft>
            </a:pPr>
            <a:r>
              <a:rPr sz="4800" b="1" i="0">
                <a:solidFill>
                  <a:srgbClr val="161412"/>
                </a:solidFill>
                <a:latin typeface="Arial"/>
                <a:ea typeface="Arial"/>
                <a:cs typeface="Arial"/>
              </a:rPr>
              <a:t>Your phone was</a:t>
            </a:r>
          </a:p>
          <a:p>
            <a:pPr algn="l">
              <a:lnSpc>
                <a:spcPct val="96000"/>
              </a:lnSpc>
              <a:spcBef>
                <a:spcPts val="0"/>
              </a:spcBef>
              <a:spcAft>
                <a:spcPts val="0"/>
              </a:spcAft>
            </a:pPr>
            <a:r>
              <a:rPr sz="4800" b="1" i="0">
                <a:solidFill>
                  <a:srgbClr val="161412"/>
                </a:solidFill>
                <a:latin typeface="Arial"/>
                <a:ea typeface="Arial"/>
                <a:cs typeface="Arial"/>
              </a:rPr>
              <a:t>on the table.</a:t>
            </a:r>
          </a:p>
        </p:txBody>
      </p:sp>
      <p:sp>
        <p:nvSpPr>
          <p:cNvPr id="5" name="TextBox 4"/>
          <p:cNvSpPr txBox="1"/>
          <p:nvPr/>
        </p:nvSpPr>
        <p:spPr>
          <a:xfrm>
            <a:off x="713232" y="3886200"/>
            <a:ext cx="10058400" cy="1097280"/>
          </a:xfrm>
          <a:prstGeom prst="rect">
            <a:avLst/>
          </a:prstGeom>
          <a:noFill/>
        </p:spPr>
        <p:txBody>
          <a:bodyPr wrap="square" lIns="0" rIns="0" tIns="0" bIns="0" anchor="t"/>
          <a:lstStyle/>
          <a:p>
            <a:pPr algn="l">
              <a:lnSpc>
                <a:spcPct val="105000"/>
              </a:lnSpc>
              <a:spcBef>
                <a:spcPts val="0"/>
              </a:spcBef>
              <a:spcAft>
                <a:spcPts val="0"/>
              </a:spcAft>
            </a:pPr>
            <a:r>
              <a:rPr sz="2800" b="0" i="0">
                <a:solidFill>
                  <a:srgbClr val="161412"/>
                </a:solidFill>
                <a:latin typeface="Arial"/>
                <a:ea typeface="Arial"/>
                <a:cs typeface="Arial"/>
              </a:rPr>
              <a:t>You were acting normal.</a:t>
            </a:r>
          </a:p>
          <a:p>
            <a:pPr algn="l">
              <a:lnSpc>
                <a:spcPct val="105000"/>
              </a:lnSpc>
              <a:spcBef>
                <a:spcPts val="0"/>
              </a:spcBef>
              <a:spcAft>
                <a:spcPts val="0"/>
              </a:spcAft>
            </a:pPr>
            <a:r>
              <a:rPr sz="2800" b="0" i="0">
                <a:solidFill>
                  <a:srgbClr val="161412"/>
                </a:solidFill>
                <a:latin typeface="Arial"/>
                <a:ea typeface="Arial"/>
                <a:cs typeface="Arial"/>
              </a:rPr>
              <a:t>You still would not have known.</a:t>
            </a:r>
          </a:p>
        </p:txBody>
      </p:sp>
      <p:sp>
        <p:nvSpPr>
          <p:cNvPr id="6" name="TextBox 5"/>
          <p:cNvSpPr txBox="1"/>
          <p:nvPr/>
        </p:nvSpPr>
        <p:spPr>
          <a:xfrm>
            <a:off x="713232" y="5349240"/>
            <a:ext cx="9144000" cy="36576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C4492C"/>
                </a:solidFill>
                <a:latin typeface="Arial"/>
                <a:ea typeface="Arial"/>
                <a:cs typeface="Arial"/>
              </a:rPr>
              <a:t>That is the product requirement.</a:t>
            </a:r>
          </a:p>
        </p:txBody>
      </p:sp>
      <p:sp>
        <p:nvSpPr>
          <p:cNvPr id="7" name="TextBox 6"/>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234440"/>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THE ACTUAL PRODUCT</a:t>
            </a:r>
          </a:p>
        </p:txBody>
      </p:sp>
      <p:sp>
        <p:nvSpPr>
          <p:cNvPr id="4" name="TextBox 3"/>
          <p:cNvSpPr txBox="1"/>
          <p:nvPr/>
        </p:nvSpPr>
        <p:spPr>
          <a:xfrm>
            <a:off x="685800" y="1600200"/>
            <a:ext cx="7315200" cy="960120"/>
          </a:xfrm>
          <a:prstGeom prst="rect">
            <a:avLst/>
          </a:prstGeom>
          <a:noFill/>
        </p:spPr>
        <p:txBody>
          <a:bodyPr wrap="square" lIns="0" rIns="0" tIns="0" bIns="0" anchor="t"/>
          <a:lstStyle/>
          <a:p>
            <a:pPr algn="l">
              <a:lnSpc>
                <a:spcPct val="100000"/>
              </a:lnSpc>
              <a:spcBef>
                <a:spcPts val="0"/>
              </a:spcBef>
              <a:spcAft>
                <a:spcPts val="0"/>
              </a:spcAft>
            </a:pPr>
            <a:r>
              <a:rPr sz="7200" b="1" i="0">
                <a:solidFill>
                  <a:srgbClr val="161412"/>
                </a:solidFill>
                <a:latin typeface="Arial"/>
                <a:ea typeface="Arial"/>
                <a:cs typeface="Arial"/>
              </a:rPr>
              <a:t>Opal</a:t>
            </a:r>
          </a:p>
        </p:txBody>
      </p:sp>
      <p:sp>
        <p:nvSpPr>
          <p:cNvPr id="5" name="TextBox 4"/>
          <p:cNvSpPr txBox="1"/>
          <p:nvPr/>
        </p:nvSpPr>
        <p:spPr>
          <a:xfrm>
            <a:off x="713232" y="2788920"/>
            <a:ext cx="7498079" cy="1143000"/>
          </a:xfrm>
          <a:prstGeom prst="rect">
            <a:avLst/>
          </a:prstGeom>
          <a:noFill/>
        </p:spPr>
        <p:txBody>
          <a:bodyPr wrap="square" lIns="0" rIns="0" tIns="0" bIns="0" anchor="t"/>
          <a:lstStyle/>
          <a:p>
            <a:pPr algn="l">
              <a:lnSpc>
                <a:spcPct val="102000"/>
              </a:lnSpc>
              <a:spcBef>
                <a:spcPts val="0"/>
              </a:spcBef>
              <a:spcAft>
                <a:spcPts val="0"/>
              </a:spcAft>
            </a:pPr>
            <a:r>
              <a:rPr sz="2800" b="0" i="0">
                <a:solidFill>
                  <a:srgbClr val="161412"/>
                </a:solidFill>
                <a:latin typeface="Arial"/>
                <a:ea typeface="Arial"/>
                <a:cs typeface="Arial"/>
              </a:rPr>
              <a:t>A small ornament that</a:t>
            </a:r>
          </a:p>
          <a:p>
            <a:pPr algn="l">
              <a:lnSpc>
                <a:spcPct val="102000"/>
              </a:lnSpc>
              <a:spcBef>
                <a:spcPts val="0"/>
              </a:spcBef>
              <a:spcAft>
                <a:spcPts val="0"/>
              </a:spcAft>
            </a:pPr>
            <a:r>
              <a:rPr sz="2800" b="0" i="0">
                <a:solidFill>
                  <a:srgbClr val="161412"/>
                </a:solidFill>
                <a:latin typeface="Arial"/>
                <a:ea typeface="Arial"/>
                <a:cs typeface="Arial"/>
              </a:rPr>
              <a:t>notices Meta glasses.</a:t>
            </a:r>
          </a:p>
        </p:txBody>
      </p:sp>
      <p:sp>
        <p:nvSpPr>
          <p:cNvPr id="6" name="Rectangle 5"/>
          <p:cNvSpPr/>
          <p:nvPr/>
        </p:nvSpPr>
        <p:spPr>
          <a:xfrm>
            <a:off x="731520" y="4160520"/>
            <a:ext cx="1920240" cy="44450"/>
          </a:xfrm>
          <a:prstGeom prst="rect">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389120"/>
            <a:ext cx="7498079" cy="36576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Discreet enough to wear. Finished enough that you will.</a:t>
            </a:r>
          </a:p>
        </p:txBody>
      </p:sp>
      <p:sp>
        <p:nvSpPr>
          <p:cNvPr id="8" name="TextBox 7"/>
          <p:cNvSpPr txBox="1"/>
          <p:nvPr/>
        </p:nvSpPr>
        <p:spPr>
          <a:xfrm>
            <a:off x="713232" y="4937760"/>
            <a:ext cx="6400800" cy="32004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Beside was the demo.</a:t>
            </a:r>
          </a:p>
        </p:txBody>
      </p:sp>
      <p:sp>
        <p:nvSpPr>
          <p:cNvPr id="9" name="TextBox 8"/>
          <p:cNvSpPr txBox="1"/>
          <p:nvPr/>
        </p:nvSpPr>
        <p:spPr>
          <a:xfrm>
            <a:off x="713232" y="5806440"/>
            <a:ext cx="7315200" cy="32004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6F685E"/>
                </a:solidFill>
                <a:latin typeface="Arial"/>
                <a:ea typeface="Arial"/>
                <a:cs typeface="Arial"/>
              </a:rPr>
              <a:t>[ Name ]     ·     [ Name ]     ·     [ Name ]</a:t>
            </a:r>
          </a:p>
        </p:txBody>
      </p:sp>
      <p:sp>
        <p:nvSpPr>
          <p:cNvPr id="10" name="Oval 9"/>
          <p:cNvSpPr/>
          <p:nvPr/>
        </p:nvSpPr>
        <p:spPr>
          <a:xfrm>
            <a:off x="9281160" y="1965960"/>
            <a:ext cx="2123236" cy="2123236"/>
          </a:xfrm>
          <a:prstGeom prst="ellipse">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441637" y="2126437"/>
            <a:ext cx="1802282" cy="1802282"/>
          </a:xfrm>
          <a:prstGeom prst="ellipse">
            <a:avLst/>
          </a:prstGeom>
          <a:solidFill>
            <a:srgbClr val="F7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774936" y="2459736"/>
            <a:ext cx="1135684" cy="1135684"/>
          </a:xfrm>
          <a:prstGeom prst="ellipse">
            <a:avLst/>
          </a:prstGeom>
          <a:solidFill>
            <a:srgbClr val="E4C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145268" y="2681935"/>
            <a:ext cx="271576" cy="271576"/>
          </a:xfrm>
          <a:prstGeom prst="ellipse">
            <a:avLst/>
          </a:prstGeom>
          <a:solidFill>
            <a:srgbClr val="D884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490911" y="2928823"/>
            <a:ext cx="123444" cy="123444"/>
          </a:xfrm>
          <a:prstGeom prst="ellipse">
            <a:avLst/>
          </a:prstGeom>
          <a:solidFill>
            <a:srgbClr val="FF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6" name="TextBox 15"/>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THE VERSION PEOPLE ALREADY TRIED</a:t>
            </a:r>
          </a:p>
        </p:txBody>
      </p:sp>
      <p:sp>
        <p:nvSpPr>
          <p:cNvPr id="4" name="TextBox 3"/>
          <p:cNvSpPr txBox="1"/>
          <p:nvPr/>
        </p:nvSpPr>
        <p:spPr>
          <a:xfrm>
            <a:off x="658368" y="749808"/>
            <a:ext cx="10972800" cy="1280160"/>
          </a:xfrm>
          <a:prstGeom prst="rect">
            <a:avLst/>
          </a:prstGeom>
          <a:noFill/>
        </p:spPr>
        <p:txBody>
          <a:bodyPr wrap="square" lIns="0" rIns="0" tIns="0" bIns="0" anchor="t"/>
          <a:lstStyle/>
          <a:p>
            <a:pPr algn="l">
              <a:lnSpc>
                <a:spcPct val="96000"/>
              </a:lnSpc>
              <a:spcBef>
                <a:spcPts val="0"/>
              </a:spcBef>
              <a:spcAft>
                <a:spcPts val="0"/>
              </a:spcAft>
            </a:pPr>
            <a:r>
              <a:rPr sz="3600" b="1" i="0">
                <a:solidFill>
                  <a:srgbClr val="161412"/>
                </a:solidFill>
                <a:latin typeface="Arial"/>
                <a:ea typeface="Arial"/>
                <a:cs typeface="Arial"/>
              </a:rPr>
              <a:t>The keychain could detect.</a:t>
            </a:r>
          </a:p>
          <a:p>
            <a:pPr algn="l">
              <a:lnSpc>
                <a:spcPct val="96000"/>
              </a:lnSpc>
              <a:spcBef>
                <a:spcPts val="0"/>
              </a:spcBef>
              <a:spcAft>
                <a:spcPts val="0"/>
              </a:spcAft>
            </a:pPr>
            <a:r>
              <a:rPr sz="3600" b="1" i="0">
                <a:solidFill>
                  <a:srgbClr val="161412"/>
                </a:solidFill>
                <a:latin typeface="Arial"/>
                <a:ea typeface="Arial"/>
                <a:cs typeface="Arial"/>
              </a:rPr>
              <a:t>Nobody wanted it out.</a:t>
            </a:r>
          </a:p>
        </p:txBody>
      </p:sp>
      <p:sp>
        <p:nvSpPr>
          <p:cNvPr id="5" name="Rounded Rectangle 4"/>
          <p:cNvSpPr/>
          <p:nvPr/>
        </p:nvSpPr>
        <p:spPr>
          <a:xfrm>
            <a:off x="658368" y="2377440"/>
            <a:ext cx="5212080" cy="356616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26480" y="2377440"/>
            <a:ext cx="5394960" cy="356616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997037" y="2578608"/>
            <a:ext cx="499262" cy="499262"/>
          </a:xfrm>
          <a:prstGeom prst="ellipse">
            <a:avLst/>
          </a:prstGeom>
          <a:solidFill>
            <a:srgbClr val="3A3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111154" y="2692725"/>
            <a:ext cx="271028" cy="271028"/>
          </a:xfrm>
          <a:prstGeom prst="ellipse">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82477" y="3020811"/>
            <a:ext cx="128381" cy="114117"/>
          </a:xfrm>
          <a:prstGeom prst="roundRect">
            <a:avLst>
              <a:gd name="adj" fmla="val 30000"/>
            </a:avLst>
          </a:prstGeom>
          <a:solidFill>
            <a:srgbClr val="3A3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697480" y="3106399"/>
            <a:ext cx="1105509" cy="1319479"/>
          </a:xfrm>
          <a:prstGeom prst="roundRect">
            <a:avLst>
              <a:gd name="adj" fmla="val 12000"/>
            </a:avLst>
          </a:prstGeom>
          <a:solidFill>
            <a:srgbClr val="2A2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97037" y="3398824"/>
            <a:ext cx="499262" cy="499262"/>
          </a:xfrm>
          <a:prstGeom prst="ellipse">
            <a:avLst/>
          </a:prstGeom>
          <a:solidFill>
            <a:srgbClr val="C44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39683" y="3541471"/>
            <a:ext cx="213969" cy="213969"/>
          </a:xfrm>
          <a:prstGeom prst="ellipse">
            <a:avLst/>
          </a:prstGeom>
          <a:solidFill>
            <a:srgbClr val="E87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709160"/>
            <a:ext cx="4663440" cy="256032"/>
          </a:xfrm>
          <a:prstGeom prst="rect">
            <a:avLst/>
          </a:prstGeom>
          <a:noFill/>
        </p:spPr>
        <p:txBody>
          <a:bodyPr wrap="square" lIns="0" rIns="0" tIns="0" bIns="0" anchor="t"/>
          <a:lstStyle/>
          <a:p>
            <a:pPr algn="ctr">
              <a:lnSpc>
                <a:spcPct val="100000"/>
              </a:lnSpc>
              <a:spcBef>
                <a:spcPts val="0"/>
              </a:spcBef>
              <a:spcAft>
                <a:spcPts val="0"/>
              </a:spcAft>
            </a:pPr>
            <a:r>
              <a:rPr sz="1300" b="1" i="0" spc="140">
                <a:solidFill>
                  <a:srgbClr val="C4492C"/>
                </a:solidFill>
                <a:latin typeface="Arial"/>
                <a:ea typeface="Arial"/>
                <a:cs typeface="Arial"/>
              </a:rPr>
              <a:t>KEYCHAIN</a:t>
            </a:r>
          </a:p>
        </p:txBody>
      </p:sp>
      <p:sp>
        <p:nvSpPr>
          <p:cNvPr id="14" name="TextBox 13"/>
          <p:cNvSpPr txBox="1"/>
          <p:nvPr/>
        </p:nvSpPr>
        <p:spPr>
          <a:xfrm>
            <a:off x="914400" y="5029200"/>
            <a:ext cx="4754880" cy="502920"/>
          </a:xfrm>
          <a:prstGeom prst="rect">
            <a:avLst/>
          </a:prstGeom>
          <a:noFill/>
        </p:spPr>
        <p:txBody>
          <a:bodyPr wrap="square" lIns="0" rIns="0" tIns="0" bIns="0" anchor="t"/>
          <a:lstStyle/>
          <a:p>
            <a:pPr algn="ctr">
              <a:lnSpc>
                <a:spcPct val="100000"/>
              </a:lnSpc>
              <a:spcBef>
                <a:spcPts val="0"/>
              </a:spcBef>
              <a:spcAft>
                <a:spcPts val="0"/>
              </a:spcAft>
            </a:pPr>
            <a:r>
              <a:rPr sz="1600" b="0" i="0">
                <a:solidFill>
                  <a:srgbClr val="6F685E"/>
                </a:solidFill>
                <a:latin typeface="Arial"/>
                <a:ea typeface="Arial"/>
                <a:cs typeface="Arial"/>
              </a:rPr>
              <a:t>A gadget. A light. A job it announced.</a:t>
            </a:r>
          </a:p>
        </p:txBody>
      </p:sp>
      <p:sp>
        <p:nvSpPr>
          <p:cNvPr id="15" name="Oval 14"/>
          <p:cNvSpPr/>
          <p:nvPr/>
        </p:nvSpPr>
        <p:spPr>
          <a:xfrm>
            <a:off x="8037575" y="2606040"/>
            <a:ext cx="1572768" cy="1572768"/>
          </a:xfrm>
          <a:prstGeom prst="ellipse">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156448" y="2724912"/>
            <a:ext cx="1335024" cy="1335024"/>
          </a:xfrm>
          <a:prstGeom prst="ellipse">
            <a:avLst/>
          </a:prstGeom>
          <a:solidFill>
            <a:srgbClr val="F7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03336" y="2971800"/>
            <a:ext cx="841248" cy="841248"/>
          </a:xfrm>
          <a:prstGeom prst="ellipse">
            <a:avLst/>
          </a:prstGeom>
          <a:solidFill>
            <a:srgbClr val="E4C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677655" y="3136392"/>
            <a:ext cx="201168" cy="201168"/>
          </a:xfrm>
          <a:prstGeom prst="ellipse">
            <a:avLst/>
          </a:prstGeom>
          <a:solidFill>
            <a:srgbClr val="D884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33688" y="3319272"/>
            <a:ext cx="91440" cy="91440"/>
          </a:xfrm>
          <a:prstGeom prst="ellipse">
            <a:avLst/>
          </a:prstGeom>
          <a:solidFill>
            <a:srgbClr val="FF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709160"/>
            <a:ext cx="4937760" cy="256032"/>
          </a:xfrm>
          <a:prstGeom prst="rect">
            <a:avLst/>
          </a:prstGeom>
          <a:noFill/>
        </p:spPr>
        <p:txBody>
          <a:bodyPr wrap="square" lIns="0" rIns="0" tIns="0" bIns="0" anchor="t"/>
          <a:lstStyle/>
          <a:p>
            <a:pPr algn="ctr">
              <a:lnSpc>
                <a:spcPct val="100000"/>
              </a:lnSpc>
              <a:spcBef>
                <a:spcPts val="0"/>
              </a:spcBef>
              <a:spcAft>
                <a:spcPts val="0"/>
              </a:spcAft>
            </a:pPr>
            <a:r>
              <a:rPr sz="1300" b="1" i="0" spc="140">
                <a:solidFill>
                  <a:srgbClr val="8A5E32"/>
                </a:solidFill>
                <a:latin typeface="Arial"/>
                <a:ea typeface="Arial"/>
                <a:cs typeface="Arial"/>
              </a:rPr>
              <a:t>OPAL</a:t>
            </a:r>
          </a:p>
        </p:txBody>
      </p:sp>
      <p:sp>
        <p:nvSpPr>
          <p:cNvPr id="21" name="TextBox 20"/>
          <p:cNvSpPr txBox="1"/>
          <p:nvPr/>
        </p:nvSpPr>
        <p:spPr>
          <a:xfrm>
            <a:off x="6446520" y="5029200"/>
            <a:ext cx="4846320" cy="502920"/>
          </a:xfrm>
          <a:prstGeom prst="rect">
            <a:avLst/>
          </a:prstGeom>
          <a:noFill/>
        </p:spPr>
        <p:txBody>
          <a:bodyPr wrap="square" lIns="0" rIns="0" tIns="0" bIns="0" anchor="t"/>
          <a:lstStyle/>
          <a:p>
            <a:pPr algn="ctr">
              <a:lnSpc>
                <a:spcPct val="100000"/>
              </a:lnSpc>
              <a:spcBef>
                <a:spcPts val="0"/>
              </a:spcBef>
              <a:spcAft>
                <a:spcPts val="0"/>
              </a:spcAft>
            </a:pPr>
            <a:r>
              <a:rPr sz="1600" b="0" i="0">
                <a:solidFill>
                  <a:srgbClr val="6F685E"/>
                </a:solidFill>
                <a:latin typeface="Arial"/>
                <a:ea typeface="Arial"/>
                <a:cs typeface="Arial"/>
              </a:rPr>
              <a:t>Same awareness. Worn as a small decoration.</a:t>
            </a:r>
          </a:p>
        </p:txBody>
      </p:sp>
      <p:sp>
        <p:nvSpPr>
          <p:cNvPr id="22" name="TextBox 21"/>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23" name="TextBox 22"/>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THIS ROOM</a:t>
            </a:r>
          </a:p>
        </p:txBody>
      </p:sp>
      <p:sp>
        <p:nvSpPr>
          <p:cNvPr id="4" name="TextBox 3"/>
          <p:cNvSpPr txBox="1"/>
          <p:nvPr/>
        </p:nvSpPr>
        <p:spPr>
          <a:xfrm>
            <a:off x="685800" y="822960"/>
            <a:ext cx="10972800" cy="731520"/>
          </a:xfrm>
          <a:prstGeom prst="rect">
            <a:avLst/>
          </a:prstGeom>
          <a:noFill/>
        </p:spPr>
        <p:txBody>
          <a:bodyPr wrap="square" lIns="0" rIns="0" tIns="0" bIns="0" anchor="t"/>
          <a:lstStyle/>
          <a:p>
            <a:pPr algn="l">
              <a:lnSpc>
                <a:spcPct val="100000"/>
              </a:lnSpc>
              <a:spcBef>
                <a:spcPts val="0"/>
              </a:spcBef>
              <a:spcAft>
                <a:spcPts val="0"/>
              </a:spcAft>
            </a:pPr>
            <a:r>
              <a:rPr sz="4800" b="1" i="0">
                <a:solidFill>
                  <a:srgbClr val="161412"/>
                </a:solidFill>
                <a:latin typeface="Arial"/>
                <a:ea typeface="Arial"/>
                <a:cs typeface="Arial"/>
              </a:rPr>
              <a:t>Keep the glasses.</a:t>
            </a:r>
          </a:p>
        </p:txBody>
      </p:sp>
      <p:sp>
        <p:nvSpPr>
          <p:cNvPr id="5" name="TextBox 4"/>
          <p:cNvSpPr txBox="1"/>
          <p:nvPr/>
        </p:nvSpPr>
        <p:spPr>
          <a:xfrm>
            <a:off x="713232" y="1737360"/>
            <a:ext cx="10515600" cy="1005840"/>
          </a:xfrm>
          <a:prstGeom prst="rect">
            <a:avLst/>
          </a:prstGeom>
          <a:noFill/>
        </p:spPr>
        <p:txBody>
          <a:bodyPr wrap="square" lIns="0" rIns="0" tIns="0" bIns="0" anchor="t"/>
          <a:lstStyle/>
          <a:p>
            <a:pPr algn="l">
              <a:lnSpc>
                <a:spcPct val="108000"/>
              </a:lnSpc>
              <a:spcBef>
                <a:spcPts val="0"/>
              </a:spcBef>
              <a:spcAft>
                <a:spcPts val="0"/>
              </a:spcAft>
            </a:pPr>
            <a:r>
              <a:rPr sz="2400" b="0" i="0">
                <a:solidFill>
                  <a:srgbClr val="161412"/>
                </a:solidFill>
                <a:latin typeface="Arial"/>
                <a:ea typeface="Arial"/>
                <a:cs typeface="Arial"/>
              </a:rPr>
              <a:t>A camera you don't have to hold is a better camera.</a:t>
            </a:r>
          </a:p>
          <a:p>
            <a:pPr algn="l">
              <a:lnSpc>
                <a:spcPct val="108000"/>
              </a:lnSpc>
              <a:spcBef>
                <a:spcPts val="0"/>
              </a:spcBef>
              <a:spcAft>
                <a:spcPts val="0"/>
              </a:spcAft>
            </a:pPr>
            <a:r>
              <a:rPr sz="2400" b="0" i="0">
                <a:solidFill>
                  <a:srgbClr val="161412"/>
                </a:solidFill>
                <a:latin typeface="Arial"/>
                <a:ea typeface="Arial"/>
                <a:cs typeface="Arial"/>
              </a:rPr>
              <a:t>Opal is for the person who didn't press record.</a:t>
            </a:r>
          </a:p>
        </p:txBody>
      </p:sp>
      <p:sp>
        <p:nvSpPr>
          <p:cNvPr id="6" name="Rounded Rectangle 5"/>
          <p:cNvSpPr/>
          <p:nvPr/>
        </p:nvSpPr>
        <p:spPr>
          <a:xfrm>
            <a:off x="713232" y="3108960"/>
            <a:ext cx="5212080" cy="278892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26480" y="3108960"/>
            <a:ext cx="5349240" cy="278892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310128"/>
            <a:ext cx="4754880" cy="274320"/>
          </a:xfrm>
          <a:prstGeom prst="rect">
            <a:avLst/>
          </a:prstGeom>
          <a:noFill/>
        </p:spPr>
        <p:txBody>
          <a:bodyPr wrap="square" lIns="0" rIns="0" tIns="0" bIns="0" anchor="t"/>
          <a:lstStyle/>
          <a:p>
            <a:pPr algn="l">
              <a:lnSpc>
                <a:spcPct val="100000"/>
              </a:lnSpc>
              <a:spcBef>
                <a:spcPts val="0"/>
              </a:spcBef>
              <a:spcAft>
                <a:spcPts val="0"/>
              </a:spcAft>
            </a:pPr>
            <a:r>
              <a:rPr sz="1300" b="1" i="0" spc="100">
                <a:solidFill>
                  <a:srgbClr val="8A5E32"/>
                </a:solidFill>
                <a:latin typeface="Arial"/>
                <a:ea typeface="Arial"/>
                <a:cs typeface="Arial"/>
              </a:rPr>
              <a:t>WHAT YOU ALREADY THINK</a:t>
            </a:r>
          </a:p>
        </p:txBody>
      </p:sp>
      <p:sp>
        <p:nvSpPr>
          <p:cNvPr id="9" name="TextBox 8"/>
          <p:cNvSpPr txBox="1"/>
          <p:nvPr/>
        </p:nvSpPr>
        <p:spPr>
          <a:xfrm>
            <a:off x="960120" y="3794760"/>
            <a:ext cx="4663440" cy="1645920"/>
          </a:xfrm>
          <a:prstGeom prst="rect">
            <a:avLst/>
          </a:prstGeom>
          <a:noFill/>
        </p:spPr>
        <p:txBody>
          <a:bodyPr wrap="square" lIns="0" rIns="0" tIns="0" bIns="0" anchor="t"/>
          <a:lstStyle/>
          <a:p>
            <a:pPr algn="l">
              <a:lnSpc>
                <a:spcPct val="112000"/>
              </a:lnSpc>
              <a:spcBef>
                <a:spcPts val="0"/>
              </a:spcBef>
              <a:spcAft>
                <a:spcPts val="0"/>
              </a:spcAft>
            </a:pPr>
            <a:r>
              <a:rPr sz="2200" b="0" i="0">
                <a:solidFill>
                  <a:srgbClr val="161412"/>
                </a:solidFill>
                <a:latin typeface="Arial"/>
                <a:ea typeface="Arial"/>
                <a:cs typeface="Arial"/>
              </a:rPr>
              <a:t>Hands free.</a:t>
            </a:r>
          </a:p>
          <a:p>
            <a:pPr algn="l">
              <a:lnSpc>
                <a:spcPct val="112000"/>
              </a:lnSpc>
              <a:spcBef>
                <a:spcPts val="0"/>
              </a:spcBef>
              <a:spcAft>
                <a:spcPts val="0"/>
              </a:spcAft>
            </a:pPr>
            <a:r>
              <a:rPr sz="2200" b="0" i="0">
                <a:solidFill>
                  <a:srgbClr val="161412"/>
                </a:solidFill>
                <a:latin typeface="Arial"/>
                <a:ea typeface="Arial"/>
                <a:cs typeface="Arial"/>
              </a:rPr>
              <a:t>The shot is from your eyes.</a:t>
            </a:r>
          </a:p>
          <a:p>
            <a:pPr algn="l">
              <a:lnSpc>
                <a:spcPct val="112000"/>
              </a:lnSpc>
              <a:spcBef>
                <a:spcPts val="0"/>
              </a:spcBef>
              <a:spcAft>
                <a:spcPts val="0"/>
              </a:spcAft>
            </a:pPr>
            <a:r>
              <a:rPr sz="2200" b="0" i="0">
                <a:solidFill>
                  <a:srgbClr val="161412"/>
                </a:solidFill>
                <a:latin typeface="Arial"/>
                <a:ea typeface="Arial"/>
                <a:cs typeface="Arial"/>
              </a:rPr>
              <a:t>The glasses are worth liking.</a:t>
            </a:r>
          </a:p>
        </p:txBody>
      </p:sp>
      <p:sp>
        <p:nvSpPr>
          <p:cNvPr id="10" name="TextBox 9"/>
          <p:cNvSpPr txBox="1"/>
          <p:nvPr/>
        </p:nvSpPr>
        <p:spPr>
          <a:xfrm>
            <a:off x="6382512" y="3310128"/>
            <a:ext cx="4754880" cy="274320"/>
          </a:xfrm>
          <a:prstGeom prst="rect">
            <a:avLst/>
          </a:prstGeom>
          <a:noFill/>
        </p:spPr>
        <p:txBody>
          <a:bodyPr wrap="square" lIns="0" rIns="0" tIns="0" bIns="0" anchor="t"/>
          <a:lstStyle/>
          <a:p>
            <a:pPr algn="l">
              <a:lnSpc>
                <a:spcPct val="100000"/>
              </a:lnSpc>
              <a:spcBef>
                <a:spcPts val="0"/>
              </a:spcBef>
              <a:spcAft>
                <a:spcPts val="0"/>
              </a:spcAft>
            </a:pPr>
            <a:r>
              <a:rPr sz="1300" b="1" i="0" spc="120">
                <a:solidFill>
                  <a:srgbClr val="C4492C"/>
                </a:solidFill>
                <a:latin typeface="Arial"/>
                <a:ea typeface="Arial"/>
                <a:cs typeface="Arial"/>
              </a:rPr>
              <a:t>THE OTHER SEAT</a:t>
            </a:r>
          </a:p>
        </p:txBody>
      </p:sp>
      <p:sp>
        <p:nvSpPr>
          <p:cNvPr id="11" name="TextBox 10"/>
          <p:cNvSpPr txBox="1"/>
          <p:nvPr/>
        </p:nvSpPr>
        <p:spPr>
          <a:xfrm>
            <a:off x="6382512" y="3794760"/>
            <a:ext cx="4754880" cy="1645920"/>
          </a:xfrm>
          <a:prstGeom prst="rect">
            <a:avLst/>
          </a:prstGeom>
          <a:noFill/>
        </p:spPr>
        <p:txBody>
          <a:bodyPr wrap="square" lIns="0" rIns="0" tIns="0" bIns="0" anchor="t"/>
          <a:lstStyle/>
          <a:p>
            <a:pPr algn="l">
              <a:lnSpc>
                <a:spcPct val="112000"/>
              </a:lnSpc>
              <a:spcBef>
                <a:spcPts val="0"/>
              </a:spcBef>
              <a:spcAft>
                <a:spcPts val="0"/>
              </a:spcAft>
            </a:pPr>
            <a:r>
              <a:rPr sz="2200" b="0" i="0">
                <a:solidFill>
                  <a:srgbClr val="161412"/>
                </a:solidFill>
                <a:latin typeface="Arial"/>
                <a:ea typeface="Arial"/>
                <a:cs typeface="Arial"/>
              </a:rPr>
              <a:t>They didn't press it.</a:t>
            </a:r>
          </a:p>
          <a:p>
            <a:pPr algn="l">
              <a:lnSpc>
                <a:spcPct val="112000"/>
              </a:lnSpc>
              <a:spcBef>
                <a:spcPts val="0"/>
              </a:spcBef>
              <a:spcAft>
                <a:spcPts val="0"/>
              </a:spcAft>
            </a:pPr>
            <a:r>
              <a:rPr sz="2200" b="0" i="0">
                <a:solidFill>
                  <a:srgbClr val="161412"/>
                </a:solidFill>
                <a:latin typeface="Arial"/>
                <a:ea typeface="Arial"/>
                <a:cs typeface="Arial"/>
              </a:rPr>
              <a:t>They may not be looking</a:t>
            </a:r>
          </a:p>
          <a:p>
            <a:pPr algn="l">
              <a:lnSpc>
                <a:spcPct val="112000"/>
              </a:lnSpc>
              <a:spcBef>
                <a:spcPts val="0"/>
              </a:spcBef>
              <a:spcAft>
                <a:spcPts val="0"/>
              </a:spcAft>
            </a:pPr>
            <a:r>
              <a:rPr sz="2200" b="0" i="0">
                <a:solidFill>
                  <a:srgbClr val="161412"/>
                </a:solidFill>
                <a:latin typeface="Arial"/>
                <a:ea typeface="Arial"/>
                <a:cs typeface="Arial"/>
              </a:rPr>
              <a:t>at the frame.</a:t>
            </a:r>
          </a:p>
        </p:txBody>
      </p:sp>
      <p:sp>
        <p:nvSpPr>
          <p:cNvPr id="12" name="TextBox 11"/>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3" name="TextBox 12"/>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WHAT OPAL NOTICES</a:t>
            </a:r>
          </a:p>
        </p:txBody>
      </p:sp>
      <p:sp>
        <p:nvSpPr>
          <p:cNvPr id="4" name="TextBox 3"/>
          <p:cNvSpPr txBox="1"/>
          <p:nvPr/>
        </p:nvSpPr>
        <p:spPr>
          <a:xfrm>
            <a:off x="658368" y="713232"/>
            <a:ext cx="10972800" cy="1234440"/>
          </a:xfrm>
          <a:prstGeom prst="rect">
            <a:avLst/>
          </a:prstGeom>
          <a:noFill/>
        </p:spPr>
        <p:txBody>
          <a:bodyPr wrap="square" lIns="0" rIns="0" tIns="0" bIns="0" anchor="t"/>
          <a:lstStyle/>
          <a:p>
            <a:pPr algn="l">
              <a:lnSpc>
                <a:spcPct val="96000"/>
              </a:lnSpc>
              <a:spcBef>
                <a:spcPts val="0"/>
              </a:spcBef>
              <a:spcAft>
                <a:spcPts val="0"/>
              </a:spcAft>
            </a:pPr>
            <a:r>
              <a:rPr sz="3600" b="1" i="0">
                <a:solidFill>
                  <a:srgbClr val="161412"/>
                </a:solidFill>
                <a:latin typeface="Arial"/>
                <a:ea typeface="Arial"/>
                <a:cs typeface="Arial"/>
              </a:rPr>
              <a:t>Meta glasses.</a:t>
            </a:r>
          </a:p>
          <a:p>
            <a:pPr algn="l">
              <a:lnSpc>
                <a:spcPct val="96000"/>
              </a:lnSpc>
              <a:spcBef>
                <a:spcPts val="0"/>
              </a:spcBef>
              <a:spcAft>
                <a:spcPts val="0"/>
              </a:spcAft>
            </a:pPr>
            <a:r>
              <a:rPr sz="3600" b="1" i="0">
                <a:solidFill>
                  <a:srgbClr val="161412"/>
                </a:solidFill>
                <a:latin typeface="Arial"/>
                <a:ea typeface="Arial"/>
                <a:cs typeface="Arial"/>
              </a:rPr>
              <a:t>And when they are capturing.</a:t>
            </a:r>
          </a:p>
        </p:txBody>
      </p:sp>
      <p:sp>
        <p:nvSpPr>
          <p:cNvPr id="5" name="Rounded Rectangle 4"/>
          <p:cNvSpPr/>
          <p:nvPr/>
        </p:nvSpPr>
        <p:spPr>
          <a:xfrm>
            <a:off x="658368" y="2286000"/>
            <a:ext cx="5349240" cy="361188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0" y="2286000"/>
            <a:ext cx="5303520" cy="3611880"/>
          </a:xfrm>
          <a:prstGeom prst="roundRect">
            <a:avLst>
              <a:gd name="adj" fmla="val 8000"/>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14600"/>
            <a:ext cx="4846320" cy="274320"/>
          </a:xfrm>
          <a:prstGeom prst="rect">
            <a:avLst/>
          </a:prstGeom>
          <a:noFill/>
        </p:spPr>
        <p:txBody>
          <a:bodyPr wrap="square" lIns="0" rIns="0" tIns="0" bIns="0" anchor="t"/>
          <a:lstStyle/>
          <a:p>
            <a:pPr algn="l">
              <a:lnSpc>
                <a:spcPct val="100000"/>
              </a:lnSpc>
              <a:spcBef>
                <a:spcPts val="0"/>
              </a:spcBef>
              <a:spcAft>
                <a:spcPts val="0"/>
              </a:spcAft>
            </a:pPr>
            <a:r>
              <a:rPr sz="1300" b="1" i="0" spc="140">
                <a:solidFill>
                  <a:srgbClr val="8A5E32"/>
                </a:solidFill>
                <a:latin typeface="Arial"/>
                <a:ea typeface="Arial"/>
                <a:cs typeface="Arial"/>
              </a:rPr>
              <a:t>A PAIR IS HERE</a:t>
            </a:r>
          </a:p>
        </p:txBody>
      </p:sp>
      <p:sp>
        <p:nvSpPr>
          <p:cNvPr id="8" name="TextBox 7"/>
          <p:cNvSpPr txBox="1"/>
          <p:nvPr/>
        </p:nvSpPr>
        <p:spPr>
          <a:xfrm>
            <a:off x="914400" y="2926080"/>
            <a:ext cx="4754880" cy="2651760"/>
          </a:xfrm>
          <a:prstGeom prst="rect">
            <a:avLst/>
          </a:prstGeom>
          <a:noFill/>
        </p:spPr>
        <p:txBody>
          <a:bodyPr wrap="square" lIns="0" rIns="0" tIns="0" bIns="0" anchor="t"/>
          <a:lstStyle/>
          <a:p>
            <a:pPr algn="l">
              <a:lnSpc>
                <a:spcPct val="105000"/>
              </a:lnSpc>
              <a:spcBef>
                <a:spcPts val="0"/>
              </a:spcBef>
              <a:spcAft>
                <a:spcPts val="0"/>
              </a:spcAft>
            </a:pPr>
            <a:r>
              <a:rPr sz="1800" b="0" i="0">
                <a:solidFill>
                  <a:srgbClr val="161412"/>
                </a:solidFill>
                <a:latin typeface="Arial"/>
                <a:ea typeface="Arial"/>
                <a:cs typeface="Arial"/>
              </a:rPr>
              <a:t>Meta glasses speak Bluetooth</a:t>
            </a:r>
          </a:p>
          <a:p>
            <a:pPr algn="l">
              <a:lnSpc>
                <a:spcPct val="105000"/>
              </a:lnSpc>
              <a:spcBef>
                <a:spcPts val="0"/>
              </a:spcBef>
              <a:spcAft>
                <a:spcPts val="0"/>
              </a:spcAft>
            </a:pPr>
            <a:r>
              <a:rPr sz="1800" b="0" i="0">
                <a:solidFill>
                  <a:srgbClr val="161412"/>
                </a:solidFill>
                <a:latin typeface="Arial"/>
                <a:ea typeface="Arial"/>
                <a:cs typeface="Arial"/>
              </a:rPr>
              <a:t>while they are on.</a:t>
            </a:r>
          </a:p>
          <a:p>
            <a:pPr algn="l">
              <a:lnSpc>
                <a:spcPct val="105000"/>
              </a:lnSpc>
              <a:spcBef>
                <a:spcPts val="0"/>
              </a:spcBef>
              <a:spcAft>
                <a:spcPts val="0"/>
              </a:spcAft>
            </a:pPr>
            <a:r>
              <a:rPr sz="1800" b="0" i="0">
                <a:solidFill>
                  <a:srgbClr val="161412"/>
                </a:solidFill>
                <a:latin typeface="Arial"/>
                <a:ea typeface="Arial"/>
                <a:cs typeface="Arial"/>
              </a:rPr>
              <a:t/>
            </a:r>
          </a:p>
          <a:p>
            <a:pPr algn="l">
              <a:lnSpc>
                <a:spcPct val="105000"/>
              </a:lnSpc>
              <a:spcBef>
                <a:spcPts val="0"/>
              </a:spcBef>
              <a:spcAft>
                <a:spcPts val="0"/>
              </a:spcAft>
            </a:pPr>
            <a:r>
              <a:rPr sz="1800" b="0" i="0">
                <a:solidFill>
                  <a:srgbClr val="161412"/>
                </a:solidFill>
                <a:latin typeface="Arial"/>
                <a:ea typeface="Arial"/>
                <a:cs typeface="Arial"/>
              </a:rPr>
              <a:t>Opal recognizes that family,</a:t>
            </a:r>
          </a:p>
          <a:p>
            <a:pPr algn="l">
              <a:lnSpc>
                <a:spcPct val="105000"/>
              </a:lnSpc>
              <a:spcBef>
                <a:spcPts val="0"/>
              </a:spcBef>
              <a:spcAft>
                <a:spcPts val="0"/>
              </a:spcAft>
            </a:pPr>
            <a:r>
              <a:rPr sz="1800" b="0" i="0">
                <a:solidFill>
                  <a:srgbClr val="161412"/>
                </a:solidFill>
                <a:latin typeface="Arial"/>
                <a:ea typeface="Arial"/>
                <a:cs typeface="Arial"/>
              </a:rPr>
              <a:t>a few meters away.</a:t>
            </a:r>
          </a:p>
          <a:p>
            <a:pPr algn="l">
              <a:lnSpc>
                <a:spcPct val="105000"/>
              </a:lnSpc>
              <a:spcBef>
                <a:spcPts val="0"/>
              </a:spcBef>
              <a:spcAft>
                <a:spcPts val="0"/>
              </a:spcAft>
            </a:pPr>
            <a:r>
              <a:rPr sz="1800" b="0" i="0">
                <a:solidFill>
                  <a:srgbClr val="161412"/>
                </a:solidFill>
                <a:latin typeface="Arial"/>
                <a:ea typeface="Arial"/>
                <a:cs typeface="Arial"/>
              </a:rPr>
              <a:t/>
            </a:r>
          </a:p>
          <a:p>
            <a:pPr algn="l">
              <a:lnSpc>
                <a:spcPct val="105000"/>
              </a:lnSpc>
              <a:spcBef>
                <a:spcPts val="0"/>
              </a:spcBef>
              <a:spcAft>
                <a:spcPts val="0"/>
              </a:spcAft>
            </a:pPr>
            <a:r>
              <a:rPr sz="1800" b="0" i="0">
                <a:solidFill>
                  <a:srgbClr val="161412"/>
                </a:solidFill>
                <a:latin typeface="Arial"/>
                <a:ea typeface="Arial"/>
                <a:cs typeface="Arial"/>
              </a:rPr>
              <a:t>Ordinary eyeglasses stay silent.</a:t>
            </a:r>
          </a:p>
          <a:p>
            <a:pPr algn="l">
              <a:lnSpc>
                <a:spcPct val="105000"/>
              </a:lnSpc>
              <a:spcBef>
                <a:spcPts val="0"/>
              </a:spcBef>
              <a:spcAft>
                <a:spcPts val="0"/>
              </a:spcAft>
            </a:pPr>
            <a:r>
              <a:rPr sz="1800" b="0" i="0">
                <a:solidFill>
                  <a:srgbClr val="161412"/>
                </a:solidFill>
                <a:latin typeface="Arial"/>
                <a:ea typeface="Arial"/>
                <a:cs typeface="Arial"/>
              </a:rPr>
              <a:t>They have nothing to say.</a:t>
            </a:r>
          </a:p>
        </p:txBody>
      </p:sp>
      <p:sp>
        <p:nvSpPr>
          <p:cNvPr id="9" name="TextBox 8"/>
          <p:cNvSpPr txBox="1"/>
          <p:nvPr/>
        </p:nvSpPr>
        <p:spPr>
          <a:xfrm>
            <a:off x="6492240" y="2514600"/>
            <a:ext cx="4754880" cy="274320"/>
          </a:xfrm>
          <a:prstGeom prst="rect">
            <a:avLst/>
          </a:prstGeom>
          <a:noFill/>
        </p:spPr>
        <p:txBody>
          <a:bodyPr wrap="square" lIns="0" rIns="0" tIns="0" bIns="0" anchor="t"/>
          <a:lstStyle/>
          <a:p>
            <a:pPr algn="l">
              <a:lnSpc>
                <a:spcPct val="100000"/>
              </a:lnSpc>
              <a:spcBef>
                <a:spcPts val="0"/>
              </a:spcBef>
              <a:spcAft>
                <a:spcPts val="0"/>
              </a:spcAft>
            </a:pPr>
            <a:r>
              <a:rPr sz="1300" b="1" i="0" spc="140">
                <a:solidFill>
                  <a:srgbClr val="C6A15A"/>
                </a:solidFill>
                <a:latin typeface="Arial"/>
                <a:ea typeface="Arial"/>
                <a:cs typeface="Arial"/>
              </a:rPr>
              <a:t>THE LIGHT IS ON</a:t>
            </a:r>
          </a:p>
        </p:txBody>
      </p:sp>
      <p:sp>
        <p:nvSpPr>
          <p:cNvPr id="10" name="TextBox 9"/>
          <p:cNvSpPr txBox="1"/>
          <p:nvPr/>
        </p:nvSpPr>
        <p:spPr>
          <a:xfrm>
            <a:off x="6492240" y="2926080"/>
            <a:ext cx="4754880" cy="2651760"/>
          </a:xfrm>
          <a:prstGeom prst="rect">
            <a:avLst/>
          </a:prstGeom>
          <a:noFill/>
        </p:spPr>
        <p:txBody>
          <a:bodyPr wrap="square" lIns="0" rIns="0" tIns="0" bIns="0" anchor="t"/>
          <a:lstStyle/>
          <a:p>
            <a:pPr algn="l">
              <a:lnSpc>
                <a:spcPct val="105000"/>
              </a:lnSpc>
              <a:spcBef>
                <a:spcPts val="0"/>
              </a:spcBef>
              <a:spcAft>
                <a:spcPts val="0"/>
              </a:spcAft>
            </a:pPr>
            <a:r>
              <a:rPr sz="1800" b="0" i="0">
                <a:solidFill>
                  <a:srgbClr val="F6F1E8"/>
                </a:solidFill>
                <a:latin typeface="Arial"/>
                <a:ea typeface="Arial"/>
                <a:cs typeface="Arial"/>
              </a:rPr>
              <a:t>Meta publishes the pattern.</a:t>
            </a:r>
          </a:p>
          <a:p>
            <a:pPr algn="l">
              <a:lnSpc>
                <a:spcPct val="105000"/>
              </a:lnSpc>
              <a:spcBef>
                <a:spcPts val="0"/>
              </a:spcBef>
              <a:spcAft>
                <a:spcPts val="0"/>
              </a:spcAft>
            </a:pPr>
            <a:r>
              <a:rPr sz="1800" b="0" i="0">
                <a:solidFill>
                  <a:srgbClr val="F6F1E8"/>
                </a:solidFill>
                <a:latin typeface="Arial"/>
                <a:ea typeface="Arial"/>
                <a:cs typeface="Arial"/>
              </a:rPr>
              <a:t>A blink for a photo.</a:t>
            </a:r>
          </a:p>
          <a:p>
            <a:pPr algn="l">
              <a:lnSpc>
                <a:spcPct val="105000"/>
              </a:lnSpc>
              <a:spcBef>
                <a:spcPts val="0"/>
              </a:spcBef>
              <a:spcAft>
                <a:spcPts val="0"/>
              </a:spcAft>
            </a:pPr>
            <a:r>
              <a:rPr sz="1800" b="0" i="0">
                <a:solidFill>
                  <a:srgbClr val="F6F1E8"/>
                </a:solidFill>
                <a:latin typeface="Arial"/>
                <a:ea typeface="Arial"/>
                <a:cs typeface="Arial"/>
              </a:rPr>
              <a:t>A continuing blink for video.</a:t>
            </a:r>
          </a:p>
          <a:p>
            <a:pPr algn="l">
              <a:lnSpc>
                <a:spcPct val="105000"/>
              </a:lnSpc>
              <a:spcBef>
                <a:spcPts val="0"/>
              </a:spcBef>
              <a:spcAft>
                <a:spcPts val="0"/>
              </a:spcAft>
            </a:pPr>
            <a:r>
              <a:rPr sz="1800" b="0" i="0">
                <a:solidFill>
                  <a:srgbClr val="F6F1E8"/>
                </a:solidFill>
                <a:latin typeface="Arial"/>
                <a:ea typeface="Arial"/>
                <a:cs typeface="Arial"/>
              </a:rPr>
              <a:t/>
            </a:r>
          </a:p>
          <a:p>
            <a:pPr algn="l">
              <a:lnSpc>
                <a:spcPct val="105000"/>
              </a:lnSpc>
              <a:spcBef>
                <a:spcPts val="0"/>
              </a:spcBef>
              <a:spcAft>
                <a:spcPts val="0"/>
              </a:spcAft>
            </a:pPr>
            <a:r>
              <a:rPr sz="1800" b="0" i="0">
                <a:solidFill>
                  <a:srgbClr val="F6F1E8"/>
                </a:solidFill>
                <a:latin typeface="Arial"/>
                <a:ea typeface="Arial"/>
                <a:cs typeface="Arial"/>
              </a:rPr>
              <a:t>A seed-sized sensor behind</a:t>
            </a:r>
          </a:p>
          <a:p>
            <a:pPr algn="l">
              <a:lnSpc>
                <a:spcPct val="105000"/>
              </a:lnSpc>
              <a:spcBef>
                <a:spcPts val="0"/>
              </a:spcBef>
              <a:spcAft>
                <a:spcPts val="0"/>
              </a:spcAft>
            </a:pPr>
            <a:r>
              <a:rPr sz="1800" b="0" i="0">
                <a:solidFill>
                  <a:srgbClr val="F6F1E8"/>
                </a:solidFill>
                <a:latin typeface="Arial"/>
                <a:ea typeface="Arial"/>
                <a:cs typeface="Arial"/>
              </a:rPr>
              <a:t>the ornament feels that blink</a:t>
            </a:r>
          </a:p>
          <a:p>
            <a:pPr algn="l">
              <a:lnSpc>
                <a:spcPct val="105000"/>
              </a:lnSpc>
              <a:spcBef>
                <a:spcPts val="0"/>
              </a:spcBef>
              <a:spcAft>
                <a:spcPts val="0"/>
              </a:spcAft>
            </a:pPr>
            <a:r>
              <a:rPr sz="1800" b="0" i="0">
                <a:solidFill>
                  <a:srgbClr val="F6F1E8"/>
                </a:solidFill>
                <a:latin typeface="Arial"/>
                <a:ea typeface="Arial"/>
                <a:cs typeface="Arial"/>
              </a:rPr>
              <a:t>and changes the tap.</a:t>
            </a:r>
          </a:p>
        </p:txBody>
      </p:sp>
      <p:sp>
        <p:nvSpPr>
          <p:cNvPr id="11" name="TextBox 10"/>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2" name="TextBox 11"/>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QUIET ON THE OUTSIDE</a:t>
            </a:r>
          </a:p>
        </p:txBody>
      </p:sp>
      <p:sp>
        <p:nvSpPr>
          <p:cNvPr id="4" name="TextBox 3"/>
          <p:cNvSpPr txBox="1"/>
          <p:nvPr/>
        </p:nvSpPr>
        <p:spPr>
          <a:xfrm>
            <a:off x="658368" y="749808"/>
            <a:ext cx="7498079" cy="1325880"/>
          </a:xfrm>
          <a:prstGeom prst="rect">
            <a:avLst/>
          </a:prstGeom>
          <a:noFill/>
        </p:spPr>
        <p:txBody>
          <a:bodyPr wrap="square" lIns="0" rIns="0" tIns="0" bIns="0" anchor="t"/>
          <a:lstStyle/>
          <a:p>
            <a:pPr algn="l">
              <a:lnSpc>
                <a:spcPct val="96000"/>
              </a:lnSpc>
              <a:spcBef>
                <a:spcPts val="0"/>
              </a:spcBef>
              <a:spcAft>
                <a:spcPts val="0"/>
              </a:spcAft>
            </a:pPr>
            <a:r>
              <a:rPr sz="3600" b="1" i="0">
                <a:solidFill>
                  <a:srgbClr val="161412"/>
                </a:solidFill>
                <a:latin typeface="Arial"/>
                <a:ea typeface="Arial"/>
                <a:cs typeface="Arial"/>
              </a:rPr>
              <a:t>The room sees jewelry.</a:t>
            </a:r>
          </a:p>
          <a:p>
            <a:pPr algn="l">
              <a:lnSpc>
                <a:spcPct val="96000"/>
              </a:lnSpc>
              <a:spcBef>
                <a:spcPts val="0"/>
              </a:spcBef>
              <a:spcAft>
                <a:spcPts val="0"/>
              </a:spcAft>
            </a:pPr>
            <a:r>
              <a:rPr sz="3600" b="1" i="0">
                <a:solidFill>
                  <a:srgbClr val="161412"/>
                </a:solidFill>
                <a:latin typeface="Arial"/>
                <a:ea typeface="Arial"/>
                <a:cs typeface="Arial"/>
              </a:rPr>
              <a:t>You feel a tap.</a:t>
            </a:r>
          </a:p>
        </p:txBody>
      </p:sp>
      <p:sp>
        <p:nvSpPr>
          <p:cNvPr id="5" name="TextBox 4"/>
          <p:cNvSpPr txBox="1"/>
          <p:nvPr/>
        </p:nvSpPr>
        <p:spPr>
          <a:xfrm>
            <a:off x="713232" y="2331720"/>
            <a:ext cx="64008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01</a:t>
            </a:r>
          </a:p>
        </p:txBody>
      </p:sp>
      <p:sp>
        <p:nvSpPr>
          <p:cNvPr id="6" name="TextBox 5"/>
          <p:cNvSpPr txBox="1"/>
          <p:nvPr/>
        </p:nvSpPr>
        <p:spPr>
          <a:xfrm>
            <a:off x="1554480" y="2313432"/>
            <a:ext cx="9144000" cy="329184"/>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 lamp on the front</a:t>
            </a:r>
          </a:p>
        </p:txBody>
      </p:sp>
      <p:sp>
        <p:nvSpPr>
          <p:cNvPr id="7" name="TextBox 6"/>
          <p:cNvSpPr txBox="1"/>
          <p:nvPr/>
        </p:nvSpPr>
        <p:spPr>
          <a:xfrm>
            <a:off x="1554480" y="2715768"/>
            <a:ext cx="9601200" cy="59436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A detector with its own light is the ugly keychain again. Opal's face is enamel and metal.</a:t>
            </a:r>
          </a:p>
        </p:txBody>
      </p:sp>
      <p:sp>
        <p:nvSpPr>
          <p:cNvPr id="8" name="TextBox 7"/>
          <p:cNvSpPr txBox="1"/>
          <p:nvPr/>
        </p:nvSpPr>
        <p:spPr>
          <a:xfrm>
            <a:off x="713232" y="3566160"/>
            <a:ext cx="64008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02</a:t>
            </a:r>
          </a:p>
        </p:txBody>
      </p:sp>
      <p:sp>
        <p:nvSpPr>
          <p:cNvPr id="9" name="TextBox 8"/>
          <p:cNvSpPr txBox="1"/>
          <p:nvPr/>
        </p:nvSpPr>
        <p:spPr>
          <a:xfrm>
            <a:off x="1554480" y="3547872"/>
            <a:ext cx="9144000" cy="329184"/>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sensor is sealed in</a:t>
            </a:r>
          </a:p>
        </p:txBody>
      </p:sp>
      <p:sp>
        <p:nvSpPr>
          <p:cNvPr id="10" name="TextBox 9"/>
          <p:cNvSpPr txBox="1"/>
          <p:nvPr/>
        </p:nvSpPr>
        <p:spPr>
          <a:xfrm>
            <a:off x="1554480" y="3950208"/>
            <a:ext cx="9601200" cy="59436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The way a watch hides its gears. From a meter away there is nothing to read.</a:t>
            </a:r>
          </a:p>
        </p:txBody>
      </p:sp>
      <p:sp>
        <p:nvSpPr>
          <p:cNvPr id="11" name="TextBox 10"/>
          <p:cNvSpPr txBox="1"/>
          <p:nvPr/>
        </p:nvSpPr>
        <p:spPr>
          <a:xfrm>
            <a:off x="713232" y="4800600"/>
            <a:ext cx="64008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03</a:t>
            </a:r>
          </a:p>
        </p:txBody>
      </p:sp>
      <p:sp>
        <p:nvSpPr>
          <p:cNvPr id="12" name="TextBox 11"/>
          <p:cNvSpPr txBox="1"/>
          <p:nvPr/>
        </p:nvSpPr>
        <p:spPr>
          <a:xfrm>
            <a:off x="1554480" y="4782312"/>
            <a:ext cx="9144000" cy="329184"/>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tap is private</a:t>
            </a:r>
          </a:p>
        </p:txBody>
      </p:sp>
      <p:sp>
        <p:nvSpPr>
          <p:cNvPr id="13" name="TextBox 12"/>
          <p:cNvSpPr txBox="1"/>
          <p:nvPr/>
        </p:nvSpPr>
        <p:spPr>
          <a:xfrm>
            <a:off x="1554480" y="5184648"/>
            <a:ext cx="9601200" cy="59436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It lands on skin, through the back of the pin or the clip. You can know, and the table can stay a table.</a:t>
            </a:r>
          </a:p>
        </p:txBody>
      </p:sp>
      <p:sp>
        <p:nvSpPr>
          <p:cNvPr id="14" name="Oval 13"/>
          <p:cNvSpPr/>
          <p:nvPr/>
        </p:nvSpPr>
        <p:spPr>
          <a:xfrm>
            <a:off x="10195560" y="384048"/>
            <a:ext cx="1132392" cy="1132392"/>
          </a:xfrm>
          <a:prstGeom prst="ellipse">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1147" y="469635"/>
            <a:ext cx="961217" cy="961217"/>
          </a:xfrm>
          <a:prstGeom prst="ellipse">
            <a:avLst/>
          </a:prstGeom>
          <a:solidFill>
            <a:srgbClr val="F7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58907" y="647395"/>
            <a:ext cx="605698" cy="605698"/>
          </a:xfrm>
          <a:prstGeom prst="ellipse">
            <a:avLst/>
          </a:prstGeom>
          <a:solidFill>
            <a:srgbClr val="E4C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656417" y="765901"/>
            <a:ext cx="144840" cy="144840"/>
          </a:xfrm>
          <a:prstGeom prst="ellipse">
            <a:avLst/>
          </a:prstGeom>
          <a:solidFill>
            <a:srgbClr val="D884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840760" y="897575"/>
            <a:ext cx="65836" cy="65836"/>
          </a:xfrm>
          <a:prstGeom prst="ellipse">
            <a:avLst/>
          </a:prstGeom>
          <a:solidFill>
            <a:srgbClr val="FF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20" name="TextBox 19"/>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10896"/>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THE SMALL DECORATIONS</a:t>
            </a:r>
          </a:p>
        </p:txBody>
      </p:sp>
      <p:sp>
        <p:nvSpPr>
          <p:cNvPr id="4" name="TextBox 3"/>
          <p:cNvSpPr txBox="1"/>
          <p:nvPr/>
        </p:nvSpPr>
        <p:spPr>
          <a:xfrm>
            <a:off x="658368" y="658368"/>
            <a:ext cx="10972800" cy="1143000"/>
          </a:xfrm>
          <a:prstGeom prst="rect">
            <a:avLst/>
          </a:prstGeom>
          <a:noFill/>
        </p:spPr>
        <p:txBody>
          <a:bodyPr wrap="square" lIns="0" rIns="0" tIns="0" bIns="0" anchor="t"/>
          <a:lstStyle/>
          <a:p>
            <a:pPr algn="l">
              <a:lnSpc>
                <a:spcPct val="96000"/>
              </a:lnSpc>
              <a:spcBef>
                <a:spcPts val="0"/>
              </a:spcBef>
              <a:spcAft>
                <a:spcPts val="0"/>
              </a:spcAft>
            </a:pPr>
            <a:r>
              <a:rPr sz="3400" b="1" i="0">
                <a:solidFill>
                  <a:srgbClr val="161412"/>
                </a:solidFill>
                <a:latin typeface="Arial"/>
                <a:ea typeface="Arial"/>
                <a:cs typeface="Arial"/>
              </a:rPr>
              <a:t>One sensor. Three things</a:t>
            </a:r>
          </a:p>
          <a:p>
            <a:pPr algn="l">
              <a:lnSpc>
                <a:spcPct val="96000"/>
              </a:lnSpc>
              <a:spcBef>
                <a:spcPts val="0"/>
              </a:spcBef>
              <a:spcAft>
                <a:spcPts val="0"/>
              </a:spcAft>
            </a:pPr>
            <a:r>
              <a:rPr sz="3400" b="1" i="0">
                <a:solidFill>
                  <a:srgbClr val="161412"/>
                </a:solidFill>
                <a:latin typeface="Arial"/>
                <a:ea typeface="Arial"/>
                <a:cs typeface="Arial"/>
              </a:rPr>
              <a:t>you would actually wear.</a:t>
            </a:r>
          </a:p>
        </p:txBody>
      </p:sp>
      <p:sp>
        <p:nvSpPr>
          <p:cNvPr id="5" name="Oval 4"/>
          <p:cNvSpPr/>
          <p:nvPr/>
        </p:nvSpPr>
        <p:spPr>
          <a:xfrm>
            <a:off x="1417320" y="2148840"/>
            <a:ext cx="1808683" cy="1808683"/>
          </a:xfrm>
          <a:prstGeom prst="ellipse">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54022" y="2285542"/>
            <a:ext cx="1535277" cy="1535277"/>
          </a:xfrm>
          <a:prstGeom prst="ellipse">
            <a:avLst/>
          </a:prstGeom>
          <a:solidFill>
            <a:srgbClr val="F7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37943" y="2569464"/>
            <a:ext cx="967435" cy="967435"/>
          </a:xfrm>
          <a:prstGeom prst="ellipse">
            <a:avLst/>
          </a:prstGeom>
          <a:solidFill>
            <a:srgbClr val="E4C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153412" y="2758744"/>
            <a:ext cx="231343" cy="231343"/>
          </a:xfrm>
          <a:prstGeom prst="ellipse">
            <a:avLst/>
          </a:prstGeom>
          <a:solidFill>
            <a:srgbClr val="D884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447848" y="2969056"/>
            <a:ext cx="105155" cy="105155"/>
          </a:xfrm>
          <a:prstGeom prst="ellipse">
            <a:avLst/>
          </a:prstGeom>
          <a:solidFill>
            <a:srgbClr val="FF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92040" y="2920593"/>
            <a:ext cx="2359151" cy="241401"/>
          </a:xfrm>
          <a:prstGeom prst="roundRect">
            <a:avLst>
              <a:gd name="adj" fmla="val 50000"/>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199278" y="2437790"/>
            <a:ext cx="1042415" cy="1207008"/>
          </a:xfrm>
          <a:prstGeom prst="ellipse">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309006" y="2569464"/>
            <a:ext cx="822959" cy="943660"/>
          </a:xfrm>
          <a:prstGeom prst="ellipse">
            <a:avLst/>
          </a:prstGeom>
          <a:solidFill>
            <a:srgbClr val="F7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95544" y="2766974"/>
            <a:ext cx="438912" cy="526694"/>
          </a:xfrm>
          <a:prstGeom prst="ellipse">
            <a:avLst/>
          </a:prstGeom>
          <a:solidFill>
            <a:srgbClr val="E4C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38190" y="2898648"/>
            <a:ext cx="131673" cy="131673"/>
          </a:xfrm>
          <a:prstGeom prst="ellipse">
            <a:avLst/>
          </a:prstGeom>
          <a:solidFill>
            <a:srgbClr val="D884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4388" y="2057400"/>
            <a:ext cx="651967" cy="651967"/>
          </a:xfrm>
          <a:prstGeom prst="ellipse">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222638" y="2225649"/>
            <a:ext cx="315468" cy="315468"/>
          </a:xfrm>
          <a:prstGeom prst="ellipse">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06763" y="2604211"/>
            <a:ext cx="147218" cy="231343"/>
          </a:xfrm>
          <a:prstGeom prst="roundRect">
            <a:avLst>
              <a:gd name="adj" fmla="val 40000"/>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844076" y="2772460"/>
            <a:ext cx="1104138" cy="1282903"/>
          </a:xfrm>
          <a:prstGeom prst="ellipse">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70263" y="2898648"/>
            <a:ext cx="851763" cy="1030528"/>
          </a:xfrm>
          <a:prstGeom prst="ellipse">
            <a:avLst/>
          </a:prstGeom>
          <a:solidFill>
            <a:srgbClr val="F7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59544" y="3108960"/>
            <a:ext cx="462686" cy="546811"/>
          </a:xfrm>
          <a:prstGeom prst="ellipse">
            <a:avLst/>
          </a:prstGeom>
          <a:solidFill>
            <a:srgbClr val="E4C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06763" y="3277209"/>
            <a:ext cx="126187" cy="126187"/>
          </a:xfrm>
          <a:prstGeom prst="ellipse">
            <a:avLst/>
          </a:prstGeom>
          <a:solidFill>
            <a:srgbClr val="D884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297680"/>
            <a:ext cx="3291840" cy="320040"/>
          </a:xfrm>
          <a:prstGeom prst="rect">
            <a:avLst/>
          </a:prstGeom>
          <a:noFill/>
        </p:spPr>
        <p:txBody>
          <a:bodyPr wrap="square" lIns="0" rIns="0" tIns="0" bIns="0" anchor="t"/>
          <a:lstStyle/>
          <a:p>
            <a:pPr algn="ctr">
              <a:lnSpc>
                <a:spcPct val="100000"/>
              </a:lnSpc>
              <a:spcBef>
                <a:spcPts val="0"/>
              </a:spcBef>
              <a:spcAft>
                <a:spcPts val="0"/>
              </a:spcAft>
            </a:pPr>
            <a:r>
              <a:rPr sz="1400" b="1" i="0" spc="140">
                <a:solidFill>
                  <a:srgbClr val="8A5E32"/>
                </a:solidFill>
                <a:latin typeface="Arial"/>
                <a:ea typeface="Arial"/>
                <a:cs typeface="Arial"/>
              </a:rPr>
              <a:t>PIN</a:t>
            </a:r>
          </a:p>
        </p:txBody>
      </p:sp>
      <p:sp>
        <p:nvSpPr>
          <p:cNvPr id="23" name="TextBox 22"/>
          <p:cNvSpPr txBox="1"/>
          <p:nvPr/>
        </p:nvSpPr>
        <p:spPr>
          <a:xfrm>
            <a:off x="640080" y="4663440"/>
            <a:ext cx="3291840" cy="1051560"/>
          </a:xfrm>
          <a:prstGeom prst="rect">
            <a:avLst/>
          </a:prstGeom>
          <a:noFill/>
        </p:spPr>
        <p:txBody>
          <a:bodyPr wrap="square" lIns="0" rIns="0" tIns="0" bIns="0" anchor="t"/>
          <a:lstStyle/>
          <a:p>
            <a:pPr algn="ctr">
              <a:lnSpc>
                <a:spcPct val="105000"/>
              </a:lnSpc>
              <a:spcBef>
                <a:spcPts val="0"/>
              </a:spcBef>
              <a:spcAft>
                <a:spcPts val="0"/>
              </a:spcAft>
            </a:pPr>
            <a:r>
              <a:rPr sz="1500" b="0" i="0">
                <a:solidFill>
                  <a:srgbClr val="161412"/>
                </a:solidFill>
                <a:latin typeface="Arial"/>
                <a:ea typeface="Arial"/>
                <a:cs typeface="Arial"/>
              </a:rPr>
              <a:t>On a jacket or a collar.</a:t>
            </a:r>
          </a:p>
          <a:p>
            <a:pPr algn="ctr">
              <a:lnSpc>
                <a:spcPct val="105000"/>
              </a:lnSpc>
              <a:spcBef>
                <a:spcPts val="0"/>
              </a:spcBef>
              <a:spcAft>
                <a:spcPts val="0"/>
              </a:spcAft>
            </a:pPr>
            <a:r>
              <a:rPr sz="1500" b="0" i="0">
                <a:solidFill>
                  <a:srgbClr val="161412"/>
                </a:solidFill>
                <a:latin typeface="Arial"/>
                <a:ea typeface="Arial"/>
                <a:cs typeface="Arial"/>
              </a:rPr>
              <a:t>The face toward the room.</a:t>
            </a:r>
          </a:p>
          <a:p>
            <a:pPr algn="ctr">
              <a:lnSpc>
                <a:spcPct val="105000"/>
              </a:lnSpc>
              <a:spcBef>
                <a:spcPts val="0"/>
              </a:spcBef>
              <a:spcAft>
                <a:spcPts val="0"/>
              </a:spcAft>
            </a:pPr>
            <a:r>
              <a:rPr sz="1500" b="0" i="0">
                <a:solidFill>
                  <a:srgbClr val="161412"/>
                </a:solidFill>
                <a:latin typeface="Arial"/>
                <a:ea typeface="Arial"/>
                <a:cs typeface="Arial"/>
              </a:rPr>
              <a:t>The tap on the chest.</a:t>
            </a:r>
          </a:p>
        </p:txBody>
      </p:sp>
      <p:sp>
        <p:nvSpPr>
          <p:cNvPr id="24" name="TextBox 23"/>
          <p:cNvSpPr txBox="1"/>
          <p:nvPr/>
        </p:nvSpPr>
        <p:spPr>
          <a:xfrm>
            <a:off x="4434840" y="4297680"/>
            <a:ext cx="3291840" cy="320040"/>
          </a:xfrm>
          <a:prstGeom prst="rect">
            <a:avLst/>
          </a:prstGeom>
          <a:noFill/>
        </p:spPr>
        <p:txBody>
          <a:bodyPr wrap="square" lIns="0" rIns="0" tIns="0" bIns="0" anchor="t"/>
          <a:lstStyle/>
          <a:p>
            <a:pPr algn="ctr">
              <a:lnSpc>
                <a:spcPct val="100000"/>
              </a:lnSpc>
              <a:spcBef>
                <a:spcPts val="0"/>
              </a:spcBef>
              <a:spcAft>
                <a:spcPts val="0"/>
              </a:spcAft>
            </a:pPr>
            <a:r>
              <a:rPr sz="1400" b="1" i="0" spc="140">
                <a:solidFill>
                  <a:srgbClr val="8A5E32"/>
                </a:solidFill>
                <a:latin typeface="Arial"/>
                <a:ea typeface="Arial"/>
                <a:cs typeface="Arial"/>
              </a:rPr>
              <a:t>CLIP</a:t>
            </a:r>
          </a:p>
        </p:txBody>
      </p:sp>
      <p:sp>
        <p:nvSpPr>
          <p:cNvPr id="25" name="TextBox 24"/>
          <p:cNvSpPr txBox="1"/>
          <p:nvPr/>
        </p:nvSpPr>
        <p:spPr>
          <a:xfrm>
            <a:off x="4434840" y="4663440"/>
            <a:ext cx="3291840" cy="1051560"/>
          </a:xfrm>
          <a:prstGeom prst="rect">
            <a:avLst/>
          </a:prstGeom>
          <a:noFill/>
        </p:spPr>
        <p:txBody>
          <a:bodyPr wrap="square" lIns="0" rIns="0" tIns="0" bIns="0" anchor="t"/>
          <a:lstStyle/>
          <a:p>
            <a:pPr algn="ctr">
              <a:lnSpc>
                <a:spcPct val="105000"/>
              </a:lnSpc>
              <a:spcBef>
                <a:spcPts val="0"/>
              </a:spcBef>
              <a:spcAft>
                <a:spcPts val="0"/>
              </a:spcAft>
            </a:pPr>
            <a:r>
              <a:rPr sz="1500" b="0" i="0">
                <a:solidFill>
                  <a:srgbClr val="161412"/>
                </a:solidFill>
                <a:latin typeface="Arial"/>
                <a:ea typeface="Arial"/>
                <a:cs typeface="Arial"/>
              </a:rPr>
              <a:t>In the hair, or on a strap.</a:t>
            </a:r>
          </a:p>
          <a:p>
            <a:pPr algn="ctr">
              <a:lnSpc>
                <a:spcPct val="105000"/>
              </a:lnSpc>
              <a:spcBef>
                <a:spcPts val="0"/>
              </a:spcBef>
              <a:spcAft>
                <a:spcPts val="0"/>
              </a:spcAft>
            </a:pPr>
            <a:r>
              <a:rPr sz="1500" b="0" i="0">
                <a:solidFill>
                  <a:srgbClr val="161412"/>
                </a:solidFill>
                <a:latin typeface="Arial"/>
                <a:ea typeface="Arial"/>
                <a:cs typeface="Arial"/>
              </a:rPr>
              <a:t>Already part of getting dressed.</a:t>
            </a:r>
          </a:p>
          <a:p>
            <a:pPr algn="ctr">
              <a:lnSpc>
                <a:spcPct val="105000"/>
              </a:lnSpc>
              <a:spcBef>
                <a:spcPts val="0"/>
              </a:spcBef>
              <a:spcAft>
                <a:spcPts val="0"/>
              </a:spcAft>
            </a:pPr>
            <a:r>
              <a:rPr sz="1500" b="0" i="0">
                <a:solidFill>
                  <a:srgbClr val="161412"/>
                </a:solidFill>
                <a:latin typeface="Arial"/>
                <a:ea typeface="Arial"/>
                <a:cs typeface="Arial"/>
              </a:rPr>
              <a:t>Nothing new to remember.</a:t>
            </a:r>
          </a:p>
        </p:txBody>
      </p:sp>
      <p:sp>
        <p:nvSpPr>
          <p:cNvPr id="26" name="TextBox 25"/>
          <p:cNvSpPr txBox="1"/>
          <p:nvPr/>
        </p:nvSpPr>
        <p:spPr>
          <a:xfrm>
            <a:off x="8229600" y="4297680"/>
            <a:ext cx="3291840" cy="320040"/>
          </a:xfrm>
          <a:prstGeom prst="rect">
            <a:avLst/>
          </a:prstGeom>
          <a:noFill/>
        </p:spPr>
        <p:txBody>
          <a:bodyPr wrap="square" lIns="0" rIns="0" tIns="0" bIns="0" anchor="t"/>
          <a:lstStyle/>
          <a:p>
            <a:pPr algn="ctr">
              <a:lnSpc>
                <a:spcPct val="100000"/>
              </a:lnSpc>
              <a:spcBef>
                <a:spcPts val="0"/>
              </a:spcBef>
              <a:spcAft>
                <a:spcPts val="0"/>
              </a:spcAft>
            </a:pPr>
            <a:r>
              <a:rPr sz="1400" b="1" i="0" spc="140">
                <a:solidFill>
                  <a:srgbClr val="8A5E32"/>
                </a:solidFill>
                <a:latin typeface="Arial"/>
                <a:ea typeface="Arial"/>
                <a:cs typeface="Arial"/>
              </a:rPr>
              <a:t>CHARM</a:t>
            </a:r>
          </a:p>
        </p:txBody>
      </p:sp>
      <p:sp>
        <p:nvSpPr>
          <p:cNvPr id="27" name="TextBox 26"/>
          <p:cNvSpPr txBox="1"/>
          <p:nvPr/>
        </p:nvSpPr>
        <p:spPr>
          <a:xfrm>
            <a:off x="8229600" y="4663440"/>
            <a:ext cx="3291840" cy="1051560"/>
          </a:xfrm>
          <a:prstGeom prst="rect">
            <a:avLst/>
          </a:prstGeom>
          <a:noFill/>
        </p:spPr>
        <p:txBody>
          <a:bodyPr wrap="square" lIns="0" rIns="0" tIns="0" bIns="0" anchor="t"/>
          <a:lstStyle/>
          <a:p>
            <a:pPr algn="ctr">
              <a:lnSpc>
                <a:spcPct val="105000"/>
              </a:lnSpc>
              <a:spcBef>
                <a:spcPts val="0"/>
              </a:spcBef>
              <a:spcAft>
                <a:spcPts val="0"/>
              </a:spcAft>
            </a:pPr>
            <a:r>
              <a:rPr sz="1500" b="0" i="0">
                <a:solidFill>
                  <a:srgbClr val="161412"/>
                </a:solidFill>
                <a:latin typeface="Arial"/>
                <a:ea typeface="Arial"/>
                <a:cs typeface="Arial"/>
              </a:rPr>
              <a:t>On the bag you set down.</a:t>
            </a:r>
          </a:p>
          <a:p>
            <a:pPr algn="ctr">
              <a:lnSpc>
                <a:spcPct val="105000"/>
              </a:lnSpc>
              <a:spcBef>
                <a:spcPts val="0"/>
              </a:spcBef>
              <a:spcAft>
                <a:spcPts val="0"/>
              </a:spcAft>
            </a:pPr>
            <a:r>
              <a:rPr sz="1500" b="0" i="0">
                <a:solidFill>
                  <a:srgbClr val="161412"/>
                </a:solidFill>
                <a:latin typeface="Arial"/>
                <a:ea typeface="Arial"/>
                <a:cs typeface="Arial"/>
              </a:rPr>
              <a:t>It stays out while the phone</a:t>
            </a:r>
          </a:p>
          <a:p>
            <a:pPr algn="ctr">
              <a:lnSpc>
                <a:spcPct val="105000"/>
              </a:lnSpc>
              <a:spcBef>
                <a:spcPts val="0"/>
              </a:spcBef>
              <a:spcAft>
                <a:spcPts val="0"/>
              </a:spcAft>
            </a:pPr>
            <a:r>
              <a:rPr sz="1500" b="0" i="0">
                <a:solidFill>
                  <a:srgbClr val="161412"/>
                </a:solidFill>
                <a:latin typeface="Arial"/>
                <a:ea typeface="Arial"/>
                <a:cs typeface="Arial"/>
              </a:rPr>
              <a:t>goes face up and useless.</a:t>
            </a:r>
          </a:p>
        </p:txBody>
      </p:sp>
      <p:sp>
        <p:nvSpPr>
          <p:cNvPr id="28" name="TextBox 27"/>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29" name="TextBox 28"/>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WHY A DECORATION WINS</a:t>
            </a:r>
          </a:p>
        </p:txBody>
      </p:sp>
      <p:sp>
        <p:nvSpPr>
          <p:cNvPr id="4" name="TextBox 3"/>
          <p:cNvSpPr txBox="1"/>
          <p:nvPr/>
        </p:nvSpPr>
        <p:spPr>
          <a:xfrm>
            <a:off x="658368" y="777240"/>
            <a:ext cx="10972800" cy="1188720"/>
          </a:xfrm>
          <a:prstGeom prst="rect">
            <a:avLst/>
          </a:prstGeom>
          <a:noFill/>
        </p:spPr>
        <p:txBody>
          <a:bodyPr wrap="square" lIns="0" rIns="0" tIns="0" bIns="0" anchor="t"/>
          <a:lstStyle/>
          <a:p>
            <a:pPr algn="l">
              <a:lnSpc>
                <a:spcPct val="98000"/>
              </a:lnSpc>
              <a:spcBef>
                <a:spcPts val="0"/>
              </a:spcBef>
              <a:spcAft>
                <a:spcPts val="0"/>
              </a:spcAft>
            </a:pPr>
            <a:r>
              <a:rPr sz="3200" b="1" i="0">
                <a:solidFill>
                  <a:srgbClr val="161412"/>
                </a:solidFill>
                <a:latin typeface="Arial"/>
                <a:ea typeface="Arial"/>
                <a:cs typeface="Arial"/>
              </a:rPr>
              <a:t>The useful object is the one</a:t>
            </a:r>
          </a:p>
          <a:p>
            <a:pPr algn="l">
              <a:lnSpc>
                <a:spcPct val="98000"/>
              </a:lnSpc>
              <a:spcBef>
                <a:spcPts val="0"/>
              </a:spcBef>
              <a:spcAft>
                <a:spcPts val="0"/>
              </a:spcAft>
            </a:pPr>
            <a:r>
              <a:rPr sz="3200" b="1" i="0">
                <a:solidFill>
                  <a:srgbClr val="161412"/>
                </a:solidFill>
                <a:latin typeface="Arial"/>
                <a:ea typeface="Arial"/>
                <a:cs typeface="Arial"/>
              </a:rPr>
              <a:t>you were going to wear anyway.</a:t>
            </a:r>
          </a:p>
        </p:txBody>
      </p:sp>
      <p:sp>
        <p:nvSpPr>
          <p:cNvPr id="5" name="TextBox 4"/>
          <p:cNvSpPr txBox="1"/>
          <p:nvPr/>
        </p:nvSpPr>
        <p:spPr>
          <a:xfrm>
            <a:off x="658368" y="2286000"/>
            <a:ext cx="73152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01</a:t>
            </a:r>
          </a:p>
        </p:txBody>
      </p:sp>
      <p:sp>
        <p:nvSpPr>
          <p:cNvPr id="6" name="TextBox 5"/>
          <p:cNvSpPr txBox="1"/>
          <p:nvPr/>
        </p:nvSpPr>
        <p:spPr>
          <a:xfrm>
            <a:off x="1481328" y="2267712"/>
            <a:ext cx="45720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phone</a:t>
            </a:r>
          </a:p>
        </p:txBody>
      </p:sp>
      <p:sp>
        <p:nvSpPr>
          <p:cNvPr id="7" name="TextBox 6"/>
          <p:cNvSpPr txBox="1"/>
          <p:nvPr/>
        </p:nvSpPr>
        <p:spPr>
          <a:xfrm>
            <a:off x="1481328" y="2743200"/>
            <a:ext cx="4572000" cy="1051560"/>
          </a:xfrm>
          <a:prstGeom prst="rect">
            <a:avLst/>
          </a:prstGeom>
          <a:noFill/>
        </p:spPr>
        <p:txBody>
          <a:bodyPr wrap="square" lIns="0" rIns="0" tIns="0" bIns="0" anchor="t"/>
          <a:lstStyle/>
          <a:p>
            <a:pPr algn="l">
              <a:lnSpc>
                <a:spcPct val="105000"/>
              </a:lnSpc>
              <a:spcBef>
                <a:spcPts val="0"/>
              </a:spcBef>
              <a:spcAft>
                <a:spcPts val="0"/>
              </a:spcAft>
            </a:pPr>
            <a:r>
              <a:rPr sz="1600" b="0" i="0">
                <a:solidFill>
                  <a:srgbClr val="6F685E"/>
                </a:solidFill>
                <a:latin typeface="Arial"/>
                <a:ea typeface="Arial"/>
                <a:cs typeface="Arial"/>
              </a:rPr>
              <a:t>Right computer. Wrong moment. It was on the table, and looking at it meant leaving the conversation.</a:t>
            </a:r>
          </a:p>
        </p:txBody>
      </p:sp>
      <p:sp>
        <p:nvSpPr>
          <p:cNvPr id="8" name="TextBox 7"/>
          <p:cNvSpPr txBox="1"/>
          <p:nvPr/>
        </p:nvSpPr>
        <p:spPr>
          <a:xfrm>
            <a:off x="6419088" y="2286000"/>
            <a:ext cx="73152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02</a:t>
            </a:r>
          </a:p>
        </p:txBody>
      </p:sp>
      <p:sp>
        <p:nvSpPr>
          <p:cNvPr id="9" name="TextBox 8"/>
          <p:cNvSpPr txBox="1"/>
          <p:nvPr/>
        </p:nvSpPr>
        <p:spPr>
          <a:xfrm>
            <a:off x="7242048" y="2267712"/>
            <a:ext cx="45720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keychain</a:t>
            </a:r>
          </a:p>
        </p:txBody>
      </p:sp>
      <p:sp>
        <p:nvSpPr>
          <p:cNvPr id="10" name="TextBox 9"/>
          <p:cNvSpPr txBox="1"/>
          <p:nvPr/>
        </p:nvSpPr>
        <p:spPr>
          <a:xfrm>
            <a:off x="7242048" y="2743200"/>
            <a:ext cx="4572000" cy="1051560"/>
          </a:xfrm>
          <a:prstGeom prst="rect">
            <a:avLst/>
          </a:prstGeom>
          <a:noFill/>
        </p:spPr>
        <p:txBody>
          <a:bodyPr wrap="square" lIns="0" rIns="0" tIns="0" bIns="0" anchor="t"/>
          <a:lstStyle/>
          <a:p>
            <a:pPr algn="l">
              <a:lnSpc>
                <a:spcPct val="105000"/>
              </a:lnSpc>
              <a:spcBef>
                <a:spcPts val="0"/>
              </a:spcBef>
              <a:spcAft>
                <a:spcPts val="0"/>
              </a:spcAft>
            </a:pPr>
            <a:r>
              <a:rPr sz="1600" b="0" i="0">
                <a:solidFill>
                  <a:srgbClr val="6F685E"/>
                </a:solidFill>
                <a:latin typeface="Arial"/>
                <a:ea typeface="Arial"/>
                <a:cs typeface="Arial"/>
              </a:rPr>
              <a:t>Right job. Wrong finish. It advertised itself, so it lived in a drawer.</a:t>
            </a:r>
          </a:p>
        </p:txBody>
      </p:sp>
      <p:sp>
        <p:nvSpPr>
          <p:cNvPr id="11" name="TextBox 10"/>
          <p:cNvSpPr txBox="1"/>
          <p:nvPr/>
        </p:nvSpPr>
        <p:spPr>
          <a:xfrm>
            <a:off x="658368" y="4160520"/>
            <a:ext cx="73152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03</a:t>
            </a:r>
          </a:p>
        </p:txBody>
      </p:sp>
      <p:sp>
        <p:nvSpPr>
          <p:cNvPr id="12" name="TextBox 11"/>
          <p:cNvSpPr txBox="1"/>
          <p:nvPr/>
        </p:nvSpPr>
        <p:spPr>
          <a:xfrm>
            <a:off x="1481328" y="4142232"/>
            <a:ext cx="45720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LED on the frame</a:t>
            </a:r>
          </a:p>
        </p:txBody>
      </p:sp>
      <p:sp>
        <p:nvSpPr>
          <p:cNvPr id="13" name="TextBox 12"/>
          <p:cNvSpPr txBox="1"/>
          <p:nvPr/>
        </p:nvSpPr>
        <p:spPr>
          <a:xfrm>
            <a:off x="1481328" y="4617720"/>
            <a:ext cx="4572000" cy="1051560"/>
          </a:xfrm>
          <a:prstGeom prst="rect">
            <a:avLst/>
          </a:prstGeom>
          <a:noFill/>
        </p:spPr>
        <p:txBody>
          <a:bodyPr wrap="square" lIns="0" rIns="0" tIns="0" bIns="0" anchor="t"/>
          <a:lstStyle/>
          <a:p>
            <a:pPr algn="l">
              <a:lnSpc>
                <a:spcPct val="105000"/>
              </a:lnSpc>
              <a:spcBef>
                <a:spcPts val="0"/>
              </a:spcBef>
              <a:spcAft>
                <a:spcPts val="0"/>
              </a:spcAft>
            </a:pPr>
            <a:r>
              <a:rPr sz="1600" b="0" i="0">
                <a:solidFill>
                  <a:srgbClr val="6F685E"/>
                </a:solidFill>
                <a:latin typeface="Arial"/>
                <a:ea typeface="Arial"/>
                <a:cs typeface="Arial"/>
              </a:rPr>
              <a:t>Right idea. It sits on the wearer. You get it only if you are looking at the temple.</a:t>
            </a:r>
          </a:p>
        </p:txBody>
      </p:sp>
      <p:sp>
        <p:nvSpPr>
          <p:cNvPr id="14" name="TextBox 13"/>
          <p:cNvSpPr txBox="1"/>
          <p:nvPr/>
        </p:nvSpPr>
        <p:spPr>
          <a:xfrm>
            <a:off x="6419088" y="4160520"/>
            <a:ext cx="73152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04</a:t>
            </a:r>
          </a:p>
        </p:txBody>
      </p:sp>
      <p:sp>
        <p:nvSpPr>
          <p:cNvPr id="15" name="TextBox 14"/>
          <p:cNvSpPr txBox="1"/>
          <p:nvPr/>
        </p:nvSpPr>
        <p:spPr>
          <a:xfrm>
            <a:off x="7242048" y="4142232"/>
            <a:ext cx="45720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ornament</a:t>
            </a:r>
          </a:p>
        </p:txBody>
      </p:sp>
      <p:sp>
        <p:nvSpPr>
          <p:cNvPr id="16" name="TextBox 15"/>
          <p:cNvSpPr txBox="1"/>
          <p:nvPr/>
        </p:nvSpPr>
        <p:spPr>
          <a:xfrm>
            <a:off x="7242048" y="4617720"/>
            <a:ext cx="4572000" cy="1051560"/>
          </a:xfrm>
          <a:prstGeom prst="rect">
            <a:avLst/>
          </a:prstGeom>
          <a:noFill/>
        </p:spPr>
        <p:txBody>
          <a:bodyPr wrap="square" lIns="0" rIns="0" tIns="0" bIns="0" anchor="t"/>
          <a:lstStyle/>
          <a:p>
            <a:pPr algn="l">
              <a:lnSpc>
                <a:spcPct val="105000"/>
              </a:lnSpc>
              <a:spcBef>
                <a:spcPts val="0"/>
              </a:spcBef>
              <a:spcAft>
                <a:spcPts val="0"/>
              </a:spcAft>
            </a:pPr>
            <a:r>
              <a:rPr sz="1600" b="0" i="0">
                <a:solidFill>
                  <a:srgbClr val="6F685E"/>
                </a:solidFill>
                <a:latin typeface="Arial"/>
                <a:ea typeface="Arial"/>
                <a:cs typeface="Arial"/>
              </a:rPr>
              <a:t>Already on you. Already allowed in the room. The signal arrives where you can feel it.</a:t>
            </a:r>
          </a:p>
        </p:txBody>
      </p:sp>
      <p:sp>
        <p:nvSpPr>
          <p:cNvPr id="17" name="TextBox 16"/>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WHAT YOU FEEL</a:t>
            </a:r>
          </a:p>
        </p:txBody>
      </p:sp>
      <p:sp>
        <p:nvSpPr>
          <p:cNvPr id="4" name="TextBox 3"/>
          <p:cNvSpPr txBox="1"/>
          <p:nvPr/>
        </p:nvSpPr>
        <p:spPr>
          <a:xfrm>
            <a:off x="658368" y="777240"/>
            <a:ext cx="10972800" cy="1188720"/>
          </a:xfrm>
          <a:prstGeom prst="rect">
            <a:avLst/>
          </a:prstGeom>
          <a:noFill/>
        </p:spPr>
        <p:txBody>
          <a:bodyPr wrap="square" lIns="0" rIns="0" tIns="0" bIns="0" anchor="t"/>
          <a:lstStyle/>
          <a:p>
            <a:pPr algn="l">
              <a:lnSpc>
                <a:spcPct val="96000"/>
              </a:lnSpc>
              <a:spcBef>
                <a:spcPts val="0"/>
              </a:spcBef>
              <a:spcAft>
                <a:spcPts val="0"/>
              </a:spcAft>
            </a:pPr>
            <a:r>
              <a:rPr sz="4000" b="1" i="0">
                <a:solidFill>
                  <a:srgbClr val="161412"/>
                </a:solidFill>
                <a:latin typeface="Arial"/>
                <a:ea typeface="Arial"/>
                <a:cs typeface="Arial"/>
              </a:rPr>
              <a:t>Idle is a tap.</a:t>
            </a:r>
          </a:p>
          <a:p>
            <a:pPr algn="l">
              <a:lnSpc>
                <a:spcPct val="96000"/>
              </a:lnSpc>
              <a:spcBef>
                <a:spcPts val="0"/>
              </a:spcBef>
              <a:spcAft>
                <a:spcPts val="0"/>
              </a:spcAft>
            </a:pPr>
            <a:r>
              <a:rPr sz="4000" b="1" i="0">
                <a:solidFill>
                  <a:srgbClr val="161412"/>
                </a:solidFill>
                <a:latin typeface="Arial"/>
                <a:ea typeface="Arial"/>
                <a:cs typeface="Arial"/>
              </a:rPr>
              <a:t>Capturing stays.</a:t>
            </a:r>
          </a:p>
        </p:txBody>
      </p:sp>
      <p:sp>
        <p:nvSpPr>
          <p:cNvPr id="5" name="Rounded Rectangle 4"/>
          <p:cNvSpPr/>
          <p:nvPr/>
        </p:nvSpPr>
        <p:spPr>
          <a:xfrm>
            <a:off x="658368" y="2331720"/>
            <a:ext cx="5349240" cy="35204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0" y="2331720"/>
            <a:ext cx="5303520" cy="35204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4846320" cy="274320"/>
          </a:xfrm>
          <a:prstGeom prst="rect">
            <a:avLst/>
          </a:prstGeom>
          <a:noFill/>
        </p:spPr>
        <p:txBody>
          <a:bodyPr wrap="square" lIns="0" rIns="0" tIns="0" bIns="0" anchor="t"/>
          <a:lstStyle/>
          <a:p>
            <a:pPr algn="l">
              <a:lnSpc>
                <a:spcPct val="100000"/>
              </a:lnSpc>
              <a:spcBef>
                <a:spcPts val="0"/>
              </a:spcBef>
              <a:spcAft>
                <a:spcPts val="0"/>
              </a:spcAft>
            </a:pPr>
            <a:r>
              <a:rPr sz="1300" b="1" i="0" spc="140">
                <a:solidFill>
                  <a:srgbClr val="8A5E32"/>
                </a:solidFill>
                <a:latin typeface="Arial"/>
                <a:ea typeface="Arial"/>
                <a:cs typeface="Arial"/>
              </a:rPr>
              <a:t>ONE SOFT TAP</a:t>
            </a:r>
          </a:p>
        </p:txBody>
      </p:sp>
      <p:sp>
        <p:nvSpPr>
          <p:cNvPr id="8" name="TextBox 7"/>
          <p:cNvSpPr txBox="1"/>
          <p:nvPr/>
        </p:nvSpPr>
        <p:spPr>
          <a:xfrm>
            <a:off x="914400" y="3017520"/>
            <a:ext cx="4754880" cy="45720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Glasses arrived.</a:t>
            </a:r>
          </a:p>
        </p:txBody>
      </p:sp>
      <p:sp>
        <p:nvSpPr>
          <p:cNvPr id="9" name="TextBox 8"/>
          <p:cNvSpPr txBox="1"/>
          <p:nvPr/>
        </p:nvSpPr>
        <p:spPr>
          <a:xfrm>
            <a:off x="914400" y="3703320"/>
            <a:ext cx="4754880" cy="1645920"/>
          </a:xfrm>
          <a:prstGeom prst="rect">
            <a:avLst/>
          </a:prstGeom>
          <a:noFill/>
        </p:spPr>
        <p:txBody>
          <a:bodyPr wrap="square" lIns="0" rIns="0" tIns="0" bIns="0" anchor="t"/>
          <a:lstStyle/>
          <a:p>
            <a:pPr algn="l">
              <a:lnSpc>
                <a:spcPct val="108000"/>
              </a:lnSpc>
              <a:spcBef>
                <a:spcPts val="0"/>
              </a:spcBef>
              <a:spcAft>
                <a:spcPts val="0"/>
              </a:spcAft>
            </a:pPr>
            <a:r>
              <a:rPr sz="1800" b="0" i="0">
                <a:solidFill>
                  <a:srgbClr val="6F685E"/>
                </a:solidFill>
                <a:latin typeface="Arial"/>
                <a:ea typeface="Arial"/>
                <a:cs typeface="Arial"/>
              </a:rPr>
              <a:t>A pair of Meta glasses came into</a:t>
            </a:r>
          </a:p>
          <a:p>
            <a:pPr algn="l">
              <a:lnSpc>
                <a:spcPct val="108000"/>
              </a:lnSpc>
              <a:spcBef>
                <a:spcPts val="0"/>
              </a:spcBef>
              <a:spcAft>
                <a:spcPts val="0"/>
              </a:spcAft>
            </a:pPr>
            <a:r>
              <a:rPr sz="1800" b="0" i="0">
                <a:solidFill>
                  <a:srgbClr val="6F685E"/>
                </a:solidFill>
                <a:latin typeface="Arial"/>
                <a:ea typeface="Arial"/>
                <a:cs typeface="Arial"/>
              </a:rPr>
              <a:t>the conversation. Then silence.</a:t>
            </a:r>
          </a:p>
          <a:p>
            <a:pPr algn="l">
              <a:lnSpc>
                <a:spcPct val="108000"/>
              </a:lnSpc>
              <a:spcBef>
                <a:spcPts val="0"/>
              </a:spcBef>
              <a:spcAft>
                <a:spcPts val="0"/>
              </a:spcAft>
            </a:pPr>
            <a:r>
              <a:rPr sz="1800" b="0" i="0">
                <a:solidFill>
                  <a:srgbClr val="6F685E"/>
                </a:solidFill>
                <a:latin typeface="Arial"/>
                <a:ea typeface="Arial"/>
                <a:cs typeface="Arial"/>
              </a:rPr>
              <a:t>A room full of them cannot</a:t>
            </a:r>
          </a:p>
          <a:p>
            <a:pPr algn="l">
              <a:lnSpc>
                <a:spcPct val="108000"/>
              </a:lnSpc>
              <a:spcBef>
                <a:spcPts val="0"/>
              </a:spcBef>
              <a:spcAft>
                <a:spcPts val="0"/>
              </a:spcAft>
            </a:pPr>
            <a:r>
              <a:rPr sz="1800" b="0" i="0">
                <a:solidFill>
                  <a:srgbClr val="6F685E"/>
                </a:solidFill>
                <a:latin typeface="Arial"/>
                <a:ea typeface="Arial"/>
                <a:cs typeface="Arial"/>
              </a:rPr>
              <a:t>buzz for an hour.</a:t>
            </a:r>
          </a:p>
        </p:txBody>
      </p:sp>
      <p:sp>
        <p:nvSpPr>
          <p:cNvPr id="10" name="TextBox 9"/>
          <p:cNvSpPr txBox="1"/>
          <p:nvPr/>
        </p:nvSpPr>
        <p:spPr>
          <a:xfrm>
            <a:off x="6473952" y="2560320"/>
            <a:ext cx="4754880" cy="274320"/>
          </a:xfrm>
          <a:prstGeom prst="rect">
            <a:avLst/>
          </a:prstGeom>
          <a:noFill/>
        </p:spPr>
        <p:txBody>
          <a:bodyPr wrap="square" lIns="0" rIns="0" tIns="0" bIns="0" anchor="t"/>
          <a:lstStyle/>
          <a:p>
            <a:pPr algn="l">
              <a:lnSpc>
                <a:spcPct val="100000"/>
              </a:lnSpc>
              <a:spcBef>
                <a:spcPts val="0"/>
              </a:spcBef>
              <a:spcAft>
                <a:spcPts val="0"/>
              </a:spcAft>
            </a:pPr>
            <a:r>
              <a:rPr sz="1300" b="1" i="0" spc="140">
                <a:solidFill>
                  <a:srgbClr val="C4492C"/>
                </a:solidFill>
                <a:latin typeface="Arial"/>
                <a:ea typeface="Arial"/>
                <a:cs typeface="Arial"/>
              </a:rPr>
              <a:t>A LONGER PULSE</a:t>
            </a:r>
          </a:p>
        </p:txBody>
      </p:sp>
      <p:sp>
        <p:nvSpPr>
          <p:cNvPr id="11" name="TextBox 10"/>
          <p:cNvSpPr txBox="1"/>
          <p:nvPr/>
        </p:nvSpPr>
        <p:spPr>
          <a:xfrm>
            <a:off x="6473952" y="3017520"/>
            <a:ext cx="4754880" cy="45720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The light is on.</a:t>
            </a:r>
          </a:p>
        </p:txBody>
      </p:sp>
      <p:sp>
        <p:nvSpPr>
          <p:cNvPr id="12" name="TextBox 11"/>
          <p:cNvSpPr txBox="1"/>
          <p:nvPr/>
        </p:nvSpPr>
        <p:spPr>
          <a:xfrm>
            <a:off x="6473952" y="3703320"/>
            <a:ext cx="4754880" cy="1645920"/>
          </a:xfrm>
          <a:prstGeom prst="rect">
            <a:avLst/>
          </a:prstGeom>
          <a:noFill/>
        </p:spPr>
        <p:txBody>
          <a:bodyPr wrap="square" lIns="0" rIns="0" tIns="0" bIns="0" anchor="t"/>
          <a:lstStyle/>
          <a:p>
            <a:pPr algn="l">
              <a:lnSpc>
                <a:spcPct val="108000"/>
              </a:lnSpc>
              <a:spcBef>
                <a:spcPts val="0"/>
              </a:spcBef>
              <a:spcAft>
                <a:spcPts val="0"/>
              </a:spcAft>
            </a:pPr>
            <a:r>
              <a:rPr sz="1800" b="0" i="0">
                <a:solidFill>
                  <a:srgbClr val="6F685E"/>
                </a:solidFill>
                <a:latin typeface="Arial"/>
                <a:ea typeface="Arial"/>
                <a:cs typeface="Arial"/>
              </a:rPr>
              <a:t>Photo or video, for as long as</a:t>
            </a:r>
          </a:p>
          <a:p>
            <a:pPr algn="l">
              <a:lnSpc>
                <a:spcPct val="108000"/>
              </a:lnSpc>
              <a:spcBef>
                <a:spcPts val="0"/>
              </a:spcBef>
              <a:spcAft>
                <a:spcPts val="0"/>
              </a:spcAft>
            </a:pPr>
            <a:r>
              <a:rPr sz="1800" b="0" i="0">
                <a:solidFill>
                  <a:srgbClr val="6F685E"/>
                </a:solidFill>
                <a:latin typeface="Arial"/>
                <a:ea typeface="Arial"/>
                <a:cs typeface="Arial"/>
              </a:rPr>
              <a:t>Meta's capture light blinks.</a:t>
            </a:r>
          </a:p>
          <a:p>
            <a:pPr algn="l">
              <a:lnSpc>
                <a:spcPct val="108000"/>
              </a:lnSpc>
              <a:spcBef>
                <a:spcPts val="0"/>
              </a:spcBef>
              <a:spcAft>
                <a:spcPts val="0"/>
              </a:spcAft>
            </a:pPr>
            <a:r>
              <a:rPr sz="1800" b="0" i="0">
                <a:solidFill>
                  <a:srgbClr val="6F685E"/>
                </a:solidFill>
                <a:latin typeface="Arial"/>
                <a:ea typeface="Arial"/>
                <a:cs typeface="Arial"/>
              </a:rPr>
              <a:t>It stops when the blink stops.</a:t>
            </a:r>
          </a:p>
          <a:p>
            <a:pPr algn="l">
              <a:lnSpc>
                <a:spcPct val="108000"/>
              </a:lnSpc>
              <a:spcBef>
                <a:spcPts val="0"/>
              </a:spcBef>
              <a:spcAft>
                <a:spcPts val="0"/>
              </a:spcAft>
            </a:pPr>
            <a:r>
              <a:rPr sz="1800" b="0" i="0">
                <a:solidFill>
                  <a:srgbClr val="6F685E"/>
                </a:solidFill>
                <a:latin typeface="Arial"/>
                <a:ea typeface="Arial"/>
                <a:cs typeface="Arial"/>
              </a:rPr>
              <a:t>This is the one that matters.</a:t>
            </a:r>
          </a:p>
        </p:txBody>
      </p:sp>
      <p:sp>
        <p:nvSpPr>
          <p:cNvPr id="13" name="TextBox 12"/>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4" name="TextBox 13"/>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WHAT IT REFUSES</a:t>
            </a:r>
          </a:p>
        </p:txBody>
      </p:sp>
      <p:sp>
        <p:nvSpPr>
          <p:cNvPr id="4" name="TextBox 3"/>
          <p:cNvSpPr txBox="1"/>
          <p:nvPr/>
        </p:nvSpPr>
        <p:spPr>
          <a:xfrm>
            <a:off x="658368" y="804672"/>
            <a:ext cx="10972800" cy="594360"/>
          </a:xfrm>
          <a:prstGeom prst="rect">
            <a:avLst/>
          </a:prstGeom>
          <a:noFill/>
        </p:spPr>
        <p:txBody>
          <a:bodyPr wrap="square" lIns="0" rIns="0" tIns="0" bIns="0" anchor="t"/>
          <a:lstStyle/>
          <a:p>
            <a:pPr algn="l">
              <a:lnSpc>
                <a:spcPct val="100000"/>
              </a:lnSpc>
              <a:spcBef>
                <a:spcPts val="0"/>
              </a:spcBef>
              <a:spcAft>
                <a:spcPts val="0"/>
              </a:spcAft>
            </a:pPr>
            <a:r>
              <a:rPr sz="3600" b="1" i="0">
                <a:solidFill>
                  <a:srgbClr val="161412"/>
                </a:solidFill>
                <a:latin typeface="Arial"/>
                <a:ea typeface="Arial"/>
                <a:cs typeface="Arial"/>
              </a:rPr>
              <a:t>A notice, not a verdict.</a:t>
            </a:r>
          </a:p>
        </p:txBody>
      </p:sp>
      <p:sp>
        <p:nvSpPr>
          <p:cNvPr id="5" name="TextBox 4"/>
          <p:cNvSpPr txBox="1"/>
          <p:nvPr/>
        </p:nvSpPr>
        <p:spPr>
          <a:xfrm>
            <a:off x="713232" y="1645920"/>
            <a:ext cx="32004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 recording</a:t>
            </a:r>
          </a:p>
        </p:txBody>
      </p:sp>
      <p:sp>
        <p:nvSpPr>
          <p:cNvPr id="6" name="TextBox 5"/>
          <p:cNvSpPr txBox="1"/>
          <p:nvPr/>
        </p:nvSpPr>
        <p:spPr>
          <a:xfrm>
            <a:off x="4114800" y="1682496"/>
            <a:ext cx="7315200" cy="50292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Opal does not store audio, video, or a transcript.</a:t>
            </a:r>
          </a:p>
        </p:txBody>
      </p:sp>
      <p:sp>
        <p:nvSpPr>
          <p:cNvPr id="7" name="TextBox 6"/>
          <p:cNvSpPr txBox="1"/>
          <p:nvPr/>
        </p:nvSpPr>
        <p:spPr>
          <a:xfrm>
            <a:off x="713232" y="2514600"/>
            <a:ext cx="32004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 names</a:t>
            </a:r>
          </a:p>
        </p:txBody>
      </p:sp>
      <p:sp>
        <p:nvSpPr>
          <p:cNvPr id="8" name="TextBox 7"/>
          <p:cNvSpPr txBox="1"/>
          <p:nvPr/>
        </p:nvSpPr>
        <p:spPr>
          <a:xfrm>
            <a:off x="4114800" y="2551176"/>
            <a:ext cx="7315200" cy="50292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The tap means nearby, and right now. It does not mean who.</a:t>
            </a:r>
          </a:p>
        </p:txBody>
      </p:sp>
      <p:sp>
        <p:nvSpPr>
          <p:cNvPr id="9" name="TextBox 8"/>
          <p:cNvSpPr txBox="1"/>
          <p:nvPr/>
        </p:nvSpPr>
        <p:spPr>
          <a:xfrm>
            <a:off x="713232" y="3383280"/>
            <a:ext cx="32004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 tracking</a:t>
            </a:r>
          </a:p>
        </p:txBody>
      </p:sp>
      <p:sp>
        <p:nvSpPr>
          <p:cNvPr id="10" name="TextBox 9"/>
          <p:cNvSpPr txBox="1"/>
          <p:nvPr/>
        </p:nvSpPr>
        <p:spPr>
          <a:xfrm>
            <a:off x="4114800" y="3419856"/>
            <a:ext cx="7315200" cy="50292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Nothing is kept once the glasses leave the conversation.</a:t>
            </a:r>
          </a:p>
        </p:txBody>
      </p:sp>
      <p:sp>
        <p:nvSpPr>
          <p:cNvPr id="11" name="TextBox 10"/>
          <p:cNvSpPr txBox="1"/>
          <p:nvPr/>
        </p:nvSpPr>
        <p:spPr>
          <a:xfrm>
            <a:off x="713232" y="4251959"/>
            <a:ext cx="32004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 bypass</a:t>
            </a:r>
          </a:p>
        </p:txBody>
      </p:sp>
      <p:sp>
        <p:nvSpPr>
          <p:cNvPr id="12" name="TextBox 11"/>
          <p:cNvSpPr txBox="1"/>
          <p:nvPr/>
        </p:nvSpPr>
        <p:spPr>
          <a:xfrm>
            <a:off x="4114800" y="4288536"/>
            <a:ext cx="7315200" cy="50292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It does not cover, disable, or work around the capture LED.</a:t>
            </a:r>
          </a:p>
        </p:txBody>
      </p:sp>
      <p:sp>
        <p:nvSpPr>
          <p:cNvPr id="13" name="TextBox 12"/>
          <p:cNvSpPr txBox="1"/>
          <p:nvPr/>
        </p:nvSpPr>
        <p:spPr>
          <a:xfrm>
            <a:off x="713232" y="5120640"/>
            <a:ext cx="32004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 proof</a:t>
            </a:r>
          </a:p>
        </p:txBody>
      </p:sp>
      <p:sp>
        <p:nvSpPr>
          <p:cNvPr id="14" name="TextBox 13"/>
          <p:cNvSpPr txBox="1"/>
          <p:nvPr/>
        </p:nvSpPr>
        <p:spPr>
          <a:xfrm>
            <a:off x="4114800" y="5157216"/>
            <a:ext cx="7315200" cy="50292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Silence is not safety. It means no Meta glasses in view, and no blink.</a:t>
            </a:r>
          </a:p>
        </p:txBody>
      </p:sp>
      <p:sp>
        <p:nvSpPr>
          <p:cNvPr id="15" name="TextBox 14"/>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6" name="TextBox 15"/>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FOR THE PEOPLE WEARING THEM</a:t>
            </a:r>
          </a:p>
        </p:txBody>
      </p:sp>
      <p:sp>
        <p:nvSpPr>
          <p:cNvPr id="4" name="TextBox 3"/>
          <p:cNvSpPr txBox="1"/>
          <p:nvPr/>
        </p:nvSpPr>
        <p:spPr>
          <a:xfrm>
            <a:off x="658368" y="731520"/>
            <a:ext cx="10972800" cy="1234440"/>
          </a:xfrm>
          <a:prstGeom prst="rect">
            <a:avLst/>
          </a:prstGeom>
          <a:noFill/>
        </p:spPr>
        <p:txBody>
          <a:bodyPr wrap="square" lIns="0" rIns="0" tIns="0" bIns="0" anchor="t"/>
          <a:lstStyle/>
          <a:p>
            <a:pPr algn="l">
              <a:lnSpc>
                <a:spcPct val="96000"/>
              </a:lnSpc>
              <a:spcBef>
                <a:spcPts val="0"/>
              </a:spcBef>
              <a:spcAft>
                <a:spcPts val="0"/>
              </a:spcAft>
            </a:pPr>
            <a:r>
              <a:rPr sz="3600" b="1" i="0">
                <a:solidFill>
                  <a:srgbClr val="161412"/>
                </a:solidFill>
                <a:latin typeface="Arial"/>
                <a:ea typeface="Arial"/>
                <a:cs typeface="Arial"/>
              </a:rPr>
              <a:t>We use the signals</a:t>
            </a:r>
          </a:p>
          <a:p>
            <a:pPr algn="l">
              <a:lnSpc>
                <a:spcPct val="96000"/>
              </a:lnSpc>
              <a:spcBef>
                <a:spcPts val="0"/>
              </a:spcBef>
              <a:spcAft>
                <a:spcPts val="0"/>
              </a:spcAft>
            </a:pPr>
            <a:r>
              <a:rPr sz="3600" b="1" i="0">
                <a:solidFill>
                  <a:srgbClr val="161412"/>
                </a:solidFill>
                <a:latin typeface="Arial"/>
                <a:ea typeface="Arial"/>
                <a:cs typeface="Arial"/>
              </a:rPr>
              <a:t>the glasses already send.</a:t>
            </a:r>
          </a:p>
        </p:txBody>
      </p:sp>
      <p:sp>
        <p:nvSpPr>
          <p:cNvPr id="5" name="Oval 4"/>
          <p:cNvSpPr/>
          <p:nvPr/>
        </p:nvSpPr>
        <p:spPr>
          <a:xfrm>
            <a:off x="685800" y="2331720"/>
            <a:ext cx="438912" cy="438912"/>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386584"/>
            <a:ext cx="438912" cy="329184"/>
          </a:xfrm>
          <a:prstGeom prst="rect">
            <a:avLst/>
          </a:prstGeom>
          <a:noFill/>
        </p:spPr>
        <p:txBody>
          <a:bodyPr wrap="square" lIns="0" rIns="0" tIns="0" bIns="0" anchor="t"/>
          <a:lstStyle/>
          <a:p>
            <a:pPr algn="ctr">
              <a:lnSpc>
                <a:spcPct val="100000"/>
              </a:lnSpc>
              <a:spcBef>
                <a:spcPts val="0"/>
              </a:spcBef>
              <a:spcAft>
                <a:spcPts val="0"/>
              </a:spcAft>
            </a:pPr>
            <a:r>
              <a:rPr sz="1600" b="1" i="0">
                <a:solidFill>
                  <a:srgbClr val="F6F1E8"/>
                </a:solidFill>
                <a:latin typeface="Arial"/>
                <a:ea typeface="Arial"/>
                <a:cs typeface="Arial"/>
              </a:rPr>
              <a:t>1</a:t>
            </a:r>
          </a:p>
        </p:txBody>
      </p:sp>
      <p:sp>
        <p:nvSpPr>
          <p:cNvPr id="7" name="TextBox 6"/>
          <p:cNvSpPr txBox="1"/>
          <p:nvPr/>
        </p:nvSpPr>
        <p:spPr>
          <a:xfrm>
            <a:off x="685800" y="2971800"/>
            <a:ext cx="3474720" cy="77724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You keep them.</a:t>
            </a:r>
          </a:p>
        </p:txBody>
      </p:sp>
      <p:sp>
        <p:nvSpPr>
          <p:cNvPr id="8" name="TextBox 7"/>
          <p:cNvSpPr txBox="1"/>
          <p:nvPr/>
        </p:nvSpPr>
        <p:spPr>
          <a:xfrm>
            <a:off x="685800" y="3840480"/>
            <a:ext cx="3429000" cy="1371600"/>
          </a:xfrm>
          <a:prstGeom prst="rect">
            <a:avLst/>
          </a:prstGeom>
          <a:noFill/>
        </p:spPr>
        <p:txBody>
          <a:bodyPr wrap="square" lIns="0" rIns="0" tIns="0" bIns="0" anchor="t"/>
          <a:lstStyle/>
          <a:p>
            <a:pPr algn="l">
              <a:lnSpc>
                <a:spcPct val="108000"/>
              </a:lnSpc>
              <a:spcBef>
                <a:spcPts val="0"/>
              </a:spcBef>
              <a:spcAft>
                <a:spcPts val="0"/>
              </a:spcAft>
            </a:pPr>
            <a:r>
              <a:rPr sz="1600" b="0" i="0">
                <a:solidFill>
                  <a:srgbClr val="6F685E"/>
                </a:solidFill>
                <a:latin typeface="Arial"/>
                <a:ea typeface="Arial"/>
                <a:cs typeface="Arial"/>
              </a:rPr>
              <a:t>Opal is not a reason to take the glasses off. The camera can stay good.</a:t>
            </a:r>
          </a:p>
        </p:txBody>
      </p:sp>
      <p:sp>
        <p:nvSpPr>
          <p:cNvPr id="9" name="Oval 8"/>
          <p:cNvSpPr/>
          <p:nvPr/>
        </p:nvSpPr>
        <p:spPr>
          <a:xfrm>
            <a:off x="4434840" y="2331720"/>
            <a:ext cx="438912" cy="438912"/>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2386584"/>
            <a:ext cx="438912" cy="329184"/>
          </a:xfrm>
          <a:prstGeom prst="rect">
            <a:avLst/>
          </a:prstGeom>
          <a:noFill/>
        </p:spPr>
        <p:txBody>
          <a:bodyPr wrap="square" lIns="0" rIns="0" tIns="0" bIns="0" anchor="t"/>
          <a:lstStyle/>
          <a:p>
            <a:pPr algn="ctr">
              <a:lnSpc>
                <a:spcPct val="100000"/>
              </a:lnSpc>
              <a:spcBef>
                <a:spcPts val="0"/>
              </a:spcBef>
              <a:spcAft>
                <a:spcPts val="0"/>
              </a:spcAft>
            </a:pPr>
            <a:r>
              <a:rPr sz="1600" b="1" i="0">
                <a:solidFill>
                  <a:srgbClr val="F6F1E8"/>
                </a:solidFill>
                <a:latin typeface="Arial"/>
                <a:ea typeface="Arial"/>
                <a:cs typeface="Arial"/>
              </a:rPr>
              <a:t>2</a:t>
            </a:r>
          </a:p>
        </p:txBody>
      </p:sp>
      <p:sp>
        <p:nvSpPr>
          <p:cNvPr id="11" name="TextBox 10"/>
          <p:cNvSpPr txBox="1"/>
          <p:nvPr/>
        </p:nvSpPr>
        <p:spPr>
          <a:xfrm>
            <a:off x="4434840" y="2971800"/>
            <a:ext cx="3474720" cy="77724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blink still counts.</a:t>
            </a:r>
          </a:p>
        </p:txBody>
      </p:sp>
      <p:sp>
        <p:nvSpPr>
          <p:cNvPr id="12" name="TextBox 11"/>
          <p:cNvSpPr txBox="1"/>
          <p:nvPr/>
        </p:nvSpPr>
        <p:spPr>
          <a:xfrm>
            <a:off x="4434840" y="3840480"/>
            <a:ext cx="3429000" cy="1371600"/>
          </a:xfrm>
          <a:prstGeom prst="rect">
            <a:avLst/>
          </a:prstGeom>
          <a:noFill/>
        </p:spPr>
        <p:txBody>
          <a:bodyPr wrap="square" lIns="0" rIns="0" tIns="0" bIns="0" anchor="t"/>
          <a:lstStyle/>
          <a:p>
            <a:pPr algn="l">
              <a:lnSpc>
                <a:spcPct val="108000"/>
              </a:lnSpc>
              <a:spcBef>
                <a:spcPts val="0"/>
              </a:spcBef>
              <a:spcAft>
                <a:spcPts val="0"/>
              </a:spcAft>
            </a:pPr>
            <a:r>
              <a:rPr sz="1600" b="0" i="0">
                <a:solidFill>
                  <a:srgbClr val="6F685E"/>
                </a:solidFill>
                <a:latin typeface="Arial"/>
                <a:ea typeface="Arial"/>
                <a:cs typeface="Arial"/>
              </a:rPr>
              <a:t>Meta's capture light is real. We move it from their frame to your skin.</a:t>
            </a:r>
          </a:p>
        </p:txBody>
      </p:sp>
      <p:sp>
        <p:nvSpPr>
          <p:cNvPr id="13" name="Oval 12"/>
          <p:cNvSpPr/>
          <p:nvPr/>
        </p:nvSpPr>
        <p:spPr>
          <a:xfrm>
            <a:off x="8183879" y="2331720"/>
            <a:ext cx="438912" cy="438912"/>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2386584"/>
            <a:ext cx="438912" cy="329184"/>
          </a:xfrm>
          <a:prstGeom prst="rect">
            <a:avLst/>
          </a:prstGeom>
          <a:noFill/>
        </p:spPr>
        <p:txBody>
          <a:bodyPr wrap="square" lIns="0" rIns="0" tIns="0" bIns="0" anchor="t"/>
          <a:lstStyle/>
          <a:p>
            <a:pPr algn="ctr">
              <a:lnSpc>
                <a:spcPct val="100000"/>
              </a:lnSpc>
              <a:spcBef>
                <a:spcPts val="0"/>
              </a:spcBef>
              <a:spcAft>
                <a:spcPts val="0"/>
              </a:spcAft>
            </a:pPr>
            <a:r>
              <a:rPr sz="1600" b="1" i="0">
                <a:solidFill>
                  <a:srgbClr val="F6F1E8"/>
                </a:solidFill>
                <a:latin typeface="Arial"/>
                <a:ea typeface="Arial"/>
                <a:cs typeface="Arial"/>
              </a:rPr>
              <a:t>3</a:t>
            </a:r>
          </a:p>
        </p:txBody>
      </p:sp>
      <p:sp>
        <p:nvSpPr>
          <p:cNvPr id="15" name="TextBox 14"/>
          <p:cNvSpPr txBox="1"/>
          <p:nvPr/>
        </p:nvSpPr>
        <p:spPr>
          <a:xfrm>
            <a:off x="8183879" y="2971800"/>
            <a:ext cx="3474720" cy="77724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You can feel it later.</a:t>
            </a:r>
          </a:p>
        </p:txBody>
      </p:sp>
      <p:sp>
        <p:nvSpPr>
          <p:cNvPr id="16" name="TextBox 15"/>
          <p:cNvSpPr txBox="1"/>
          <p:nvPr/>
        </p:nvSpPr>
        <p:spPr>
          <a:xfrm>
            <a:off x="8183879" y="3840480"/>
            <a:ext cx="3429000" cy="1371600"/>
          </a:xfrm>
          <a:prstGeom prst="rect">
            <a:avLst/>
          </a:prstGeom>
          <a:noFill/>
        </p:spPr>
        <p:txBody>
          <a:bodyPr wrap="square" lIns="0" rIns="0" tIns="0" bIns="0" anchor="t"/>
          <a:lstStyle/>
          <a:p>
            <a:pPr algn="l">
              <a:lnSpc>
                <a:spcPct val="108000"/>
              </a:lnSpc>
              <a:spcBef>
                <a:spcPts val="0"/>
              </a:spcBef>
              <a:spcAft>
                <a:spcPts val="0"/>
              </a:spcAft>
            </a:pPr>
            <a:r>
              <a:rPr sz="1600" b="0" i="0">
                <a:solidFill>
                  <a:srgbClr val="6F685E"/>
                </a:solidFill>
                <a:latin typeface="Arial"/>
                <a:ea typeface="Arial"/>
                <a:cs typeface="Arial"/>
              </a:rPr>
              <a:t>A wearer who wants the same courtesy wears Opal too. The ornament does not care which seat you are in.</a:t>
            </a:r>
          </a:p>
        </p:txBody>
      </p:sp>
      <p:sp>
        <p:nvSpPr>
          <p:cNvPr id="17" name="TextBox 16"/>
          <p:cNvSpPr txBox="1"/>
          <p:nvPr/>
        </p:nvSpPr>
        <p:spPr>
          <a:xfrm>
            <a:off x="713232" y="5486400"/>
            <a:ext cx="10607040" cy="41148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The offer is a private tap. The glasses stay on the face that chose them.</a:t>
            </a:r>
          </a:p>
        </p:txBody>
      </p:sp>
      <p:sp>
        <p:nvSpPr>
          <p:cNvPr id="18" name="TextBox 17"/>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9" name="TextBox 18"/>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THREE MOMENTS</a:t>
            </a:r>
          </a:p>
        </p:txBody>
      </p:sp>
      <p:sp>
        <p:nvSpPr>
          <p:cNvPr id="4" name="TextBox 3"/>
          <p:cNvSpPr txBox="1"/>
          <p:nvPr/>
        </p:nvSpPr>
        <p:spPr>
          <a:xfrm>
            <a:off x="658368" y="713232"/>
            <a:ext cx="10972800" cy="502920"/>
          </a:xfrm>
          <a:prstGeom prst="rect">
            <a:avLst/>
          </a:prstGeom>
          <a:noFill/>
        </p:spPr>
        <p:txBody>
          <a:bodyPr wrap="square" lIns="0" rIns="0" tIns="0" bIns="0" anchor="t"/>
          <a:lstStyle/>
          <a:p>
            <a:pPr algn="l">
              <a:lnSpc>
                <a:spcPct val="100000"/>
              </a:lnSpc>
              <a:spcBef>
                <a:spcPts val="0"/>
              </a:spcBef>
              <a:spcAft>
                <a:spcPts val="0"/>
              </a:spcAft>
            </a:pPr>
            <a:r>
              <a:rPr sz="3200" b="1" i="0">
                <a:solidFill>
                  <a:srgbClr val="161412"/>
                </a:solidFill>
                <a:latin typeface="Arial"/>
                <a:ea typeface="Arial"/>
                <a:cs typeface="Arial"/>
              </a:rPr>
              <a:t>Most minutes, it does nothing.</a:t>
            </a:r>
          </a:p>
        </p:txBody>
      </p:sp>
      <p:sp>
        <p:nvSpPr>
          <p:cNvPr id="5" name="Rounded Rectangle 4"/>
          <p:cNvSpPr/>
          <p:nvPr/>
        </p:nvSpPr>
        <p:spPr>
          <a:xfrm>
            <a:off x="658368" y="1463040"/>
            <a:ext cx="10881360" cy="141732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19072"/>
            <a:ext cx="2194560" cy="274320"/>
          </a:xfrm>
          <a:prstGeom prst="rect">
            <a:avLst/>
          </a:prstGeom>
          <a:noFill/>
        </p:spPr>
        <p:txBody>
          <a:bodyPr wrap="square" lIns="0" rIns="0" tIns="0" bIns="0" anchor="t"/>
          <a:lstStyle/>
          <a:p>
            <a:pPr algn="l">
              <a:lnSpc>
                <a:spcPct val="100000"/>
              </a:lnSpc>
              <a:spcBef>
                <a:spcPts val="0"/>
              </a:spcBef>
              <a:spcAft>
                <a:spcPts val="0"/>
              </a:spcAft>
            </a:pPr>
            <a:r>
              <a:rPr sz="1400" b="1" i="0" spc="80">
                <a:solidFill>
                  <a:srgbClr val="8A5E32"/>
                </a:solidFill>
                <a:latin typeface="Arial"/>
                <a:ea typeface="Arial"/>
                <a:cs typeface="Arial"/>
              </a:rPr>
              <a:t>Monday</a:t>
            </a:r>
          </a:p>
        </p:txBody>
      </p:sp>
      <p:sp>
        <p:nvSpPr>
          <p:cNvPr id="7" name="TextBox 6"/>
          <p:cNvSpPr txBox="1"/>
          <p:nvPr/>
        </p:nvSpPr>
        <p:spPr>
          <a:xfrm>
            <a:off x="914400" y="2057400"/>
            <a:ext cx="2286000" cy="41148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Seminar</a:t>
            </a:r>
          </a:p>
        </p:txBody>
      </p:sp>
      <p:sp>
        <p:nvSpPr>
          <p:cNvPr id="8" name="TextBox 7"/>
          <p:cNvSpPr txBox="1"/>
          <p:nvPr/>
        </p:nvSpPr>
        <p:spPr>
          <a:xfrm>
            <a:off x="3383280" y="1755648"/>
            <a:ext cx="7772400" cy="914400"/>
          </a:xfrm>
          <a:prstGeom prst="rect">
            <a:avLst/>
          </a:prstGeom>
          <a:noFill/>
        </p:spPr>
        <p:txBody>
          <a:bodyPr wrap="square" lIns="0" rIns="0" tIns="0" bIns="0" anchor="t"/>
          <a:lstStyle/>
          <a:p>
            <a:pPr algn="l">
              <a:lnSpc>
                <a:spcPct val="105000"/>
              </a:lnSpc>
              <a:spcBef>
                <a:spcPts val="0"/>
              </a:spcBef>
              <a:spcAft>
                <a:spcPts val="0"/>
              </a:spcAft>
            </a:pPr>
            <a:r>
              <a:rPr sz="1800" b="0" i="0">
                <a:solidFill>
                  <a:srgbClr val="161412"/>
                </a:solidFill>
                <a:latin typeface="Arial"/>
                <a:ea typeface="Arial"/>
                <a:cs typeface="Arial"/>
              </a:rPr>
              <a:t>Someone's Meta glasses are on for a photo of the board. The pulse lasts as long as the blink. You see them hold the moment up. Back to your notes.</a:t>
            </a:r>
          </a:p>
        </p:txBody>
      </p:sp>
      <p:sp>
        <p:nvSpPr>
          <p:cNvPr id="9" name="Rounded Rectangle 8"/>
          <p:cNvSpPr/>
          <p:nvPr/>
        </p:nvSpPr>
        <p:spPr>
          <a:xfrm>
            <a:off x="658368" y="3017520"/>
            <a:ext cx="10881360" cy="141732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73552"/>
            <a:ext cx="2194560" cy="274320"/>
          </a:xfrm>
          <a:prstGeom prst="rect">
            <a:avLst/>
          </a:prstGeom>
          <a:noFill/>
        </p:spPr>
        <p:txBody>
          <a:bodyPr wrap="square" lIns="0" rIns="0" tIns="0" bIns="0" anchor="t"/>
          <a:lstStyle/>
          <a:p>
            <a:pPr algn="l">
              <a:lnSpc>
                <a:spcPct val="100000"/>
              </a:lnSpc>
              <a:spcBef>
                <a:spcPts val="0"/>
              </a:spcBef>
              <a:spcAft>
                <a:spcPts val="0"/>
              </a:spcAft>
            </a:pPr>
            <a:r>
              <a:rPr sz="1400" b="1" i="0" spc="80">
                <a:solidFill>
                  <a:srgbClr val="8A5E32"/>
                </a:solidFill>
                <a:latin typeface="Arial"/>
                <a:ea typeface="Arial"/>
                <a:cs typeface="Arial"/>
              </a:rPr>
              <a:t>Thursday</a:t>
            </a:r>
          </a:p>
        </p:txBody>
      </p:sp>
      <p:sp>
        <p:nvSpPr>
          <p:cNvPr id="11" name="TextBox 10"/>
          <p:cNvSpPr txBox="1"/>
          <p:nvPr/>
        </p:nvSpPr>
        <p:spPr>
          <a:xfrm>
            <a:off x="914400" y="3611879"/>
            <a:ext cx="2286000" cy="41148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This class</a:t>
            </a:r>
          </a:p>
        </p:txBody>
      </p:sp>
      <p:sp>
        <p:nvSpPr>
          <p:cNvPr id="12" name="TextBox 11"/>
          <p:cNvSpPr txBox="1"/>
          <p:nvPr/>
        </p:nvSpPr>
        <p:spPr>
          <a:xfrm>
            <a:off x="3383280" y="3310127"/>
            <a:ext cx="7772400" cy="914400"/>
          </a:xfrm>
          <a:prstGeom prst="rect">
            <a:avLst/>
          </a:prstGeom>
          <a:noFill/>
        </p:spPr>
        <p:txBody>
          <a:bodyPr wrap="square" lIns="0" rIns="0" tIns="0" bIns="0" anchor="t"/>
          <a:lstStyle/>
          <a:p>
            <a:pPr algn="l">
              <a:lnSpc>
                <a:spcPct val="105000"/>
              </a:lnSpc>
              <a:spcBef>
                <a:spcPts val="0"/>
              </a:spcBef>
              <a:spcAft>
                <a:spcPts val="0"/>
              </a:spcAft>
            </a:pPr>
            <a:r>
              <a:rPr sz="1800" b="0" i="0">
                <a:solidFill>
                  <a:srgbClr val="161412"/>
                </a:solidFill>
                <a:latin typeface="Arial"/>
                <a:ea typeface="Arial"/>
                <a:cs typeface="Arial"/>
              </a:rPr>
              <a:t>Several pairs are in the room, idle. One tap as each sits down. Then quiet. You forget the pin is a device. That is the success.</a:t>
            </a:r>
          </a:p>
        </p:txBody>
      </p:sp>
      <p:sp>
        <p:nvSpPr>
          <p:cNvPr id="13" name="Rounded Rectangle 12"/>
          <p:cNvSpPr/>
          <p:nvPr/>
        </p:nvSpPr>
        <p:spPr>
          <a:xfrm>
            <a:off x="658368" y="4572000"/>
            <a:ext cx="10881360" cy="141732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828032"/>
            <a:ext cx="2194560" cy="274320"/>
          </a:xfrm>
          <a:prstGeom prst="rect">
            <a:avLst/>
          </a:prstGeom>
          <a:noFill/>
        </p:spPr>
        <p:txBody>
          <a:bodyPr wrap="square" lIns="0" rIns="0" tIns="0" bIns="0" anchor="t"/>
          <a:lstStyle/>
          <a:p>
            <a:pPr algn="l">
              <a:lnSpc>
                <a:spcPct val="100000"/>
              </a:lnSpc>
              <a:spcBef>
                <a:spcPts val="0"/>
              </a:spcBef>
              <a:spcAft>
                <a:spcPts val="0"/>
              </a:spcAft>
            </a:pPr>
            <a:r>
              <a:rPr sz="1400" b="1" i="0" spc="80">
                <a:solidFill>
                  <a:srgbClr val="8A5E32"/>
                </a:solidFill>
                <a:latin typeface="Arial"/>
                <a:ea typeface="Arial"/>
                <a:cs typeface="Arial"/>
              </a:rPr>
              <a:t>Saturday</a:t>
            </a:r>
          </a:p>
        </p:txBody>
      </p:sp>
      <p:sp>
        <p:nvSpPr>
          <p:cNvPr id="15" name="TextBox 14"/>
          <p:cNvSpPr txBox="1"/>
          <p:nvPr/>
        </p:nvSpPr>
        <p:spPr>
          <a:xfrm>
            <a:off x="914400" y="5166360"/>
            <a:ext cx="2286000" cy="41148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Dinner</a:t>
            </a:r>
          </a:p>
        </p:txBody>
      </p:sp>
      <p:sp>
        <p:nvSpPr>
          <p:cNvPr id="16" name="TextBox 15"/>
          <p:cNvSpPr txBox="1"/>
          <p:nvPr/>
        </p:nvSpPr>
        <p:spPr>
          <a:xfrm>
            <a:off x="3383280" y="4864608"/>
            <a:ext cx="7772400" cy="914400"/>
          </a:xfrm>
          <a:prstGeom prst="rect">
            <a:avLst/>
          </a:prstGeom>
          <a:noFill/>
        </p:spPr>
        <p:txBody>
          <a:bodyPr wrap="square" lIns="0" rIns="0" tIns="0" bIns="0" anchor="t"/>
          <a:lstStyle/>
          <a:p>
            <a:pPr algn="l">
              <a:lnSpc>
                <a:spcPct val="105000"/>
              </a:lnSpc>
              <a:spcBef>
                <a:spcPts val="0"/>
              </a:spcBef>
              <a:spcAft>
                <a:spcPts val="0"/>
              </a:spcAft>
            </a:pPr>
            <a:r>
              <a:rPr sz="1800" b="0" i="0">
                <a:solidFill>
                  <a:srgbClr val="161412"/>
                </a:solidFill>
                <a:latin typeface="Arial"/>
                <a:ea typeface="Arial"/>
                <a:cs typeface="Arial"/>
              </a:rPr>
              <a:t>The capture light stays on. You do not hold up a phone and you do not accuse. You feel it, and you choose what to say next.</a:t>
            </a:r>
          </a:p>
        </p:txBody>
      </p:sp>
      <p:sp>
        <p:nvSpPr>
          <p:cNvPr id="17" name="TextBox 16"/>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BEFORE THE REPORT</a:t>
            </a:r>
          </a:p>
        </p:txBody>
      </p:sp>
      <p:sp>
        <p:nvSpPr>
          <p:cNvPr id="4" name="TextBox 3"/>
          <p:cNvSpPr txBox="1"/>
          <p:nvPr/>
        </p:nvSpPr>
        <p:spPr>
          <a:xfrm>
            <a:off x="658368" y="731520"/>
            <a:ext cx="10972800" cy="1234440"/>
          </a:xfrm>
          <a:prstGeom prst="rect">
            <a:avLst/>
          </a:prstGeom>
          <a:noFill/>
        </p:spPr>
        <p:txBody>
          <a:bodyPr wrap="square" lIns="0" rIns="0" tIns="0" bIns="0" anchor="t"/>
          <a:lstStyle/>
          <a:p>
            <a:pPr algn="l">
              <a:lnSpc>
                <a:spcPct val="96000"/>
              </a:lnSpc>
              <a:spcBef>
                <a:spcPts val="0"/>
              </a:spcBef>
              <a:spcAft>
                <a:spcPts val="0"/>
              </a:spcAft>
            </a:pPr>
            <a:r>
              <a:rPr sz="3400" b="1" i="0">
                <a:solidFill>
                  <a:srgbClr val="161412"/>
                </a:solidFill>
                <a:latin typeface="Arial"/>
                <a:ea typeface="Arial"/>
                <a:cs typeface="Arial"/>
              </a:rPr>
              <a:t>Four tests. One of them</a:t>
            </a:r>
          </a:p>
          <a:p>
            <a:pPr algn="l">
              <a:lnSpc>
                <a:spcPct val="96000"/>
              </a:lnSpc>
              <a:spcBef>
                <a:spcPts val="0"/>
              </a:spcBef>
              <a:spcAft>
                <a:spcPts val="0"/>
              </a:spcAft>
            </a:pPr>
            <a:r>
              <a:rPr sz="3400" b="1" i="0">
                <a:solidFill>
                  <a:srgbClr val="161412"/>
                </a:solidFill>
                <a:latin typeface="Arial"/>
                <a:ea typeface="Arial"/>
                <a:cs typeface="Arial"/>
              </a:rPr>
              <a:t>is whether it is beautiful.</a:t>
            </a:r>
          </a:p>
        </p:txBody>
      </p:sp>
      <p:sp>
        <p:nvSpPr>
          <p:cNvPr id="5" name="TextBox 4"/>
          <p:cNvSpPr txBox="1"/>
          <p:nvPr/>
        </p:nvSpPr>
        <p:spPr>
          <a:xfrm>
            <a:off x="658368" y="2240280"/>
            <a:ext cx="73152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01</a:t>
            </a:r>
          </a:p>
        </p:txBody>
      </p:sp>
      <p:sp>
        <p:nvSpPr>
          <p:cNvPr id="6" name="TextBox 5"/>
          <p:cNvSpPr txBox="1"/>
          <p:nvPr/>
        </p:nvSpPr>
        <p:spPr>
          <a:xfrm>
            <a:off x="1481328" y="2221992"/>
            <a:ext cx="4572000" cy="36576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Wear</a:t>
            </a:r>
          </a:p>
        </p:txBody>
      </p:sp>
      <p:sp>
        <p:nvSpPr>
          <p:cNvPr id="7" name="TextBox 6"/>
          <p:cNvSpPr txBox="1"/>
          <p:nvPr/>
        </p:nvSpPr>
        <p:spPr>
          <a:xfrm>
            <a:off x="1481328" y="2679192"/>
            <a:ext cx="4663440" cy="123444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Will someone put the pin on for a day, the way they put on any other pin? If they won't, the keychain problem is unsolved.</a:t>
            </a:r>
          </a:p>
        </p:txBody>
      </p:sp>
      <p:sp>
        <p:nvSpPr>
          <p:cNvPr id="8" name="TextBox 7"/>
          <p:cNvSpPr txBox="1"/>
          <p:nvPr/>
        </p:nvSpPr>
        <p:spPr>
          <a:xfrm>
            <a:off x="6419088" y="2240280"/>
            <a:ext cx="73152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02</a:t>
            </a:r>
          </a:p>
        </p:txBody>
      </p:sp>
      <p:sp>
        <p:nvSpPr>
          <p:cNvPr id="9" name="TextBox 8"/>
          <p:cNvSpPr txBox="1"/>
          <p:nvPr/>
        </p:nvSpPr>
        <p:spPr>
          <a:xfrm>
            <a:off x="7242048" y="2221992"/>
            <a:ext cx="4572000" cy="36576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Meta, not everything</a:t>
            </a:r>
          </a:p>
        </p:txBody>
      </p:sp>
      <p:sp>
        <p:nvSpPr>
          <p:cNvPr id="10" name="TextBox 9"/>
          <p:cNvSpPr txBox="1"/>
          <p:nvPr/>
        </p:nvSpPr>
        <p:spPr>
          <a:xfrm>
            <a:off x="7242048" y="2679192"/>
            <a:ext cx="4663440" cy="123444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Does a pair of Meta glasses tap it across this table, while AirPods and ordinary eyeglasses do not?</a:t>
            </a:r>
          </a:p>
        </p:txBody>
      </p:sp>
      <p:sp>
        <p:nvSpPr>
          <p:cNvPr id="11" name="TextBox 10"/>
          <p:cNvSpPr txBox="1"/>
          <p:nvPr/>
        </p:nvSpPr>
        <p:spPr>
          <a:xfrm>
            <a:off x="658368" y="4206240"/>
            <a:ext cx="73152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03</a:t>
            </a:r>
          </a:p>
        </p:txBody>
      </p:sp>
      <p:sp>
        <p:nvSpPr>
          <p:cNvPr id="12" name="TextBox 11"/>
          <p:cNvSpPr txBox="1"/>
          <p:nvPr/>
        </p:nvSpPr>
        <p:spPr>
          <a:xfrm>
            <a:off x="1481328" y="4187952"/>
            <a:ext cx="4572000" cy="36576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The blink</a:t>
            </a:r>
          </a:p>
        </p:txBody>
      </p:sp>
      <p:sp>
        <p:nvSpPr>
          <p:cNvPr id="13" name="TextBox 12"/>
          <p:cNvSpPr txBox="1"/>
          <p:nvPr/>
        </p:nvSpPr>
        <p:spPr>
          <a:xfrm>
            <a:off x="1481328" y="4645152"/>
            <a:ext cx="4663440" cy="123444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Can the sensor tell a capture blink from a ceiling light? If it cannot, we ship presence only, and we say so.</a:t>
            </a:r>
          </a:p>
        </p:txBody>
      </p:sp>
      <p:sp>
        <p:nvSpPr>
          <p:cNvPr id="14" name="TextBox 13"/>
          <p:cNvSpPr txBox="1"/>
          <p:nvPr/>
        </p:nvSpPr>
        <p:spPr>
          <a:xfrm>
            <a:off x="6419088" y="4206240"/>
            <a:ext cx="731520" cy="32004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E32"/>
                </a:solidFill>
                <a:latin typeface="Arial"/>
                <a:ea typeface="Arial"/>
                <a:cs typeface="Arial"/>
              </a:rPr>
              <a:t>04</a:t>
            </a:r>
          </a:p>
        </p:txBody>
      </p:sp>
      <p:sp>
        <p:nvSpPr>
          <p:cNvPr id="15" name="TextBox 14"/>
          <p:cNvSpPr txBox="1"/>
          <p:nvPr/>
        </p:nvSpPr>
        <p:spPr>
          <a:xfrm>
            <a:off x="7242048" y="4187952"/>
            <a:ext cx="4572000" cy="36576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Today</a:t>
            </a:r>
          </a:p>
        </p:txBody>
      </p:sp>
      <p:sp>
        <p:nvSpPr>
          <p:cNvPr id="16" name="TextBox 15"/>
          <p:cNvSpPr txBox="1"/>
          <p:nvPr/>
        </p:nvSpPr>
        <p:spPr>
          <a:xfrm>
            <a:off x="7242048" y="4645152"/>
            <a:ext cx="4663440" cy="123444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Did this exercise make you want the tap, or just make you angry? We ask that after class, on paper.</a:t>
            </a:r>
          </a:p>
        </p:txBody>
      </p:sp>
      <p:sp>
        <p:nvSpPr>
          <p:cNvPr id="17" name="TextBox 16"/>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SAID OUT LOUD</a:t>
            </a:r>
          </a:p>
        </p:txBody>
      </p:sp>
      <p:sp>
        <p:nvSpPr>
          <p:cNvPr id="4" name="TextBox 3"/>
          <p:cNvSpPr txBox="1"/>
          <p:nvPr/>
        </p:nvSpPr>
        <p:spPr>
          <a:xfrm>
            <a:off x="658368" y="731520"/>
            <a:ext cx="10972800" cy="502920"/>
          </a:xfrm>
          <a:prstGeom prst="rect">
            <a:avLst/>
          </a:prstGeom>
          <a:noFill/>
        </p:spPr>
        <p:txBody>
          <a:bodyPr wrap="square" lIns="0" rIns="0" tIns="0" bIns="0" anchor="t"/>
          <a:lstStyle/>
          <a:p>
            <a:pPr algn="l">
              <a:lnSpc>
                <a:spcPct val="100000"/>
              </a:lnSpc>
              <a:spcBef>
                <a:spcPts val="0"/>
              </a:spcBef>
              <a:spcAft>
                <a:spcPts val="0"/>
              </a:spcAft>
            </a:pPr>
            <a:r>
              <a:rPr sz="3200" b="1" i="0">
                <a:solidFill>
                  <a:srgbClr val="161412"/>
                </a:solidFill>
                <a:latin typeface="Arial"/>
                <a:ea typeface="Arial"/>
                <a:cs typeface="Arial"/>
              </a:rPr>
              <a:t>The ways this goes wrong.</a:t>
            </a:r>
          </a:p>
        </p:txBody>
      </p:sp>
      <p:sp>
        <p:nvSpPr>
          <p:cNvPr id="5" name="Rectangle 4"/>
          <p:cNvSpPr/>
          <p:nvPr/>
        </p:nvSpPr>
        <p:spPr>
          <a:xfrm>
            <a:off x="713232" y="1581912"/>
            <a:ext cx="384048" cy="44450"/>
          </a:xfrm>
          <a:prstGeom prst="rect">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1435607"/>
            <a:ext cx="9875520" cy="329184"/>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A room of idle glasses.</a:t>
            </a:r>
          </a:p>
        </p:txBody>
      </p:sp>
      <p:sp>
        <p:nvSpPr>
          <p:cNvPr id="7" name="TextBox 6"/>
          <p:cNvSpPr txBox="1"/>
          <p:nvPr/>
        </p:nvSpPr>
        <p:spPr>
          <a:xfrm>
            <a:off x="1325880" y="1819656"/>
            <a:ext cx="9966960" cy="6400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If presence and recording feel the same, people take Opal off by Wednesday. The two taps have to be different.</a:t>
            </a:r>
          </a:p>
        </p:txBody>
      </p:sp>
      <p:sp>
        <p:nvSpPr>
          <p:cNvPr id="8" name="Rectangle 7"/>
          <p:cNvSpPr/>
          <p:nvPr/>
        </p:nvSpPr>
        <p:spPr>
          <a:xfrm>
            <a:off x="713232" y="2724912"/>
            <a:ext cx="384048" cy="44450"/>
          </a:xfrm>
          <a:prstGeom prst="rect">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25880" y="2578608"/>
            <a:ext cx="9875520" cy="329184"/>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Beauty as an excuse.</a:t>
            </a:r>
          </a:p>
        </p:txBody>
      </p:sp>
      <p:sp>
        <p:nvSpPr>
          <p:cNvPr id="10" name="TextBox 9"/>
          <p:cNvSpPr txBox="1"/>
          <p:nvPr/>
        </p:nvSpPr>
        <p:spPr>
          <a:xfrm>
            <a:off x="1325880" y="2962656"/>
            <a:ext cx="9966960" cy="6400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A pretty object that secretly records the room is worse than an ugly keychain. The sensor listens and watches for a blink. It does not capture.</a:t>
            </a:r>
          </a:p>
        </p:txBody>
      </p:sp>
      <p:sp>
        <p:nvSpPr>
          <p:cNvPr id="11" name="Rectangle 10"/>
          <p:cNvSpPr/>
          <p:nvPr/>
        </p:nvSpPr>
        <p:spPr>
          <a:xfrm>
            <a:off x="713232" y="3867912"/>
            <a:ext cx="384048" cy="44450"/>
          </a:xfrm>
          <a:prstGeom prst="rect">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3721608"/>
            <a:ext cx="9875520" cy="329184"/>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The blink can be missed.</a:t>
            </a:r>
          </a:p>
        </p:txBody>
      </p:sp>
      <p:sp>
        <p:nvSpPr>
          <p:cNvPr id="13" name="TextBox 12"/>
          <p:cNvSpPr txBox="1"/>
          <p:nvPr/>
        </p:nvSpPr>
        <p:spPr>
          <a:xfrm>
            <a:off x="1325880" y="4105656"/>
            <a:ext cx="9966960" cy="6400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A pin facing forward misses glasses behind you. Bluetooth still says a pair is near. We will say which signal fired.</a:t>
            </a:r>
          </a:p>
        </p:txBody>
      </p:sp>
      <p:sp>
        <p:nvSpPr>
          <p:cNvPr id="14" name="Rectangle 13"/>
          <p:cNvSpPr/>
          <p:nvPr/>
        </p:nvSpPr>
        <p:spPr>
          <a:xfrm>
            <a:off x="713232" y="5010912"/>
            <a:ext cx="384048" cy="44450"/>
          </a:xfrm>
          <a:prstGeom prst="rect">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864608"/>
            <a:ext cx="9875520" cy="329184"/>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The exercise was a false premise.</a:t>
            </a:r>
          </a:p>
        </p:txBody>
      </p:sp>
      <p:sp>
        <p:nvSpPr>
          <p:cNvPr id="16" name="TextBox 15"/>
          <p:cNvSpPr txBox="1"/>
          <p:nvPr/>
        </p:nvSpPr>
        <p:spPr>
          <a:xfrm>
            <a:off x="1325880" y="5248656"/>
            <a:ext cx="9966960" cy="6400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The next sentence had to be that nothing exists. The professor hears the plan first.</a:t>
            </a:r>
          </a:p>
        </p:txBody>
      </p:sp>
      <p:sp>
        <p:nvSpPr>
          <p:cNvPr id="17" name="TextBox 16"/>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13232" y="1554480"/>
            <a:ext cx="1336852" cy="1336852"/>
          </a:xfrm>
          <a:prstGeom prst="ellipse">
            <a:avLst/>
          </a:prstGeom>
          <a:solidFill>
            <a:srgbClr val="C6A1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4273" y="1655521"/>
            <a:ext cx="1134770" cy="1134770"/>
          </a:xfrm>
          <a:prstGeom prst="ellipse">
            <a:avLst/>
          </a:prstGeom>
          <a:solidFill>
            <a:srgbClr val="F7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 y="1865376"/>
            <a:ext cx="715060" cy="715060"/>
          </a:xfrm>
          <a:prstGeom prst="ellipse">
            <a:avLst/>
          </a:prstGeom>
          <a:solidFill>
            <a:srgbClr val="E4C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57300" y="2005279"/>
            <a:ext cx="170992" cy="170992"/>
          </a:xfrm>
          <a:prstGeom prst="ellipse">
            <a:avLst/>
          </a:prstGeom>
          <a:solidFill>
            <a:srgbClr val="D884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74927" y="2160727"/>
            <a:ext cx="77724" cy="77724"/>
          </a:xfrm>
          <a:prstGeom prst="ellipse">
            <a:avLst/>
          </a:prstGeom>
          <a:solidFill>
            <a:srgbClr val="FF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1783080"/>
            <a:ext cx="5486400" cy="411480"/>
          </a:xfrm>
          <a:prstGeom prst="rect">
            <a:avLst/>
          </a:prstGeom>
          <a:noFill/>
        </p:spPr>
        <p:txBody>
          <a:bodyPr wrap="square" lIns="0" rIns="0" tIns="0" bIns="0" anchor="ctr"/>
          <a:lstStyle/>
          <a:p>
            <a:pPr algn="l">
              <a:lnSpc>
                <a:spcPct val="100000"/>
              </a:lnSpc>
              <a:spcBef>
                <a:spcPts val="0"/>
              </a:spcBef>
              <a:spcAft>
                <a:spcPts val="0"/>
              </a:spcAft>
            </a:pPr>
            <a:r>
              <a:rPr sz="1600" b="1" i="0" spc="220">
                <a:solidFill>
                  <a:srgbClr val="8A5E32"/>
                </a:solidFill>
                <a:latin typeface="Arial"/>
                <a:ea typeface="Arial"/>
                <a:cs typeface="Arial"/>
              </a:rPr>
              <a:t>OPAL</a:t>
            </a:r>
          </a:p>
        </p:txBody>
      </p:sp>
      <p:sp>
        <p:nvSpPr>
          <p:cNvPr id="9" name="TextBox 8"/>
          <p:cNvSpPr txBox="1"/>
          <p:nvPr/>
        </p:nvSpPr>
        <p:spPr>
          <a:xfrm>
            <a:off x="685800" y="3154680"/>
            <a:ext cx="10972800" cy="1463040"/>
          </a:xfrm>
          <a:prstGeom prst="rect">
            <a:avLst/>
          </a:prstGeom>
          <a:noFill/>
        </p:spPr>
        <p:txBody>
          <a:bodyPr wrap="square" lIns="0" rIns="0" tIns="0" bIns="0" anchor="t"/>
          <a:lstStyle/>
          <a:p>
            <a:pPr algn="l">
              <a:lnSpc>
                <a:spcPct val="96000"/>
              </a:lnSpc>
              <a:spcBef>
                <a:spcPts val="0"/>
              </a:spcBef>
              <a:spcAft>
                <a:spcPts val="0"/>
              </a:spcAft>
            </a:pPr>
            <a:r>
              <a:rPr sz="4400" b="1" i="0">
                <a:solidFill>
                  <a:srgbClr val="161412"/>
                </a:solidFill>
                <a:latin typeface="Arial"/>
                <a:ea typeface="Arial"/>
                <a:cs typeface="Arial"/>
              </a:rPr>
              <a:t>Notice Meta glasses.</a:t>
            </a:r>
          </a:p>
          <a:p>
            <a:pPr algn="l">
              <a:lnSpc>
                <a:spcPct val="96000"/>
              </a:lnSpc>
              <a:spcBef>
                <a:spcPts val="0"/>
              </a:spcBef>
              <a:spcAft>
                <a:spcPts val="0"/>
              </a:spcAft>
            </a:pPr>
            <a:r>
              <a:rPr sz="4400" b="1" i="0">
                <a:solidFill>
                  <a:srgbClr val="161412"/>
                </a:solidFill>
                <a:latin typeface="Arial"/>
                <a:ea typeface="Arial"/>
                <a:cs typeface="Arial"/>
              </a:rPr>
              <a:t>Wear it anyway.</a:t>
            </a:r>
          </a:p>
        </p:txBody>
      </p:sp>
      <p:sp>
        <p:nvSpPr>
          <p:cNvPr id="10" name="TextBox 9"/>
          <p:cNvSpPr txBox="1"/>
          <p:nvPr/>
        </p:nvSpPr>
        <p:spPr>
          <a:xfrm>
            <a:off x="713232" y="4846320"/>
            <a:ext cx="9144000" cy="365760"/>
          </a:xfrm>
          <a:prstGeom prst="rect">
            <a:avLst/>
          </a:prstGeom>
          <a:noFill/>
        </p:spPr>
        <p:txBody>
          <a:bodyPr wrap="square" lIns="0" rIns="0" tIns="0" bIns="0" anchor="t"/>
          <a:lstStyle/>
          <a:p>
            <a:pPr algn="l">
              <a:lnSpc>
                <a:spcPct val="100000"/>
              </a:lnSpc>
              <a:spcBef>
                <a:spcPts val="0"/>
              </a:spcBef>
              <a:spcAft>
                <a:spcPts val="0"/>
              </a:spcAft>
            </a:pPr>
            <a:r>
              <a:rPr sz="2200" b="0" i="0">
                <a:solidFill>
                  <a:srgbClr val="161412"/>
                </a:solidFill>
                <a:latin typeface="Arial"/>
                <a:ea typeface="Arial"/>
                <a:cs typeface="Arial"/>
              </a:rPr>
              <a:t>Before the sentence, not after.</a:t>
            </a:r>
          </a:p>
        </p:txBody>
      </p:sp>
      <p:sp>
        <p:nvSpPr>
          <p:cNvPr id="11" name="TextBox 10"/>
          <p:cNvSpPr txBox="1"/>
          <p:nvPr/>
        </p:nvSpPr>
        <p:spPr>
          <a:xfrm>
            <a:off x="713232" y="5623560"/>
            <a:ext cx="3657600" cy="32004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Questions.</a:t>
            </a:r>
          </a:p>
        </p:txBody>
      </p:sp>
      <p:sp>
        <p:nvSpPr>
          <p:cNvPr id="12" name="TextBox 11"/>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80">
                <a:solidFill>
                  <a:srgbClr val="8A8478"/>
                </a:solidFill>
                <a:latin typeface="Arial"/>
                <a:ea typeface="Arial"/>
                <a:cs typeface="Arial"/>
              </a:rPr>
              <a:t>OPAL</a:t>
            </a:r>
          </a:p>
        </p:txBody>
      </p:sp>
      <p:sp>
        <p:nvSpPr>
          <p:cNvPr id="13" name="TextBox 12"/>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2103120"/>
            <a:ext cx="10972800" cy="365760"/>
          </a:xfrm>
          <a:prstGeom prst="rect">
            <a:avLst/>
          </a:prstGeom>
          <a:noFill/>
        </p:spPr>
        <p:txBody>
          <a:bodyPr wrap="square" lIns="0" rIns="0" tIns="0" bIns="0" anchor="t"/>
          <a:lstStyle/>
          <a:p>
            <a:pPr algn="l">
              <a:lnSpc>
                <a:spcPct val="100000"/>
              </a:lnSpc>
              <a:spcBef>
                <a:spcPts val="0"/>
              </a:spcBef>
              <a:spcAft>
                <a:spcPts val="0"/>
              </a:spcAft>
            </a:pPr>
            <a:r>
              <a:rPr sz="1400" b="1" i="0" spc="200">
                <a:solidFill>
                  <a:srgbClr val="C6A15A"/>
                </a:solidFill>
                <a:latin typeface="Arial"/>
                <a:ea typeface="Arial"/>
                <a:cs typeface="Arial"/>
              </a:rPr>
              <a:t>APPENDIX</a:t>
            </a:r>
          </a:p>
        </p:txBody>
      </p:sp>
      <p:sp>
        <p:nvSpPr>
          <p:cNvPr id="4" name="TextBox 3"/>
          <p:cNvSpPr txBox="1"/>
          <p:nvPr/>
        </p:nvSpPr>
        <p:spPr>
          <a:xfrm>
            <a:off x="685800" y="2514600"/>
            <a:ext cx="10972800" cy="1645920"/>
          </a:xfrm>
          <a:prstGeom prst="rect">
            <a:avLst/>
          </a:prstGeom>
          <a:noFill/>
        </p:spPr>
        <p:txBody>
          <a:bodyPr wrap="square" lIns="0" rIns="0" tIns="0" bIns="0" anchor="t"/>
          <a:lstStyle/>
          <a:p>
            <a:pPr algn="l">
              <a:lnSpc>
                <a:spcPct val="96000"/>
              </a:lnSpc>
              <a:spcBef>
                <a:spcPts val="0"/>
              </a:spcBef>
              <a:spcAft>
                <a:spcPts val="0"/>
              </a:spcAft>
            </a:pPr>
            <a:r>
              <a:rPr sz="5200" b="1" i="0">
                <a:solidFill>
                  <a:srgbClr val="F6F1E8"/>
                </a:solidFill>
                <a:latin typeface="Arial"/>
                <a:ea typeface="Arial"/>
                <a:cs typeface="Arial"/>
              </a:rPr>
              <a:t>Do not project</a:t>
            </a:r>
          </a:p>
          <a:p>
            <a:pPr algn="l">
              <a:lnSpc>
                <a:spcPct val="96000"/>
              </a:lnSpc>
              <a:spcBef>
                <a:spcPts val="0"/>
              </a:spcBef>
              <a:spcAft>
                <a:spcPts val="0"/>
              </a:spcAft>
            </a:pPr>
            <a:r>
              <a:rPr sz="5200" b="1" i="0">
                <a:solidFill>
                  <a:srgbClr val="F6F1E8"/>
                </a:solidFill>
                <a:latin typeface="Arial"/>
                <a:ea typeface="Arial"/>
                <a:cs typeface="Arial"/>
              </a:rPr>
              <a:t>the rest.</a:t>
            </a:r>
          </a:p>
        </p:txBody>
      </p:sp>
      <p:sp>
        <p:nvSpPr>
          <p:cNvPr id="5" name="TextBox 4"/>
          <p:cNvSpPr txBox="1"/>
          <p:nvPr/>
        </p:nvSpPr>
        <p:spPr>
          <a:xfrm>
            <a:off x="731520" y="4572000"/>
            <a:ext cx="10058400" cy="36576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C8C0B4"/>
                </a:solidFill>
                <a:latin typeface="Arial"/>
                <a:ea typeface="Arial"/>
                <a:cs typeface="Arial"/>
              </a:rPr>
              <a:t>Run of show, hallway script, repairs, report, sources.</a:t>
            </a:r>
          </a:p>
        </p:txBody>
      </p:sp>
      <p:sp>
        <p:nvSpPr>
          <p:cNvPr id="6" name="TextBox 5"/>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5C5852"/>
                </a:solidFill>
                <a:latin typeface="Arial"/>
                <a:ea typeface="Arial"/>
                <a:cs typeface="Arial"/>
              </a:rPr>
              <a:t>APPENDIX    ·    DO NOT PROJECT</a:t>
            </a:r>
          </a:p>
        </p:txBody>
      </p:sp>
      <p:sp>
        <p:nvSpPr>
          <p:cNvPr id="7" name="TextBox 6"/>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5C5852"/>
                </a:solidFill>
                <a:latin typeface="Arial"/>
                <a:ea typeface="Arial"/>
                <a:cs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56032"/>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RUN OF SHOW</a:t>
            </a:r>
          </a:p>
        </p:txBody>
      </p:sp>
      <p:sp>
        <p:nvSpPr>
          <p:cNvPr id="4" name="TextBox 3"/>
          <p:cNvSpPr txBox="1"/>
          <p:nvPr/>
        </p:nvSpPr>
        <p:spPr>
          <a:xfrm>
            <a:off x="658368" y="566928"/>
            <a:ext cx="10972800" cy="347472"/>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About nine minutes. The scare is not the grade.</a:t>
            </a:r>
          </a:p>
        </p:txBody>
      </p:sp>
      <p:sp>
        <p:nvSpPr>
          <p:cNvPr id="5" name="TextBox 4"/>
          <p:cNvSpPr txBox="1"/>
          <p:nvPr/>
        </p:nvSpPr>
        <p:spPr>
          <a:xfrm>
            <a:off x="658368" y="1051560"/>
            <a:ext cx="105156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8A5E32"/>
                </a:solidFill>
                <a:latin typeface="Arial"/>
                <a:ea typeface="Arial"/>
                <a:cs typeface="Arial"/>
              </a:rPr>
              <a:t>0:00</a:t>
            </a:r>
          </a:p>
        </p:txBody>
      </p:sp>
      <p:sp>
        <p:nvSpPr>
          <p:cNvPr id="6" name="TextBox 5"/>
          <p:cNvSpPr txBox="1"/>
          <p:nvPr/>
        </p:nvSpPr>
        <p:spPr>
          <a:xfrm>
            <a:off x="1783080" y="1051560"/>
            <a:ext cx="21031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Beside</a:t>
            </a:r>
          </a:p>
        </p:txBody>
      </p:sp>
      <p:sp>
        <p:nvSpPr>
          <p:cNvPr id="7" name="TextBox 6"/>
          <p:cNvSpPr txBox="1"/>
          <p:nvPr/>
        </p:nvSpPr>
        <p:spPr>
          <a:xfrm>
            <a:off x="4023360" y="1051560"/>
            <a:ext cx="7498079" cy="4114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Five volunteers. Straight face.</a:t>
            </a:r>
          </a:p>
        </p:txBody>
      </p:sp>
      <p:sp>
        <p:nvSpPr>
          <p:cNvPr id="8" name="TextBox 7"/>
          <p:cNvSpPr txBox="1"/>
          <p:nvPr/>
        </p:nvSpPr>
        <p:spPr>
          <a:xfrm>
            <a:off x="658368" y="1600200"/>
            <a:ext cx="105156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8A5E32"/>
                </a:solidFill>
                <a:latin typeface="Arial"/>
                <a:ea typeface="Arial"/>
                <a:cs typeface="Arial"/>
              </a:rPr>
              <a:t>0:30</a:t>
            </a:r>
          </a:p>
        </p:txBody>
      </p:sp>
      <p:sp>
        <p:nvSpPr>
          <p:cNvPr id="9" name="TextBox 8"/>
          <p:cNvSpPr txBox="1"/>
          <p:nvPr/>
        </p:nvSpPr>
        <p:spPr>
          <a:xfrm>
            <a:off x="1783080" y="1600200"/>
            <a:ext cx="21031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Hallway</a:t>
            </a:r>
          </a:p>
        </p:txBody>
      </p:sp>
      <p:sp>
        <p:nvSpPr>
          <p:cNvPr id="10" name="TextBox 9"/>
          <p:cNvSpPr txBox="1"/>
          <p:nvPr/>
        </p:nvSpPr>
        <p:spPr>
          <a:xfrm>
            <a:off x="4023360" y="1600200"/>
            <a:ext cx="7498079" cy="4114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Read the script. They sit back down. Nobody records.</a:t>
            </a:r>
          </a:p>
        </p:txBody>
      </p:sp>
      <p:sp>
        <p:nvSpPr>
          <p:cNvPr id="11" name="TextBox 10"/>
          <p:cNvSpPr txBox="1"/>
          <p:nvPr/>
        </p:nvSpPr>
        <p:spPr>
          <a:xfrm>
            <a:off x="658368" y="2148839"/>
            <a:ext cx="105156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8A5E32"/>
                </a:solidFill>
                <a:latin typeface="Arial"/>
                <a:ea typeface="Arial"/>
                <a:cs typeface="Arial"/>
              </a:rPr>
              <a:t>1:15</a:t>
            </a:r>
          </a:p>
        </p:txBody>
      </p:sp>
      <p:sp>
        <p:nvSpPr>
          <p:cNvPr id="12" name="TextBox 11"/>
          <p:cNvSpPr txBox="1"/>
          <p:nvPr/>
        </p:nvSpPr>
        <p:spPr>
          <a:xfrm>
            <a:off x="1783080" y="2148839"/>
            <a:ext cx="21031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Phones down</a:t>
            </a:r>
          </a:p>
        </p:txBody>
      </p:sp>
      <p:sp>
        <p:nvSpPr>
          <p:cNvPr id="13" name="TextBox 12"/>
          <p:cNvSpPr txBox="1"/>
          <p:nvPr/>
        </p:nvSpPr>
        <p:spPr>
          <a:xfrm>
            <a:off x="4023360" y="2148839"/>
            <a:ext cx="7498079" cy="4114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Groups. Ordinary is allowed.</a:t>
            </a:r>
          </a:p>
        </p:txBody>
      </p:sp>
      <p:sp>
        <p:nvSpPr>
          <p:cNvPr id="14" name="TextBox 13"/>
          <p:cNvSpPr txBox="1"/>
          <p:nvPr/>
        </p:nvSpPr>
        <p:spPr>
          <a:xfrm>
            <a:off x="658368" y="2697479"/>
            <a:ext cx="105156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8A5E32"/>
                </a:solidFill>
                <a:latin typeface="Arial"/>
                <a:ea typeface="Arial"/>
                <a:cs typeface="Arial"/>
              </a:rPr>
              <a:t>1:45</a:t>
            </a:r>
          </a:p>
        </p:txBody>
      </p:sp>
      <p:sp>
        <p:nvSpPr>
          <p:cNvPr id="15" name="TextBox 14"/>
          <p:cNvSpPr txBox="1"/>
          <p:nvPr/>
        </p:nvSpPr>
        <p:spPr>
          <a:xfrm>
            <a:off x="1783080" y="2697479"/>
            <a:ext cx="21031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Prompt</a:t>
            </a:r>
          </a:p>
        </p:txBody>
      </p:sp>
      <p:sp>
        <p:nvSpPr>
          <p:cNvPr id="16" name="TextBox 15"/>
          <p:cNvSpPr txBox="1"/>
          <p:nvPr/>
        </p:nvSpPr>
        <p:spPr>
          <a:xfrm>
            <a:off x="4023360" y="2697479"/>
            <a:ext cx="7498079" cy="4114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75 seconds. Watch for distress, not for stories.</a:t>
            </a:r>
          </a:p>
        </p:txBody>
      </p:sp>
      <p:sp>
        <p:nvSpPr>
          <p:cNvPr id="17" name="TextBox 16"/>
          <p:cNvSpPr txBox="1"/>
          <p:nvPr/>
        </p:nvSpPr>
        <p:spPr>
          <a:xfrm>
            <a:off x="658368" y="3246120"/>
            <a:ext cx="105156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8A5E32"/>
                </a:solidFill>
                <a:latin typeface="Arial"/>
                <a:ea typeface="Arial"/>
                <a:cs typeface="Arial"/>
              </a:rPr>
              <a:t>3:00</a:t>
            </a:r>
          </a:p>
        </p:txBody>
      </p:sp>
      <p:sp>
        <p:nvSpPr>
          <p:cNvPr id="18" name="TextBox 17"/>
          <p:cNvSpPr txBox="1"/>
          <p:nvPr/>
        </p:nvSpPr>
        <p:spPr>
          <a:xfrm>
            <a:off x="1783080" y="3246120"/>
            <a:ext cx="21031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Black slides</a:t>
            </a:r>
          </a:p>
        </p:txBody>
      </p:sp>
      <p:sp>
        <p:nvSpPr>
          <p:cNvPr id="19" name="TextBox 18"/>
          <p:cNvSpPr txBox="1"/>
          <p:nvPr/>
        </p:nvSpPr>
        <p:spPr>
          <a:xfrm>
            <a:off x="4023360" y="3246120"/>
            <a:ext cx="7498079" cy="4114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One second of silence. Skip the second if the room is shaky.</a:t>
            </a:r>
          </a:p>
        </p:txBody>
      </p:sp>
      <p:sp>
        <p:nvSpPr>
          <p:cNvPr id="20" name="TextBox 19"/>
          <p:cNvSpPr txBox="1"/>
          <p:nvPr/>
        </p:nvSpPr>
        <p:spPr>
          <a:xfrm>
            <a:off x="658368" y="3794760"/>
            <a:ext cx="105156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8A5E32"/>
                </a:solidFill>
                <a:latin typeface="Arial"/>
                <a:ea typeface="Arial"/>
                <a:cs typeface="Arial"/>
              </a:rPr>
              <a:t>3:15</a:t>
            </a:r>
          </a:p>
        </p:txBody>
      </p:sp>
      <p:sp>
        <p:nvSpPr>
          <p:cNvPr id="21" name="TextBox 20"/>
          <p:cNvSpPr txBox="1"/>
          <p:nvPr/>
        </p:nvSpPr>
        <p:spPr>
          <a:xfrm>
            <a:off x="1783080" y="3794760"/>
            <a:ext cx="21031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Clear</a:t>
            </a:r>
          </a:p>
        </p:txBody>
      </p:sp>
      <p:sp>
        <p:nvSpPr>
          <p:cNvPr id="22" name="TextBox 21"/>
          <p:cNvSpPr txBox="1"/>
          <p:nvPr/>
        </p:nvSpPr>
        <p:spPr>
          <a:xfrm>
            <a:off x="4023360" y="3794760"/>
            <a:ext cx="7498079" cy="4114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Phones up before any joke.</a:t>
            </a:r>
          </a:p>
        </p:txBody>
      </p:sp>
      <p:sp>
        <p:nvSpPr>
          <p:cNvPr id="23" name="TextBox 22"/>
          <p:cNvSpPr txBox="1"/>
          <p:nvPr/>
        </p:nvSpPr>
        <p:spPr>
          <a:xfrm>
            <a:off x="658368" y="4343400"/>
            <a:ext cx="105156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8A5E32"/>
                </a:solidFill>
                <a:latin typeface="Arial"/>
                <a:ea typeface="Arial"/>
                <a:cs typeface="Arial"/>
              </a:rPr>
              <a:t>3:40</a:t>
            </a:r>
          </a:p>
        </p:txBody>
      </p:sp>
      <p:sp>
        <p:nvSpPr>
          <p:cNvPr id="24" name="TextBox 23"/>
          <p:cNvSpPr txBox="1"/>
          <p:nvPr/>
        </p:nvSpPr>
        <p:spPr>
          <a:xfrm>
            <a:off x="1783080" y="4343400"/>
            <a:ext cx="21031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Requirement</a:t>
            </a:r>
          </a:p>
        </p:txBody>
      </p:sp>
      <p:sp>
        <p:nvSpPr>
          <p:cNvPr id="25" name="TextBox 24"/>
          <p:cNvSpPr txBox="1"/>
          <p:nvPr/>
        </p:nvSpPr>
        <p:spPr>
          <a:xfrm>
            <a:off x="4023360" y="4343400"/>
            <a:ext cx="7498079" cy="4114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Phone on the table. Acting normal. Still didn't know.</a:t>
            </a:r>
          </a:p>
        </p:txBody>
      </p:sp>
      <p:sp>
        <p:nvSpPr>
          <p:cNvPr id="26" name="TextBox 25"/>
          <p:cNvSpPr txBox="1"/>
          <p:nvPr/>
        </p:nvSpPr>
        <p:spPr>
          <a:xfrm>
            <a:off x="658368" y="4892040"/>
            <a:ext cx="105156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8A5E32"/>
                </a:solidFill>
                <a:latin typeface="Arial"/>
                <a:ea typeface="Arial"/>
                <a:cs typeface="Arial"/>
              </a:rPr>
              <a:t>4:00</a:t>
            </a:r>
          </a:p>
        </p:txBody>
      </p:sp>
      <p:sp>
        <p:nvSpPr>
          <p:cNvPr id="27" name="TextBox 26"/>
          <p:cNvSpPr txBox="1"/>
          <p:nvPr/>
        </p:nvSpPr>
        <p:spPr>
          <a:xfrm>
            <a:off x="1783080" y="4892040"/>
            <a:ext cx="21031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Opal</a:t>
            </a:r>
          </a:p>
        </p:txBody>
      </p:sp>
      <p:sp>
        <p:nvSpPr>
          <p:cNvPr id="28" name="TextBox 27"/>
          <p:cNvSpPr txBox="1"/>
          <p:nvPr/>
        </p:nvSpPr>
        <p:spPr>
          <a:xfrm>
            <a:off x="4023360" y="4892040"/>
            <a:ext cx="7498079" cy="4114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Keychain, then Meta glasses, then the three ornaments.</a:t>
            </a:r>
          </a:p>
        </p:txBody>
      </p:sp>
      <p:sp>
        <p:nvSpPr>
          <p:cNvPr id="29" name="TextBox 28"/>
          <p:cNvSpPr txBox="1"/>
          <p:nvPr/>
        </p:nvSpPr>
        <p:spPr>
          <a:xfrm>
            <a:off x="658368" y="5440679"/>
            <a:ext cx="105156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8A5E32"/>
                </a:solidFill>
                <a:latin typeface="Arial"/>
                <a:ea typeface="Arial"/>
                <a:cs typeface="Arial"/>
              </a:rPr>
              <a:t>9:00</a:t>
            </a:r>
          </a:p>
        </p:txBody>
      </p:sp>
      <p:sp>
        <p:nvSpPr>
          <p:cNvPr id="30" name="TextBox 29"/>
          <p:cNvSpPr txBox="1"/>
          <p:nvPr/>
        </p:nvSpPr>
        <p:spPr>
          <a:xfrm>
            <a:off x="1783080" y="5440679"/>
            <a:ext cx="21031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Questions</a:t>
            </a:r>
          </a:p>
        </p:txBody>
      </p:sp>
      <p:sp>
        <p:nvSpPr>
          <p:cNvPr id="31" name="TextBox 30"/>
          <p:cNvSpPr txBox="1"/>
          <p:nvPr/>
        </p:nvSpPr>
        <p:spPr>
          <a:xfrm>
            <a:off x="4023360" y="5440679"/>
            <a:ext cx="7498079" cy="4114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Lead with: idle is one tap, capturing stays, we do not name anyone.</a:t>
            </a:r>
          </a:p>
        </p:txBody>
      </p:sp>
      <p:sp>
        <p:nvSpPr>
          <p:cNvPr id="32" name="TextBox 31"/>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33" name="TextBox 32"/>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HALLWAY  ·  READ IT</a:t>
            </a:r>
          </a:p>
        </p:txBody>
      </p:sp>
      <p:sp>
        <p:nvSpPr>
          <p:cNvPr id="4" name="TextBox 3"/>
          <p:cNvSpPr txBox="1"/>
          <p:nvPr/>
        </p:nvSpPr>
        <p:spPr>
          <a:xfrm>
            <a:off x="658368" y="658368"/>
            <a:ext cx="10972800" cy="41148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Nobody outside is recording anything.</a:t>
            </a:r>
          </a:p>
        </p:txBody>
      </p:sp>
      <p:sp>
        <p:nvSpPr>
          <p:cNvPr id="5" name="Oval 4"/>
          <p:cNvSpPr/>
          <p:nvPr/>
        </p:nvSpPr>
        <p:spPr>
          <a:xfrm>
            <a:off x="713232" y="1325880"/>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371600"/>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1</a:t>
            </a:r>
          </a:p>
        </p:txBody>
      </p:sp>
      <p:sp>
        <p:nvSpPr>
          <p:cNvPr id="7" name="TextBox 6"/>
          <p:cNvSpPr txBox="1"/>
          <p:nvPr/>
        </p:nvSpPr>
        <p:spPr>
          <a:xfrm>
            <a:off x="1325880" y="1344168"/>
            <a:ext cx="9875520" cy="438912"/>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Walk back in separately. Sit down.</a:t>
            </a:r>
          </a:p>
        </p:txBody>
      </p:sp>
      <p:sp>
        <p:nvSpPr>
          <p:cNvPr id="8" name="Oval 7"/>
          <p:cNvSpPr/>
          <p:nvPr/>
        </p:nvSpPr>
        <p:spPr>
          <a:xfrm>
            <a:off x="713232" y="2075688"/>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121408"/>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2</a:t>
            </a:r>
          </a:p>
        </p:txBody>
      </p:sp>
      <p:sp>
        <p:nvSpPr>
          <p:cNvPr id="10" name="TextBox 9"/>
          <p:cNvSpPr txBox="1"/>
          <p:nvPr/>
        </p:nvSpPr>
        <p:spPr>
          <a:xfrm>
            <a:off x="1325880" y="2093976"/>
            <a:ext cx="9875520" cy="438912"/>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Phone face up, on the lock screen. Don't touch it.</a:t>
            </a:r>
          </a:p>
        </p:txBody>
      </p:sp>
      <p:sp>
        <p:nvSpPr>
          <p:cNvPr id="11" name="Oval 10"/>
          <p:cNvSpPr/>
          <p:nvPr/>
        </p:nvSpPr>
        <p:spPr>
          <a:xfrm>
            <a:off x="713232" y="2825496"/>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871215"/>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3</a:t>
            </a:r>
          </a:p>
        </p:txBody>
      </p:sp>
      <p:sp>
        <p:nvSpPr>
          <p:cNvPr id="13" name="TextBox 12"/>
          <p:cNvSpPr txBox="1"/>
          <p:nvPr/>
        </p:nvSpPr>
        <p:spPr>
          <a:xfrm>
            <a:off x="1325880" y="2843784"/>
            <a:ext cx="9875520" cy="438912"/>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Do not open the camera. Do not open voice memos. Do not take notes.</a:t>
            </a:r>
          </a:p>
        </p:txBody>
      </p:sp>
      <p:sp>
        <p:nvSpPr>
          <p:cNvPr id="14" name="Oval 13"/>
          <p:cNvSpPr/>
          <p:nvPr/>
        </p:nvSpPr>
        <p:spPr>
          <a:xfrm>
            <a:off x="713232" y="3575304"/>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621024"/>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4</a:t>
            </a:r>
          </a:p>
        </p:txBody>
      </p:sp>
      <p:sp>
        <p:nvSpPr>
          <p:cNvPr id="16" name="TextBox 15"/>
          <p:cNvSpPr txBox="1"/>
          <p:nvPr/>
        </p:nvSpPr>
        <p:spPr>
          <a:xfrm>
            <a:off x="1325880" y="3593592"/>
            <a:ext cx="9875520" cy="438912"/>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Look ordinary. If you smirk, the exercise dies.</a:t>
            </a:r>
          </a:p>
        </p:txBody>
      </p:sp>
      <p:sp>
        <p:nvSpPr>
          <p:cNvPr id="17" name="Oval 16"/>
          <p:cNvSpPr/>
          <p:nvPr/>
        </p:nvSpPr>
        <p:spPr>
          <a:xfrm>
            <a:off x="713232" y="4325112"/>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370831"/>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5</a:t>
            </a:r>
          </a:p>
        </p:txBody>
      </p:sp>
      <p:sp>
        <p:nvSpPr>
          <p:cNvPr id="19" name="TextBox 18"/>
          <p:cNvSpPr txBox="1"/>
          <p:nvPr/>
        </p:nvSpPr>
        <p:spPr>
          <a:xfrm>
            <a:off x="1325880" y="4343399"/>
            <a:ext cx="9875520" cy="438912"/>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When we say phones up, show the lock screen. Camera closed.</a:t>
            </a:r>
          </a:p>
        </p:txBody>
      </p:sp>
      <p:sp>
        <p:nvSpPr>
          <p:cNvPr id="20" name="Oval 19"/>
          <p:cNvSpPr/>
          <p:nvPr/>
        </p:nvSpPr>
        <p:spPr>
          <a:xfrm>
            <a:off x="713232" y="5074920"/>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120640"/>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6</a:t>
            </a:r>
          </a:p>
        </p:txBody>
      </p:sp>
      <p:sp>
        <p:nvSpPr>
          <p:cNvPr id="22" name="TextBox 21"/>
          <p:cNvSpPr txBox="1"/>
          <p:nvPr/>
        </p:nvSpPr>
        <p:spPr>
          <a:xfrm>
            <a:off x="1325880" y="5093207"/>
            <a:ext cx="9875520" cy="438912"/>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If anyone looks actually upset, don't wait. Phones up first.</a:t>
            </a:r>
          </a:p>
        </p:txBody>
      </p:sp>
      <p:sp>
        <p:nvSpPr>
          <p:cNvPr id="23" name="TextBox 22"/>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24" name="TextBox 23"/>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92608"/>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LINES</a:t>
            </a:r>
          </a:p>
        </p:txBody>
      </p:sp>
      <p:sp>
        <p:nvSpPr>
          <p:cNvPr id="4" name="TextBox 3"/>
          <p:cNvSpPr txBox="1"/>
          <p:nvPr/>
        </p:nvSpPr>
        <p:spPr>
          <a:xfrm>
            <a:off x="658368" y="621792"/>
            <a:ext cx="10972800" cy="41148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Say these. Don't decorate them.</a:t>
            </a:r>
          </a:p>
        </p:txBody>
      </p:sp>
      <p:sp>
        <p:nvSpPr>
          <p:cNvPr id="5" name="TextBox 4"/>
          <p:cNvSpPr txBox="1"/>
          <p:nvPr/>
        </p:nvSpPr>
        <p:spPr>
          <a:xfrm>
            <a:off x="685800" y="1234440"/>
            <a:ext cx="50292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E32"/>
                </a:solidFill>
                <a:latin typeface="Arial"/>
                <a:ea typeface="Arial"/>
                <a:cs typeface="Arial"/>
              </a:rPr>
              <a:t>OPEN</a:t>
            </a:r>
          </a:p>
        </p:txBody>
      </p:sp>
      <p:sp>
        <p:nvSpPr>
          <p:cNvPr id="6" name="TextBox 5"/>
          <p:cNvSpPr txBox="1"/>
          <p:nvPr/>
        </p:nvSpPr>
        <p:spPr>
          <a:xfrm>
            <a:off x="685800" y="152704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We changed our product. We need five volunteers outside.</a:t>
            </a:r>
          </a:p>
        </p:txBody>
      </p:sp>
      <p:sp>
        <p:nvSpPr>
          <p:cNvPr id="7" name="TextBox 6"/>
          <p:cNvSpPr txBox="1"/>
          <p:nvPr/>
        </p:nvSpPr>
        <p:spPr>
          <a:xfrm>
            <a:off x="685800" y="2423160"/>
            <a:ext cx="50292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E32"/>
                </a:solidFill>
                <a:latin typeface="Arial"/>
                <a:ea typeface="Arial"/>
                <a:cs typeface="Arial"/>
              </a:rPr>
              <a:t>EXERCISE</a:t>
            </a:r>
          </a:p>
        </p:txBody>
      </p:sp>
      <p:sp>
        <p:nvSpPr>
          <p:cNvPr id="8" name="TextBox 7"/>
          <p:cNvSpPr txBox="1"/>
          <p:nvPr/>
        </p:nvSpPr>
        <p:spPr>
          <a:xfrm>
            <a:off x="685800" y="271576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How your week went is enough. You don't owe an embarrassing story.</a:t>
            </a:r>
          </a:p>
        </p:txBody>
      </p:sp>
      <p:sp>
        <p:nvSpPr>
          <p:cNvPr id="9" name="TextBox 8"/>
          <p:cNvSpPr txBox="1"/>
          <p:nvPr/>
        </p:nvSpPr>
        <p:spPr>
          <a:xfrm>
            <a:off x="685800" y="3611880"/>
            <a:ext cx="50292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E32"/>
                </a:solidFill>
                <a:latin typeface="Arial"/>
                <a:ea typeface="Arial"/>
                <a:cs typeface="Arial"/>
              </a:rPr>
              <a:t>REVEAL</a:t>
            </a:r>
          </a:p>
        </p:txBody>
      </p:sp>
      <p:sp>
        <p:nvSpPr>
          <p:cNvPr id="10" name="TextBox 9"/>
          <p:cNvSpPr txBox="1"/>
          <p:nvPr/>
        </p:nvSpPr>
        <p:spPr>
          <a:xfrm>
            <a:off x="685800" y="390448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The volunteers were recording you.</a:t>
            </a:r>
          </a:p>
        </p:txBody>
      </p:sp>
      <p:sp>
        <p:nvSpPr>
          <p:cNvPr id="11" name="TextBox 10"/>
          <p:cNvSpPr txBox="1"/>
          <p:nvPr/>
        </p:nvSpPr>
        <p:spPr>
          <a:xfrm>
            <a:off x="685800" y="4800600"/>
            <a:ext cx="50292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E32"/>
                </a:solidFill>
                <a:latin typeface="Arial"/>
                <a:ea typeface="Arial"/>
                <a:cs typeface="Arial"/>
              </a:rPr>
              <a:t>CLEAR</a:t>
            </a:r>
          </a:p>
        </p:txBody>
      </p:sp>
      <p:sp>
        <p:nvSpPr>
          <p:cNvPr id="12" name="TextBox 11"/>
          <p:cNvSpPr txBox="1"/>
          <p:nvPr/>
        </p:nvSpPr>
        <p:spPr>
          <a:xfrm>
            <a:off x="685800" y="509320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Nobody recorded you. Nothing exists. Phones up.</a:t>
            </a:r>
          </a:p>
        </p:txBody>
      </p:sp>
      <p:sp>
        <p:nvSpPr>
          <p:cNvPr id="13" name="TextBox 12"/>
          <p:cNvSpPr txBox="1"/>
          <p:nvPr/>
        </p:nvSpPr>
        <p:spPr>
          <a:xfrm>
            <a:off x="6400800" y="1234440"/>
            <a:ext cx="512064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C4492C"/>
                </a:solidFill>
                <a:latin typeface="Arial"/>
                <a:ea typeface="Arial"/>
                <a:cs typeface="Arial"/>
              </a:rPr>
              <a:t>HINGE</a:t>
            </a:r>
          </a:p>
        </p:txBody>
      </p:sp>
      <p:sp>
        <p:nvSpPr>
          <p:cNvPr id="14" name="TextBox 13"/>
          <p:cNvSpPr txBox="1"/>
          <p:nvPr/>
        </p:nvSpPr>
        <p:spPr>
          <a:xfrm>
            <a:off x="6400800" y="152704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Your phone was on the table. You still would not have known.</a:t>
            </a:r>
          </a:p>
        </p:txBody>
      </p:sp>
      <p:sp>
        <p:nvSpPr>
          <p:cNvPr id="15" name="TextBox 14"/>
          <p:cNvSpPr txBox="1"/>
          <p:nvPr/>
        </p:nvSpPr>
        <p:spPr>
          <a:xfrm>
            <a:off x="6400800" y="2423160"/>
            <a:ext cx="512064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C4492C"/>
                </a:solidFill>
                <a:latin typeface="Arial"/>
                <a:ea typeface="Arial"/>
                <a:cs typeface="Arial"/>
              </a:rPr>
              <a:t>KEYCHAIN</a:t>
            </a:r>
          </a:p>
        </p:txBody>
      </p:sp>
      <p:sp>
        <p:nvSpPr>
          <p:cNvPr id="16" name="TextBox 15"/>
          <p:cNvSpPr txBox="1"/>
          <p:nvPr/>
        </p:nvSpPr>
        <p:spPr>
          <a:xfrm>
            <a:off x="6400800" y="271576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It could detect. Nobody wanted it out.</a:t>
            </a:r>
          </a:p>
        </p:txBody>
      </p:sp>
      <p:sp>
        <p:nvSpPr>
          <p:cNvPr id="17" name="TextBox 16"/>
          <p:cNvSpPr txBox="1"/>
          <p:nvPr/>
        </p:nvSpPr>
        <p:spPr>
          <a:xfrm>
            <a:off x="6400800" y="3611880"/>
            <a:ext cx="512064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C4492C"/>
                </a:solidFill>
                <a:latin typeface="Arial"/>
                <a:ea typeface="Arial"/>
                <a:cs typeface="Arial"/>
              </a:rPr>
              <a:t>PRODUCT</a:t>
            </a:r>
          </a:p>
        </p:txBody>
      </p:sp>
      <p:sp>
        <p:nvSpPr>
          <p:cNvPr id="18" name="TextBox 17"/>
          <p:cNvSpPr txBox="1"/>
          <p:nvPr/>
        </p:nvSpPr>
        <p:spPr>
          <a:xfrm>
            <a:off x="6400800" y="390448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Opal notices Meta glasses. It looks like a pin.</a:t>
            </a:r>
          </a:p>
        </p:txBody>
      </p:sp>
      <p:sp>
        <p:nvSpPr>
          <p:cNvPr id="19" name="TextBox 18"/>
          <p:cNvSpPr txBox="1"/>
          <p:nvPr/>
        </p:nvSpPr>
        <p:spPr>
          <a:xfrm>
            <a:off x="6400800" y="4800600"/>
            <a:ext cx="512064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C4492C"/>
                </a:solidFill>
                <a:latin typeface="Arial"/>
                <a:ea typeface="Arial"/>
                <a:cs typeface="Arial"/>
              </a:rPr>
              <a:t>LIMIT</a:t>
            </a:r>
          </a:p>
        </p:txBody>
      </p:sp>
      <p:sp>
        <p:nvSpPr>
          <p:cNvPr id="20" name="TextBox 19"/>
          <p:cNvSpPr txBox="1"/>
          <p:nvPr/>
        </p:nvSpPr>
        <p:spPr>
          <a:xfrm>
            <a:off x="6400800" y="509320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Idle is one tap. Capturing stays. We do not name anyone.</a:t>
            </a:r>
          </a:p>
        </p:txBody>
      </p:sp>
      <p:sp>
        <p:nvSpPr>
          <p:cNvPr id="21" name="TextBox 20"/>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22" name="TextBox 21"/>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92608"/>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IF IT BREAKS</a:t>
            </a:r>
          </a:p>
        </p:txBody>
      </p:sp>
      <p:sp>
        <p:nvSpPr>
          <p:cNvPr id="4" name="TextBox 3"/>
          <p:cNvSpPr txBox="1"/>
          <p:nvPr/>
        </p:nvSpPr>
        <p:spPr>
          <a:xfrm>
            <a:off x="658368" y="621792"/>
            <a:ext cx="10972800" cy="384048"/>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Leave the bit. Keep the product.</a:t>
            </a:r>
          </a:p>
        </p:txBody>
      </p:sp>
      <p:sp>
        <p:nvSpPr>
          <p:cNvPr id="5" name="TextBox 4"/>
          <p:cNvSpPr txBox="1"/>
          <p:nvPr/>
        </p:nvSpPr>
        <p:spPr>
          <a:xfrm>
            <a:off x="658368" y="123444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Someone won't share</a:t>
            </a:r>
          </a:p>
        </p:txBody>
      </p:sp>
      <p:sp>
        <p:nvSpPr>
          <p:cNvPr id="6" name="TextBox 5"/>
          <p:cNvSpPr txBox="1"/>
          <p:nvPr/>
        </p:nvSpPr>
        <p:spPr>
          <a:xfrm>
            <a:off x="658368" y="1618488"/>
            <a:ext cx="5486400" cy="91440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Then talk about lunch. Beside doesn't get to demand a confession.</a:t>
            </a:r>
          </a:p>
        </p:txBody>
      </p:sp>
      <p:sp>
        <p:nvSpPr>
          <p:cNvPr id="7" name="TextBox 6"/>
          <p:cNvSpPr txBox="1"/>
          <p:nvPr/>
        </p:nvSpPr>
        <p:spPr>
          <a:xfrm>
            <a:off x="6419088" y="123444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Someone is upset</a:t>
            </a:r>
          </a:p>
        </p:txBody>
      </p:sp>
      <p:sp>
        <p:nvSpPr>
          <p:cNvPr id="8" name="TextBox 7"/>
          <p:cNvSpPr txBox="1"/>
          <p:nvPr/>
        </p:nvSpPr>
        <p:spPr>
          <a:xfrm>
            <a:off x="6419088" y="1618488"/>
            <a:ext cx="5486400" cy="91440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Clear slide, immediately. Skip the rest of the scare. Talk after class, not from the front.</a:t>
            </a:r>
          </a:p>
        </p:txBody>
      </p:sp>
      <p:sp>
        <p:nvSpPr>
          <p:cNvPr id="9" name="TextBox 8"/>
          <p:cNvSpPr txBox="1"/>
          <p:nvPr/>
        </p:nvSpPr>
        <p:spPr>
          <a:xfrm>
            <a:off x="658368" y="283464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A volunteer recorded</a:t>
            </a:r>
          </a:p>
        </p:txBody>
      </p:sp>
      <p:sp>
        <p:nvSpPr>
          <p:cNvPr id="10" name="TextBox 9"/>
          <p:cNvSpPr txBox="1"/>
          <p:nvPr/>
        </p:nvSpPr>
        <p:spPr>
          <a:xfrm>
            <a:off x="658368" y="3218688"/>
            <a:ext cx="5486400" cy="91440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Stop. Delete it in front of the room. Tell the professor. Do not pitch today.</a:t>
            </a:r>
          </a:p>
        </p:txBody>
      </p:sp>
      <p:sp>
        <p:nvSpPr>
          <p:cNvPr id="11" name="TextBox 10"/>
          <p:cNvSpPr txBox="1"/>
          <p:nvPr/>
        </p:nvSpPr>
        <p:spPr>
          <a:xfrm>
            <a:off x="6419088" y="283464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 professor hates it</a:t>
            </a:r>
          </a:p>
        </p:txBody>
      </p:sp>
      <p:sp>
        <p:nvSpPr>
          <p:cNvPr id="12" name="TextBox 11"/>
          <p:cNvSpPr txBox="1"/>
          <p:nvPr/>
        </p:nvSpPr>
        <p:spPr>
          <a:xfrm>
            <a:off x="6419088" y="3218688"/>
            <a:ext cx="5486400" cy="91440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Start at Opal. The ornament does not need the scare to make sense.</a:t>
            </a:r>
          </a:p>
        </p:txBody>
      </p:sp>
      <p:sp>
        <p:nvSpPr>
          <p:cNvPr id="13" name="TextBox 12"/>
          <p:cNvSpPr txBox="1"/>
          <p:nvPr/>
        </p:nvSpPr>
        <p:spPr>
          <a:xfrm>
            <a:off x="658368" y="443484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They say glasses already blink</a:t>
            </a:r>
          </a:p>
        </p:txBody>
      </p:sp>
      <p:sp>
        <p:nvSpPr>
          <p:cNvPr id="14" name="TextBox 13"/>
          <p:cNvSpPr txBox="1"/>
          <p:nvPr/>
        </p:nvSpPr>
        <p:spPr>
          <a:xfrm>
            <a:off x="658368" y="4818888"/>
            <a:ext cx="5486400" cy="91440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Agree. We use that blink. The gap is that you have to be looking at the frame.</a:t>
            </a:r>
          </a:p>
        </p:txBody>
      </p:sp>
      <p:sp>
        <p:nvSpPr>
          <p:cNvPr id="15" name="TextBox 14"/>
          <p:cNvSpPr txBox="1"/>
          <p:nvPr/>
        </p:nvSpPr>
        <p:spPr>
          <a:xfrm>
            <a:off x="6419088" y="443484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They ask for a price</a:t>
            </a:r>
          </a:p>
        </p:txBody>
      </p:sp>
      <p:sp>
        <p:nvSpPr>
          <p:cNvPr id="16" name="TextBox 15"/>
          <p:cNvSpPr txBox="1"/>
          <p:nvPr/>
        </p:nvSpPr>
        <p:spPr>
          <a:xfrm>
            <a:off x="6419088" y="4818888"/>
            <a:ext cx="5486400" cy="91440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We don't have a parts list. A price before that is fiction. The test is whether you would wear it.</a:t>
            </a:r>
          </a:p>
        </p:txBody>
      </p:sp>
      <p:sp>
        <p:nvSpPr>
          <p:cNvPr id="17" name="TextBox 16"/>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56032"/>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WRITTEN REPORT  ·  15 POINTS</a:t>
            </a:r>
          </a:p>
        </p:txBody>
      </p:sp>
      <p:sp>
        <p:nvSpPr>
          <p:cNvPr id="4" name="TextBox 3"/>
          <p:cNvSpPr txBox="1"/>
          <p:nvPr/>
        </p:nvSpPr>
        <p:spPr>
          <a:xfrm>
            <a:off x="658368" y="566928"/>
            <a:ext cx="10972800" cy="36576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Due Sunday, May 17, 2026.</a:t>
            </a:r>
          </a:p>
        </p:txBody>
      </p:sp>
      <p:sp>
        <p:nvSpPr>
          <p:cNvPr id="5" name="TextBox 4"/>
          <p:cNvSpPr txBox="1"/>
          <p:nvPr/>
        </p:nvSpPr>
        <p:spPr>
          <a:xfrm>
            <a:off x="658368" y="1097280"/>
            <a:ext cx="365760" cy="256032"/>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E32"/>
                </a:solidFill>
                <a:latin typeface="Arial"/>
                <a:ea typeface="Arial"/>
                <a:cs typeface="Arial"/>
              </a:rPr>
              <a:t>1</a:t>
            </a:r>
          </a:p>
        </p:txBody>
      </p:sp>
      <p:sp>
        <p:nvSpPr>
          <p:cNvPr id="6" name="TextBox 5"/>
          <p:cNvSpPr txBox="1"/>
          <p:nvPr/>
        </p:nvSpPr>
        <p:spPr>
          <a:xfrm>
            <a:off x="1069848" y="1097280"/>
            <a:ext cx="5029200" cy="256032"/>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The scene</a:t>
            </a:r>
          </a:p>
        </p:txBody>
      </p:sp>
      <p:sp>
        <p:nvSpPr>
          <p:cNvPr id="7" name="TextBox 6"/>
          <p:cNvSpPr txBox="1"/>
          <p:nvPr/>
        </p:nvSpPr>
        <p:spPr>
          <a:xfrm>
            <a:off x="1069848" y="1389888"/>
            <a:ext cx="5120640" cy="54864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A room that likes Meta glasses, and a table where phones were down.</a:t>
            </a:r>
          </a:p>
        </p:txBody>
      </p:sp>
      <p:sp>
        <p:nvSpPr>
          <p:cNvPr id="8" name="TextBox 7"/>
          <p:cNvSpPr txBox="1"/>
          <p:nvPr/>
        </p:nvSpPr>
        <p:spPr>
          <a:xfrm>
            <a:off x="658368" y="2084832"/>
            <a:ext cx="365760" cy="256032"/>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E32"/>
                </a:solidFill>
                <a:latin typeface="Arial"/>
                <a:ea typeface="Arial"/>
                <a:cs typeface="Arial"/>
              </a:rPr>
              <a:t>2</a:t>
            </a:r>
          </a:p>
        </p:txBody>
      </p:sp>
      <p:sp>
        <p:nvSpPr>
          <p:cNvPr id="9" name="TextBox 8"/>
          <p:cNvSpPr txBox="1"/>
          <p:nvPr/>
        </p:nvSpPr>
        <p:spPr>
          <a:xfrm>
            <a:off x="1069848" y="2084832"/>
            <a:ext cx="5029200" cy="256032"/>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The exercise</a:t>
            </a:r>
          </a:p>
        </p:txBody>
      </p:sp>
      <p:sp>
        <p:nvSpPr>
          <p:cNvPr id="10" name="TextBox 9"/>
          <p:cNvSpPr txBox="1"/>
          <p:nvPr/>
        </p:nvSpPr>
        <p:spPr>
          <a:xfrm>
            <a:off x="1069848" y="2377440"/>
            <a:ext cx="5120640" cy="54864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What you staged, what you refused to record, how the room reacted.</a:t>
            </a:r>
          </a:p>
        </p:txBody>
      </p:sp>
      <p:sp>
        <p:nvSpPr>
          <p:cNvPr id="11" name="TextBox 10"/>
          <p:cNvSpPr txBox="1"/>
          <p:nvPr/>
        </p:nvSpPr>
        <p:spPr>
          <a:xfrm>
            <a:off x="658368" y="3072384"/>
            <a:ext cx="365760" cy="256032"/>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E32"/>
                </a:solidFill>
                <a:latin typeface="Arial"/>
                <a:ea typeface="Arial"/>
                <a:cs typeface="Arial"/>
              </a:rPr>
              <a:t>3</a:t>
            </a:r>
          </a:p>
        </p:txBody>
      </p:sp>
      <p:sp>
        <p:nvSpPr>
          <p:cNvPr id="12" name="TextBox 11"/>
          <p:cNvSpPr txBox="1"/>
          <p:nvPr/>
        </p:nvSpPr>
        <p:spPr>
          <a:xfrm>
            <a:off x="1069848" y="3072384"/>
            <a:ext cx="5029200" cy="256032"/>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The requirement</a:t>
            </a:r>
          </a:p>
        </p:txBody>
      </p:sp>
      <p:sp>
        <p:nvSpPr>
          <p:cNvPr id="13" name="TextBox 12"/>
          <p:cNvSpPr txBox="1"/>
          <p:nvPr/>
        </p:nvSpPr>
        <p:spPr>
          <a:xfrm>
            <a:off x="1069848" y="3364992"/>
            <a:ext cx="5120640" cy="54864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Know, while acting normal, without looking at a screen or a temple.</a:t>
            </a:r>
          </a:p>
        </p:txBody>
      </p:sp>
      <p:sp>
        <p:nvSpPr>
          <p:cNvPr id="14" name="TextBox 13"/>
          <p:cNvSpPr txBox="1"/>
          <p:nvPr/>
        </p:nvSpPr>
        <p:spPr>
          <a:xfrm>
            <a:off x="658368" y="4059936"/>
            <a:ext cx="365760" cy="256032"/>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E32"/>
                </a:solidFill>
                <a:latin typeface="Arial"/>
                <a:ea typeface="Arial"/>
                <a:cs typeface="Arial"/>
              </a:rPr>
              <a:t>4</a:t>
            </a:r>
          </a:p>
        </p:txBody>
      </p:sp>
      <p:sp>
        <p:nvSpPr>
          <p:cNvPr id="15" name="TextBox 14"/>
          <p:cNvSpPr txBox="1"/>
          <p:nvPr/>
        </p:nvSpPr>
        <p:spPr>
          <a:xfrm>
            <a:off x="1069848" y="4059936"/>
            <a:ext cx="5029200" cy="256032"/>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Why the keychain lost</a:t>
            </a:r>
          </a:p>
        </p:txBody>
      </p:sp>
      <p:sp>
        <p:nvSpPr>
          <p:cNvPr id="16" name="TextBox 15"/>
          <p:cNvSpPr txBox="1"/>
          <p:nvPr/>
        </p:nvSpPr>
        <p:spPr>
          <a:xfrm>
            <a:off x="1069848" y="4352544"/>
            <a:ext cx="5120640" cy="54864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It could do the job. It looked like the job. People would not wear it.</a:t>
            </a:r>
          </a:p>
        </p:txBody>
      </p:sp>
      <p:sp>
        <p:nvSpPr>
          <p:cNvPr id="17" name="TextBox 16"/>
          <p:cNvSpPr txBox="1"/>
          <p:nvPr/>
        </p:nvSpPr>
        <p:spPr>
          <a:xfrm>
            <a:off x="658368" y="5047488"/>
            <a:ext cx="365760" cy="256032"/>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E32"/>
                </a:solidFill>
                <a:latin typeface="Arial"/>
                <a:ea typeface="Arial"/>
                <a:cs typeface="Arial"/>
              </a:rPr>
              <a:t>5</a:t>
            </a:r>
          </a:p>
        </p:txBody>
      </p:sp>
      <p:sp>
        <p:nvSpPr>
          <p:cNvPr id="18" name="TextBox 17"/>
          <p:cNvSpPr txBox="1"/>
          <p:nvPr/>
        </p:nvSpPr>
        <p:spPr>
          <a:xfrm>
            <a:off x="1069848" y="5047488"/>
            <a:ext cx="5029200" cy="256032"/>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Opal</a:t>
            </a:r>
          </a:p>
        </p:txBody>
      </p:sp>
      <p:sp>
        <p:nvSpPr>
          <p:cNvPr id="19" name="TextBox 18"/>
          <p:cNvSpPr txBox="1"/>
          <p:nvPr/>
        </p:nvSpPr>
        <p:spPr>
          <a:xfrm>
            <a:off x="1069848" y="5340096"/>
            <a:ext cx="5120640" cy="54864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Pin, clip, charm. Same sensor. Private tap. No lamp on the front.</a:t>
            </a:r>
          </a:p>
        </p:txBody>
      </p:sp>
      <p:sp>
        <p:nvSpPr>
          <p:cNvPr id="20" name="TextBox 19"/>
          <p:cNvSpPr txBox="1"/>
          <p:nvPr/>
        </p:nvSpPr>
        <p:spPr>
          <a:xfrm>
            <a:off x="6419088" y="1097280"/>
            <a:ext cx="365760" cy="256032"/>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E32"/>
                </a:solidFill>
                <a:latin typeface="Arial"/>
                <a:ea typeface="Arial"/>
                <a:cs typeface="Arial"/>
              </a:rPr>
              <a:t>6</a:t>
            </a:r>
          </a:p>
        </p:txBody>
      </p:sp>
      <p:sp>
        <p:nvSpPr>
          <p:cNvPr id="21" name="TextBox 20"/>
          <p:cNvSpPr txBox="1"/>
          <p:nvPr/>
        </p:nvSpPr>
        <p:spPr>
          <a:xfrm>
            <a:off x="6830568" y="1097280"/>
            <a:ext cx="5029200" cy="256032"/>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Meta, present</a:t>
            </a:r>
          </a:p>
        </p:txBody>
      </p:sp>
      <p:sp>
        <p:nvSpPr>
          <p:cNvPr id="22" name="TextBox 21"/>
          <p:cNvSpPr txBox="1"/>
          <p:nvPr/>
        </p:nvSpPr>
        <p:spPr>
          <a:xfrm>
            <a:off x="6830568" y="1389888"/>
            <a:ext cx="5120640" cy="54864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Bluetooth the glasses already speak. A few meters. No name stored.</a:t>
            </a:r>
          </a:p>
        </p:txBody>
      </p:sp>
      <p:sp>
        <p:nvSpPr>
          <p:cNvPr id="23" name="TextBox 22"/>
          <p:cNvSpPr txBox="1"/>
          <p:nvPr/>
        </p:nvSpPr>
        <p:spPr>
          <a:xfrm>
            <a:off x="6419088" y="2084832"/>
            <a:ext cx="365760" cy="256032"/>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E32"/>
                </a:solidFill>
                <a:latin typeface="Arial"/>
                <a:ea typeface="Arial"/>
                <a:cs typeface="Arial"/>
              </a:rPr>
              <a:t>7</a:t>
            </a:r>
          </a:p>
        </p:txBody>
      </p:sp>
      <p:sp>
        <p:nvSpPr>
          <p:cNvPr id="24" name="TextBox 23"/>
          <p:cNvSpPr txBox="1"/>
          <p:nvPr/>
        </p:nvSpPr>
        <p:spPr>
          <a:xfrm>
            <a:off x="6830568" y="2084832"/>
            <a:ext cx="5029200" cy="256032"/>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Meta, capturing</a:t>
            </a:r>
          </a:p>
        </p:txBody>
      </p:sp>
      <p:sp>
        <p:nvSpPr>
          <p:cNvPr id="25" name="TextBox 24"/>
          <p:cNvSpPr txBox="1"/>
          <p:nvPr/>
        </p:nvSpPr>
        <p:spPr>
          <a:xfrm>
            <a:off x="6830568" y="2377440"/>
            <a:ext cx="5120640" cy="54864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The published capture blink. A longer pulse. Idle is only one tap.</a:t>
            </a:r>
          </a:p>
        </p:txBody>
      </p:sp>
      <p:sp>
        <p:nvSpPr>
          <p:cNvPr id="26" name="TextBox 25"/>
          <p:cNvSpPr txBox="1"/>
          <p:nvPr/>
        </p:nvSpPr>
        <p:spPr>
          <a:xfrm>
            <a:off x="6419088" y="3072384"/>
            <a:ext cx="365760" cy="256032"/>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E32"/>
                </a:solidFill>
                <a:latin typeface="Arial"/>
                <a:ea typeface="Arial"/>
                <a:cs typeface="Arial"/>
              </a:rPr>
              <a:t>8</a:t>
            </a:r>
          </a:p>
        </p:txBody>
      </p:sp>
      <p:sp>
        <p:nvSpPr>
          <p:cNvPr id="27" name="TextBox 26"/>
          <p:cNvSpPr txBox="1"/>
          <p:nvPr/>
        </p:nvSpPr>
        <p:spPr>
          <a:xfrm>
            <a:off x="6830568" y="3072384"/>
            <a:ext cx="5029200" cy="256032"/>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Refusals</a:t>
            </a:r>
          </a:p>
        </p:txBody>
      </p:sp>
      <p:sp>
        <p:nvSpPr>
          <p:cNvPr id="28" name="TextBox 27"/>
          <p:cNvSpPr txBox="1"/>
          <p:nvPr/>
        </p:nvSpPr>
        <p:spPr>
          <a:xfrm>
            <a:off x="6830568" y="3364992"/>
            <a:ext cx="5120640" cy="54864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No recording, no names, no tracking, no bypass, silence is not proof.</a:t>
            </a:r>
          </a:p>
        </p:txBody>
      </p:sp>
      <p:sp>
        <p:nvSpPr>
          <p:cNvPr id="29" name="TextBox 28"/>
          <p:cNvSpPr txBox="1"/>
          <p:nvPr/>
        </p:nvSpPr>
        <p:spPr>
          <a:xfrm>
            <a:off x="6419088" y="4059936"/>
            <a:ext cx="365760" cy="256032"/>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E32"/>
                </a:solidFill>
                <a:latin typeface="Arial"/>
                <a:ea typeface="Arial"/>
                <a:cs typeface="Arial"/>
              </a:rPr>
              <a:t>9</a:t>
            </a:r>
          </a:p>
        </p:txBody>
      </p:sp>
      <p:sp>
        <p:nvSpPr>
          <p:cNvPr id="30" name="TextBox 29"/>
          <p:cNvSpPr txBox="1"/>
          <p:nvPr/>
        </p:nvSpPr>
        <p:spPr>
          <a:xfrm>
            <a:off x="6830568" y="4059936"/>
            <a:ext cx="5029200" cy="256032"/>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Evidence</a:t>
            </a:r>
          </a:p>
        </p:txBody>
      </p:sp>
      <p:sp>
        <p:nvSpPr>
          <p:cNvPr id="31" name="TextBox 30"/>
          <p:cNvSpPr txBox="1"/>
          <p:nvPr/>
        </p:nvSpPr>
        <p:spPr>
          <a:xfrm>
            <a:off x="6830568" y="4352544"/>
            <a:ext cx="5120640" cy="54864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Would you wear it? And, after class: want the tap, or just startled?</a:t>
            </a:r>
          </a:p>
        </p:txBody>
      </p:sp>
      <p:sp>
        <p:nvSpPr>
          <p:cNvPr id="32" name="TextBox 31"/>
          <p:cNvSpPr txBox="1"/>
          <p:nvPr/>
        </p:nvSpPr>
        <p:spPr>
          <a:xfrm>
            <a:off x="6419088" y="5047488"/>
            <a:ext cx="365760" cy="256032"/>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E32"/>
                </a:solidFill>
                <a:latin typeface="Arial"/>
                <a:ea typeface="Arial"/>
                <a:cs typeface="Arial"/>
              </a:rPr>
              <a:t>10</a:t>
            </a:r>
          </a:p>
        </p:txBody>
      </p:sp>
      <p:sp>
        <p:nvSpPr>
          <p:cNvPr id="33" name="TextBox 32"/>
          <p:cNvSpPr txBox="1"/>
          <p:nvPr/>
        </p:nvSpPr>
        <p:spPr>
          <a:xfrm>
            <a:off x="6830568" y="5047488"/>
            <a:ext cx="5029200" cy="256032"/>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Team</a:t>
            </a:r>
          </a:p>
        </p:txBody>
      </p:sp>
      <p:sp>
        <p:nvSpPr>
          <p:cNvPr id="34" name="TextBox 33"/>
          <p:cNvSpPr txBox="1"/>
          <p:nvPr/>
        </p:nvSpPr>
        <p:spPr>
          <a:xfrm>
            <a:off x="6830568" y="5340096"/>
            <a:ext cx="5120640" cy="54864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Who made the prop, who spoke, what you would build next.</a:t>
            </a:r>
          </a:p>
        </p:txBody>
      </p:sp>
      <p:sp>
        <p:nvSpPr>
          <p:cNvPr id="35" name="TextBox 34"/>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36" name="TextBox 35"/>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92608"/>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BEFORE YOU PRESENT</a:t>
            </a:r>
          </a:p>
        </p:txBody>
      </p:sp>
      <p:sp>
        <p:nvSpPr>
          <p:cNvPr id="4" name="TextBox 3"/>
          <p:cNvSpPr txBox="1"/>
          <p:nvPr/>
        </p:nvSpPr>
        <p:spPr>
          <a:xfrm>
            <a:off x="658368" y="777240"/>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Names</a:t>
            </a:r>
          </a:p>
        </p:txBody>
      </p:sp>
      <p:sp>
        <p:nvSpPr>
          <p:cNvPr id="5" name="TextBox 4"/>
          <p:cNvSpPr txBox="1"/>
          <p:nvPr/>
        </p:nvSpPr>
        <p:spPr>
          <a:xfrm>
            <a:off x="658368" y="110642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Three names on the Opal title.</a:t>
            </a:r>
          </a:p>
        </p:txBody>
      </p:sp>
      <p:sp>
        <p:nvSpPr>
          <p:cNvPr id="6" name="TextBox 5"/>
          <p:cNvSpPr txBox="1"/>
          <p:nvPr/>
        </p:nvSpPr>
        <p:spPr>
          <a:xfrm>
            <a:off x="6419088" y="777240"/>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 professor</a:t>
            </a:r>
          </a:p>
        </p:txBody>
      </p:sp>
      <p:sp>
        <p:nvSpPr>
          <p:cNvPr id="7" name="TextBox 6"/>
          <p:cNvSpPr txBox="1"/>
          <p:nvPr/>
        </p:nvSpPr>
        <p:spPr>
          <a:xfrm>
            <a:off x="6419088" y="110642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The day before. Black slides are a feeling. Nobody records. A veto means you start at Opal.</a:t>
            </a:r>
          </a:p>
        </p:txBody>
      </p:sp>
      <p:sp>
        <p:nvSpPr>
          <p:cNvPr id="8" name="TextBox 7"/>
          <p:cNvSpPr txBox="1"/>
          <p:nvPr/>
        </p:nvSpPr>
        <p:spPr>
          <a:xfrm>
            <a:off x="658368" y="2103120"/>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A prop</a:t>
            </a:r>
          </a:p>
        </p:txBody>
      </p:sp>
      <p:sp>
        <p:nvSpPr>
          <p:cNvPr id="9" name="TextBox 8"/>
          <p:cNvSpPr txBox="1"/>
          <p:nvPr/>
        </p:nvSpPr>
        <p:spPr>
          <a:xfrm>
            <a:off x="658368" y="2432303"/>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One finished-looking pin, even paper and gold tape. Hold it up at the title and at the set.</a:t>
            </a:r>
          </a:p>
        </p:txBody>
      </p:sp>
      <p:sp>
        <p:nvSpPr>
          <p:cNvPr id="10" name="TextBox 9"/>
          <p:cNvSpPr txBox="1"/>
          <p:nvPr/>
        </p:nvSpPr>
        <p:spPr>
          <a:xfrm>
            <a:off x="6419088" y="2103120"/>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Honesty</a:t>
            </a:r>
          </a:p>
        </p:txBody>
      </p:sp>
      <p:sp>
        <p:nvSpPr>
          <p:cNvPr id="11" name="TextBox 10"/>
          <p:cNvSpPr txBox="1"/>
          <p:nvPr/>
        </p:nvSpPr>
        <p:spPr>
          <a:xfrm>
            <a:off x="6419088" y="2432303"/>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If the sensor is not built, do not flicker an LED and call it Bluetooth. Say what it will do.</a:t>
            </a:r>
          </a:p>
        </p:txBody>
      </p:sp>
      <p:sp>
        <p:nvSpPr>
          <p:cNvPr id="12" name="TextBox 11"/>
          <p:cNvSpPr txBox="1"/>
          <p:nvPr/>
        </p:nvSpPr>
        <p:spPr>
          <a:xfrm>
            <a:off x="658368" y="3429000"/>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 two taps</a:t>
            </a:r>
          </a:p>
        </p:txBody>
      </p:sp>
      <p:sp>
        <p:nvSpPr>
          <p:cNvPr id="13" name="TextBox 12"/>
          <p:cNvSpPr txBox="1"/>
          <p:nvPr/>
        </p:nvSpPr>
        <p:spPr>
          <a:xfrm>
            <a:off x="658368" y="375818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Rehearse them as knocks. Idle, once. Capturing, a pulse. Do not blur them.</a:t>
            </a:r>
          </a:p>
        </p:txBody>
      </p:sp>
      <p:sp>
        <p:nvSpPr>
          <p:cNvPr id="14" name="TextBox 13"/>
          <p:cNvSpPr txBox="1"/>
          <p:nvPr/>
        </p:nvSpPr>
        <p:spPr>
          <a:xfrm>
            <a:off x="6419088" y="3429000"/>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 survey</a:t>
            </a:r>
          </a:p>
        </p:txBody>
      </p:sp>
      <p:sp>
        <p:nvSpPr>
          <p:cNvPr id="15" name="TextBox 14"/>
          <p:cNvSpPr txBox="1"/>
          <p:nvPr/>
        </p:nvSpPr>
        <p:spPr>
          <a:xfrm>
            <a:off x="6419088" y="375818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After class, unsigned: do you want this, or were you only startled?</a:t>
            </a:r>
          </a:p>
        </p:txBody>
      </p:sp>
      <p:sp>
        <p:nvSpPr>
          <p:cNvPr id="16" name="TextBox 15"/>
          <p:cNvSpPr txBox="1"/>
          <p:nvPr/>
        </p:nvSpPr>
        <p:spPr>
          <a:xfrm>
            <a:off x="658368" y="4754879"/>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Citations</a:t>
            </a:r>
          </a:p>
        </p:txBody>
      </p:sp>
      <p:sp>
        <p:nvSpPr>
          <p:cNvPr id="17" name="TextBox 16"/>
          <p:cNvSpPr txBox="1"/>
          <p:nvPr/>
        </p:nvSpPr>
        <p:spPr>
          <a:xfrm>
            <a:off x="658368" y="508406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Read the two Meta pages the morning of. Quote the LED from the page.</a:t>
            </a:r>
          </a:p>
        </p:txBody>
      </p:sp>
      <p:sp>
        <p:nvSpPr>
          <p:cNvPr id="18" name="TextBox 17"/>
          <p:cNvSpPr txBox="1"/>
          <p:nvPr/>
        </p:nvSpPr>
        <p:spPr>
          <a:xfrm>
            <a:off x="6419088" y="4754879"/>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Friday upload</a:t>
            </a:r>
          </a:p>
        </p:txBody>
      </p:sp>
      <p:sp>
        <p:nvSpPr>
          <p:cNvPr id="19" name="TextBox 18"/>
          <p:cNvSpPr txBox="1"/>
          <p:nvPr/>
        </p:nvSpPr>
        <p:spPr>
          <a:xfrm>
            <a:off x="6419088" y="508406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Confirm whether 5:10pm Friday is this file. Export a PDF as a backup.</a:t>
            </a:r>
          </a:p>
        </p:txBody>
      </p:sp>
      <p:sp>
        <p:nvSpPr>
          <p:cNvPr id="20" name="TextBox 19"/>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21" name="TextBox 20"/>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WHO SPEAKS</a:t>
            </a:r>
          </a:p>
        </p:txBody>
      </p:sp>
      <p:sp>
        <p:nvSpPr>
          <p:cNvPr id="4" name="TextBox 3"/>
          <p:cNvSpPr txBox="1"/>
          <p:nvPr/>
        </p:nvSpPr>
        <p:spPr>
          <a:xfrm>
            <a:off x="658368" y="731520"/>
            <a:ext cx="10972800" cy="105156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161412"/>
                </a:solidFill>
                <a:latin typeface="Arial"/>
                <a:ea typeface="Arial"/>
                <a:cs typeface="Arial"/>
              </a:rPr>
              <a:t>One person owns the scare.</a:t>
            </a:r>
          </a:p>
          <a:p>
            <a:pPr algn="l">
              <a:lnSpc>
                <a:spcPct val="100000"/>
              </a:lnSpc>
              <a:spcBef>
                <a:spcPts val="0"/>
              </a:spcBef>
              <a:spcAft>
                <a:spcPts val="0"/>
              </a:spcAft>
            </a:pPr>
            <a:r>
              <a:rPr sz="2800" b="1" i="0">
                <a:solidFill>
                  <a:srgbClr val="161412"/>
                </a:solidFill>
                <a:latin typeface="Arial"/>
                <a:ea typeface="Arial"/>
                <a:cs typeface="Arial"/>
              </a:rPr>
              <a:t>They also own the apology.</a:t>
            </a:r>
          </a:p>
        </p:txBody>
      </p:sp>
      <p:sp>
        <p:nvSpPr>
          <p:cNvPr id="5" name="Rounded Rectangle 4"/>
          <p:cNvSpPr/>
          <p:nvPr/>
        </p:nvSpPr>
        <p:spPr>
          <a:xfrm>
            <a:off x="685800" y="2194560"/>
            <a:ext cx="3566160" cy="320040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77440"/>
            <a:ext cx="3108960" cy="45720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8A5E32"/>
                </a:solidFill>
                <a:latin typeface="Arial"/>
                <a:ea typeface="Arial"/>
                <a:cs typeface="Arial"/>
              </a:rPr>
              <a:t>A</a:t>
            </a:r>
          </a:p>
        </p:txBody>
      </p:sp>
      <p:sp>
        <p:nvSpPr>
          <p:cNvPr id="7" name="TextBox 6"/>
          <p:cNvSpPr txBox="1"/>
          <p:nvPr/>
        </p:nvSpPr>
        <p:spPr>
          <a:xfrm>
            <a:off x="914400" y="2971800"/>
            <a:ext cx="3108960" cy="45720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The setup</a:t>
            </a:r>
          </a:p>
        </p:txBody>
      </p:sp>
      <p:sp>
        <p:nvSpPr>
          <p:cNvPr id="8" name="TextBox 7"/>
          <p:cNvSpPr txBox="1"/>
          <p:nvPr/>
        </p:nvSpPr>
        <p:spPr>
          <a:xfrm>
            <a:off x="914400" y="3566160"/>
            <a:ext cx="3108960" cy="146304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Beside, the volunteers, the hallway, phones down. Ends when the timer starts.</a:t>
            </a:r>
          </a:p>
        </p:txBody>
      </p:sp>
      <p:sp>
        <p:nvSpPr>
          <p:cNvPr id="9" name="Rounded Rectangle 8"/>
          <p:cNvSpPr/>
          <p:nvPr/>
        </p:nvSpPr>
        <p:spPr>
          <a:xfrm>
            <a:off x="4434840" y="2194560"/>
            <a:ext cx="3566160" cy="320040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377440"/>
            <a:ext cx="3108960" cy="45720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8A5E32"/>
                </a:solidFill>
                <a:latin typeface="Arial"/>
                <a:ea typeface="Arial"/>
                <a:cs typeface="Arial"/>
              </a:rPr>
              <a:t>B</a:t>
            </a:r>
          </a:p>
        </p:txBody>
      </p:sp>
      <p:sp>
        <p:nvSpPr>
          <p:cNvPr id="11" name="TextBox 10"/>
          <p:cNvSpPr txBox="1"/>
          <p:nvPr/>
        </p:nvSpPr>
        <p:spPr>
          <a:xfrm>
            <a:off x="4663440" y="2971800"/>
            <a:ext cx="3108960" cy="45720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The two seconds</a:t>
            </a:r>
          </a:p>
        </p:txBody>
      </p:sp>
      <p:sp>
        <p:nvSpPr>
          <p:cNvPr id="12" name="TextBox 11"/>
          <p:cNvSpPr txBox="1"/>
          <p:nvPr/>
        </p:nvSpPr>
        <p:spPr>
          <a:xfrm>
            <a:off x="4663440" y="3566160"/>
            <a:ext cx="3108960" cy="146304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Both black slides and the clear slide. Calm. No jokes. If B freezes, A reads the clear line.</a:t>
            </a:r>
          </a:p>
        </p:txBody>
      </p:sp>
      <p:sp>
        <p:nvSpPr>
          <p:cNvPr id="13" name="Rounded Rectangle 12"/>
          <p:cNvSpPr/>
          <p:nvPr/>
        </p:nvSpPr>
        <p:spPr>
          <a:xfrm>
            <a:off x="8183879" y="2194560"/>
            <a:ext cx="3566160" cy="320040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377440"/>
            <a:ext cx="3108960" cy="45720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8A5E32"/>
                </a:solidFill>
                <a:latin typeface="Arial"/>
                <a:ea typeface="Arial"/>
                <a:cs typeface="Arial"/>
              </a:rPr>
              <a:t>C</a:t>
            </a:r>
          </a:p>
        </p:txBody>
      </p:sp>
      <p:sp>
        <p:nvSpPr>
          <p:cNvPr id="15" name="TextBox 14"/>
          <p:cNvSpPr txBox="1"/>
          <p:nvPr/>
        </p:nvSpPr>
        <p:spPr>
          <a:xfrm>
            <a:off x="8412480" y="2971800"/>
            <a:ext cx="3108960" cy="45720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The product</a:t>
            </a:r>
          </a:p>
        </p:txBody>
      </p:sp>
      <p:sp>
        <p:nvSpPr>
          <p:cNvPr id="16" name="TextBox 15"/>
          <p:cNvSpPr txBox="1"/>
          <p:nvPr/>
        </p:nvSpPr>
        <p:spPr>
          <a:xfrm>
            <a:off x="8412480" y="3566160"/>
            <a:ext cx="3108960" cy="146304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From the requirement through questions. The keychain, then Opal. Does not retell stories.</a:t>
            </a:r>
          </a:p>
        </p:txBody>
      </p:sp>
      <p:sp>
        <p:nvSpPr>
          <p:cNvPr id="17" name="TextBox 16"/>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56032"/>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IF THEY ASK</a:t>
            </a:r>
          </a:p>
        </p:txBody>
      </p:sp>
      <p:sp>
        <p:nvSpPr>
          <p:cNvPr id="4" name="TextBox 3"/>
          <p:cNvSpPr txBox="1"/>
          <p:nvPr/>
        </p:nvSpPr>
        <p:spPr>
          <a:xfrm>
            <a:off x="685800" y="685800"/>
            <a:ext cx="10972800" cy="32004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Glasses already have an LED.</a:t>
            </a:r>
          </a:p>
        </p:txBody>
      </p:sp>
      <p:sp>
        <p:nvSpPr>
          <p:cNvPr id="5" name="TextBox 4"/>
          <p:cNvSpPr txBox="1"/>
          <p:nvPr/>
        </p:nvSpPr>
        <p:spPr>
          <a:xfrm>
            <a:off x="685800" y="1069848"/>
            <a:ext cx="10789920" cy="77724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Yes. We use it. The blink is on their frame. Opal puts that fact on your skin, so you don't have to stare at the temple.</a:t>
            </a:r>
          </a:p>
        </p:txBody>
      </p:sp>
      <p:sp>
        <p:nvSpPr>
          <p:cNvPr id="6" name="TextBox 5"/>
          <p:cNvSpPr txBox="1"/>
          <p:nvPr/>
        </p:nvSpPr>
        <p:spPr>
          <a:xfrm>
            <a:off x="685800" y="2057400"/>
            <a:ext cx="10972800" cy="32004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Can you detect a hidden mic?</a:t>
            </a:r>
          </a:p>
        </p:txBody>
      </p:sp>
      <p:sp>
        <p:nvSpPr>
          <p:cNvPr id="7" name="TextBox 6"/>
          <p:cNvSpPr txBox="1"/>
          <p:nvPr/>
        </p:nvSpPr>
        <p:spPr>
          <a:xfrm>
            <a:off x="685800" y="2441448"/>
            <a:ext cx="10789920" cy="77724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No. Opal notices Meta glasses, and the capture blink those glasses publish. A silent phone mic is a different problem, and we don't pretend.</a:t>
            </a:r>
          </a:p>
        </p:txBody>
      </p:sp>
      <p:sp>
        <p:nvSpPr>
          <p:cNvPr id="8" name="TextBox 7"/>
          <p:cNvSpPr txBox="1"/>
          <p:nvPr/>
        </p:nvSpPr>
        <p:spPr>
          <a:xfrm>
            <a:off x="685800" y="3429000"/>
            <a:ext cx="10972800" cy="32004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Won't it buzz all class?</a:t>
            </a:r>
          </a:p>
        </p:txBody>
      </p:sp>
      <p:sp>
        <p:nvSpPr>
          <p:cNvPr id="9" name="TextBox 8"/>
          <p:cNvSpPr txBox="1"/>
          <p:nvPr/>
        </p:nvSpPr>
        <p:spPr>
          <a:xfrm>
            <a:off x="685800" y="3813048"/>
            <a:ext cx="10789920" cy="77724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Idle is one tap when a pair sits down. The pulse stays only while the capture light is on.</a:t>
            </a:r>
          </a:p>
        </p:txBody>
      </p:sp>
      <p:sp>
        <p:nvSpPr>
          <p:cNvPr id="10" name="TextBox 9"/>
          <p:cNvSpPr txBox="1"/>
          <p:nvPr/>
        </p:nvSpPr>
        <p:spPr>
          <a:xfrm>
            <a:off x="685800" y="4800600"/>
            <a:ext cx="10972800" cy="32004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So it's just a prettier keychain.</a:t>
            </a:r>
          </a:p>
        </p:txBody>
      </p:sp>
      <p:sp>
        <p:nvSpPr>
          <p:cNvPr id="11" name="TextBox 10"/>
          <p:cNvSpPr txBox="1"/>
          <p:nvPr/>
        </p:nvSpPr>
        <p:spPr>
          <a:xfrm>
            <a:off x="685800" y="5184648"/>
            <a:ext cx="10789920" cy="77724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The keychain failed by being readable as a detector. If you will not wear Opal to dinner, we have the same failure in a nicer metal.</a:t>
            </a:r>
          </a:p>
        </p:txBody>
      </p:sp>
      <p:sp>
        <p:nvSpPr>
          <p:cNvPr id="12" name="TextBox 11"/>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13" name="TextBox 12"/>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91440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E32"/>
                </a:solidFill>
                <a:latin typeface="Arial"/>
                <a:ea typeface="Arial"/>
                <a:cs typeface="Arial"/>
              </a:rPr>
              <a:t>SOURCES FOR THE LED</a:t>
            </a:r>
          </a:p>
        </p:txBody>
      </p:sp>
      <p:sp>
        <p:nvSpPr>
          <p:cNvPr id="4" name="TextBox 3"/>
          <p:cNvSpPr txBox="1"/>
          <p:nvPr/>
        </p:nvSpPr>
        <p:spPr>
          <a:xfrm>
            <a:off x="658368" y="731520"/>
            <a:ext cx="10972800" cy="365760"/>
          </a:xfrm>
          <a:prstGeom prst="rect">
            <a:avLst/>
          </a:prstGeom>
          <a:noFill/>
        </p:spPr>
        <p:txBody>
          <a:bodyPr wrap="square" lIns="0" rIns="0" tIns="0" bIns="0" anchor="t"/>
          <a:lstStyle/>
          <a:p>
            <a:pPr algn="l">
              <a:lnSpc>
                <a:spcPct val="100000"/>
              </a:lnSpc>
              <a:spcBef>
                <a:spcPts val="0"/>
              </a:spcBef>
              <a:spcAft>
                <a:spcPts val="0"/>
              </a:spcAft>
            </a:pPr>
            <a:r>
              <a:rPr sz="2400" b="1" i="0">
                <a:solidFill>
                  <a:srgbClr val="161412"/>
                </a:solidFill>
                <a:latin typeface="Arial"/>
                <a:ea typeface="Arial"/>
                <a:cs typeface="Arial"/>
              </a:rPr>
              <a:t>Read them the morning you present.</a:t>
            </a:r>
          </a:p>
        </p:txBody>
      </p:sp>
      <p:sp>
        <p:nvSpPr>
          <p:cNvPr id="5" name="TextBox 4"/>
          <p:cNvSpPr txBox="1"/>
          <p:nvPr/>
        </p:nvSpPr>
        <p:spPr>
          <a:xfrm>
            <a:off x="685800" y="1325880"/>
            <a:ext cx="10972800" cy="1143000"/>
          </a:xfrm>
          <a:prstGeom prst="rect">
            <a:avLst/>
          </a:prstGeom>
          <a:noFill/>
        </p:spPr>
        <p:txBody>
          <a:bodyPr wrap="square" lIns="0" rIns="0" tIns="0" bIns="0" anchor="t"/>
          <a:lstStyle/>
          <a:p>
            <a:pPr algn="l">
              <a:lnSpc>
                <a:spcPct val="108000"/>
              </a:lnSpc>
              <a:spcBef>
                <a:spcPts val="0"/>
              </a:spcBef>
              <a:spcAft>
                <a:spcPts val="0"/>
              </a:spcAft>
            </a:pPr>
            <a:r>
              <a:rPr sz="1800" b="0" i="0">
                <a:solidFill>
                  <a:srgbClr val="161412"/>
                </a:solidFill>
                <a:latin typeface="Arial"/>
                <a:ea typeface="Arial"/>
                <a:cs typeface="Arial"/>
              </a:rPr>
              <a:t>Meta publishes a capture LED on its AI glasses. It blinks for a photo</a:t>
            </a:r>
          </a:p>
          <a:p>
            <a:pPr algn="l">
              <a:lnSpc>
                <a:spcPct val="108000"/>
              </a:lnSpc>
              <a:spcBef>
                <a:spcPts val="0"/>
              </a:spcBef>
              <a:spcAft>
                <a:spcPts val="0"/>
              </a:spcAft>
            </a:pPr>
            <a:r>
              <a:rPr sz="1800" b="0" i="0">
                <a:solidFill>
                  <a:srgbClr val="161412"/>
                </a:solidFill>
                <a:latin typeface="Arial"/>
                <a:ea typeface="Arial"/>
                <a:cs typeface="Arial"/>
              </a:rPr>
              <a:t>and stays on through a video. Meta says the light has no off switch,</a:t>
            </a:r>
          </a:p>
          <a:p>
            <a:pPr algn="l">
              <a:lnSpc>
                <a:spcPct val="108000"/>
              </a:lnSpc>
              <a:spcBef>
                <a:spcPts val="0"/>
              </a:spcBef>
              <a:spcAft>
                <a:spcPts val="0"/>
              </a:spcAft>
            </a:pPr>
            <a:r>
              <a:rPr sz="1800" b="0" i="0">
                <a:solidFill>
                  <a:srgbClr val="161412"/>
                </a:solidFill>
                <a:latin typeface="Arial"/>
                <a:ea typeface="Arial"/>
                <a:cs typeface="Arial"/>
              </a:rPr>
              <a:t>and that covering or destroying it disables the camera.</a:t>
            </a:r>
          </a:p>
        </p:txBody>
      </p:sp>
      <p:sp>
        <p:nvSpPr>
          <p:cNvPr id="6" name="Rounded Rectangle 5"/>
          <p:cNvSpPr/>
          <p:nvPr/>
        </p:nvSpPr>
        <p:spPr>
          <a:xfrm>
            <a:off x="685800" y="2743200"/>
            <a:ext cx="10835640" cy="118872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907792"/>
            <a:ext cx="100584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E32"/>
                </a:solidFill>
                <a:latin typeface="Arial"/>
                <a:ea typeface="Arial"/>
                <a:cs typeface="Arial"/>
              </a:rPr>
              <a:t>META PRIVACY PAGE</a:t>
            </a:r>
          </a:p>
        </p:txBody>
      </p:sp>
      <p:sp>
        <p:nvSpPr>
          <p:cNvPr id="8" name="TextBox 7"/>
          <p:cNvSpPr txBox="1"/>
          <p:nvPr/>
        </p:nvSpPr>
        <p:spPr>
          <a:xfrm>
            <a:off x="914400" y="3246120"/>
            <a:ext cx="10058400" cy="36576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161412"/>
                </a:solidFill>
                <a:latin typeface="Arial"/>
                <a:ea typeface="Arial"/>
                <a:cs typeface="Arial"/>
              </a:rPr>
              <a:t>https://www.meta.com/ai-glasses/privacy/</a:t>
            </a:r>
          </a:p>
        </p:txBody>
      </p:sp>
      <p:sp>
        <p:nvSpPr>
          <p:cNvPr id="9" name="Rounded Rectangle 8"/>
          <p:cNvSpPr/>
          <p:nvPr/>
        </p:nvSpPr>
        <p:spPr>
          <a:xfrm>
            <a:off x="685800" y="4114800"/>
            <a:ext cx="10835640" cy="12344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79392"/>
            <a:ext cx="100584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E32"/>
                </a:solidFill>
                <a:latin typeface="Arial"/>
                <a:ea typeface="Arial"/>
                <a:cs typeface="Arial"/>
              </a:rPr>
              <a:t>META NEWSROOM, JULY 2026</a:t>
            </a:r>
          </a:p>
        </p:txBody>
      </p:sp>
      <p:sp>
        <p:nvSpPr>
          <p:cNvPr id="11" name="TextBox 10"/>
          <p:cNvSpPr txBox="1"/>
          <p:nvPr/>
        </p:nvSpPr>
        <p:spPr>
          <a:xfrm>
            <a:off x="914400" y="4645152"/>
            <a:ext cx="10241280" cy="4114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https://about.fb.com/news/2026/07/metas-ai-glasses-your-questions-answered/</a:t>
            </a:r>
          </a:p>
        </p:txBody>
      </p:sp>
      <p:sp>
        <p:nvSpPr>
          <p:cNvPr id="12" name="TextBox 11"/>
          <p:cNvSpPr txBox="1"/>
          <p:nvPr/>
        </p:nvSpPr>
        <p:spPr>
          <a:xfrm>
            <a:off x="713232" y="5623560"/>
            <a:ext cx="10515600" cy="32004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If a detail has changed by presentation day, their page wins and this slide loses.</a:t>
            </a:r>
          </a:p>
        </p:txBody>
      </p:sp>
      <p:sp>
        <p:nvSpPr>
          <p:cNvPr id="13" name="TextBox 12"/>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14" name="TextBox 13"/>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Opal — Assignment 5</dc:title>
  <dc:subject>A small ornament that notices Meta glasses</dc:subject>
  <dc:creator>Session 2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Presentation</cp:category>
</cp:coreProperties>
</file>