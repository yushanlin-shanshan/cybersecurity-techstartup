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straight, like a logistics update. Do not smile like you are about to prank them.</a:t>
            </a:r>
          </a:p>
          <a:p/>
          <a:p>
            <a:r>
              <a:t>"Quick change before we start. We dropped the old idea. This is Beside. A mental health connection app. We need five volunteers. Leave your stuff. Come outside for ten seconds."</a:t>
            </a:r>
          </a:p>
          <a:p/>
          <a:p>
            <a:r>
              <a:t>Pick five people who can keep a straight face. Not the professor. Before class, the day before, tell the professor what slides 1–7 are: a staged feeling, and nobody records. If they say no, start on the Halo title and skip the scare. Do not invent a softer version on the spot.</a:t>
            </a:r>
          </a:p>
          <a:p/>
          <a:p>
            <a:r>
              <a:t>If the class never heard a prior product, drop the sentence "we changed our product" and say: "We want to start with a one-minute exercise. It's called Beside."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Volunteers are already back in their seats, phones face up on the lock screen, doing nothing.</a:t>
            </a:r>
          </a:p>
          <a:p/>
          <a:p>
            <a:r>
              <a:t>Read the slide, then say: "Beside is the conversation. Phones on the table. Face up is fine. Don't touch them."</a:t>
            </a:r>
          </a:p>
          <a:p/>
          <a:p>
            <a:r>
              <a:t>If someone will not put a phone down, let them. Do not collect phones. The point dies if it feels like a search.</a:t>
            </a:r>
          </a:p>
          <a:p/>
          <a:p>
            <a:r>
              <a:t>Give the easier prompt out loud as permission, not as a joke: "How your week went is enough. You do not owe anyone an embarrassing story."</a:t>
            </a:r>
          </a:p>
          <a:p/>
          <a:p>
            <a:r>
              <a:t>Then click to the prompt slide and start a 75-second timer. Stay at the front. Don't hover over the volunteers. Don't laugh at what you overhear. If the room is silent for ten seconds, repeat: "Two or three people. One true thing. Then we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stays up. Do not talk over them. Seventy-five seconds is enough. Ninety is too long; people start performing.</a:t>
            </a:r>
          </a:p>
          <a:p/>
          <a:p>
            <a:r>
              <a:t>Watch faces, not to collect stories, but to see if someone is actually distressed. If they are, end the exercise early: "That's a minute. Phones up, we're good." Then go straight to the clear slide (Nobody recorded you). Skip both black slides.</a:t>
            </a:r>
          </a:p>
          <a:p/>
          <a:p>
            <a:r>
              <a:t>You are listening only for the energy in the room. You are not collecting material. Do not write down what anyone says. Tell the volunteers the same rule again if you see a notes app open.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only after the minute is over. Say nothing for one full second. Then, flat:</a:t>
            </a:r>
          </a:p>
          <a:p/>
          <a:p>
            <a:r>
              <a:t>"The five people who stepped outside put their phones down so they could record."</a:t>
            </a:r>
          </a:p>
          <a:p/>
          <a:p>
            <a:r>
              <a:t>Look at the volunteers, not at whoever just shared a story. Do not repeat, paraphrase, or joke about anything that was said. Do not name a person.</a:t>
            </a:r>
          </a:p>
          <a:p/>
          <a:p>
            <a:r>
              <a:t>If the room already feels bad, skip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breath. That is the whole slide. Do not add "just kidding" yet. Do not add "or maybe we won't." Do not point at a specific person.</a:t>
            </a:r>
          </a:p>
          <a:p/>
          <a:p>
            <a:r>
              <a:t>Do not wait for a laugh. A laugh here is at someone's expense.</a:t>
            </a:r>
          </a:p>
          <a:p/>
          <a:p>
            <a:r>
              <a:t>If anyone looks genuinely upset, do not finish the sentence. Click immediately to the next slide and say the clear line first.</a:t>
            </a:r>
          </a:p>
          <a:p/>
          <a:p>
            <a:r>
              <a:t>This slide is optional. Cut it if the first black slide already did the job, or if the professor asked you to keep the scare smaller.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not optional. Say it before you say anything clever.</a:t>
            </a:r>
          </a:p>
          <a:p/>
          <a:p>
            <a:r>
              <a:t>"Nobody recorded you. I need you to see that before anything else. Phones up. Lock screens. There is no clip, no file, nothing to post. I'm sorry for those two seconds."</a:t>
            </a:r>
          </a:p>
          <a:p/>
          <a:p>
            <a:r>
              <a:t>Volunteers raise phones high enough for the back row. Camera app closed. Voice memos closed. If a volunteer actually recorded, you stop the presentation and delete it in front of the room. That is the deal you made outside.</a:t>
            </a:r>
          </a:p>
          <a:p/>
          <a:p>
            <a:r>
              <a:t>Do not ask anyone to repeat what they said. One optional question, only if the room has landed: "Hands up if you were about to say something you did not want online." Then move on. Do not comment on who raises a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This is the hinge.</a:t>
            </a:r>
          </a:p>
          <a:p/>
          <a:p>
            <a:r>
              <a:t>"We told you to put the useful object down and act normal. A normal conversation looks exactly like the last two minutes. The phone on the table could not tell you anything, because you were not looking at it. That is the requirement. Whatever we build has to work in that room."</a:t>
            </a:r>
          </a:p>
          <a:p/>
          <a:p>
            <a:r>
              <a:t>Then: "Beside was the exercise. Here is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actually brought."</a:t>
            </a:r>
          </a:p>
          <a:p/>
          <a:p>
            <a:r>
              <a:t>Halo is a working name. If the team hates it, change the word. Keep the behavior: a light and a buzz when capture is live nearby. Other names that fit the same behavior: Tell, Glint, Cue, Knock.</a:t>
            </a:r>
          </a:p>
          <a:p/>
          <a:p>
            <a:r>
              <a:t>Fill in the three names before you present. Session 2 team, groups of three.</a:t>
            </a:r>
          </a:p>
          <a:p/>
          <a:p>
            <a:r>
              <a:t>If you skipped the live bit, start here. First sentence: "We want a way to know, in the moment, that someone nearby is recording. The object is a keychain."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win-them-over slide. Do not sneer at Meta, at glasses, or at anyone who likes them.</a:t>
            </a:r>
          </a:p>
          <a:p/>
          <a:p>
            <a:r>
              <a:t>"You can like the glasses. We do. A camera at eye height that you don't have to fish out of a pocket is a good camera. Halo does not ask anyone to take them off. It is for the other person at the table, the one who did not agree to be the footage."</a:t>
            </a:r>
          </a:p>
          <a:p/>
          <a:p>
            <a:r>
              <a:t>If someone jumps in with "they already have an LED," say "Yes. Next slide." Don't argue it early.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This room will punish a false claim.</a:t>
            </a:r>
          </a:p>
          <a:p/>
          <a:p>
            <a:r>
              <a:t>Meta's AI glasses have a white capture LED. It blinks for a photo and stays on through a video. Meta says there is no off switch, and that covering or breaking the LED disables the camera. Cite their privacy page in the report. Do not say "glasses secretly record with no light." That is not the product, and it is not true of these glasses.</a:t>
            </a:r>
          </a:p>
          <a:p/>
          <a:p>
            <a:r>
              <a:t>"The LED is real, and it is a good idea. It sits on the wearer's frame. You only get it if you happen to be looking there. Our demo did not use glasses. It used phones, face up, doing nothing, and the room still could not tell. A voice memo has no capture LED at all. That is the gap Halo is for."</a:t>
            </a:r>
          </a:p>
          <a:p/>
          <a:p>
            <a:r>
              <a:t>Sources are on the last appendix slide. Read them before you present, in case the wording 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back at the exercise once, then stop talking about it.</a:t>
            </a:r>
          </a:p>
          <a:p/>
          <a:p>
            <a:r>
              <a:t>"Four requirements, all from the last five minutes. If Halo needs you to open an app, it fails the first one. If it needs you to stare at someone's glasses, it fails the second. If it emails you tonight, it fails the third. If it says 'it was Alex,' it fails the fourth."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placeholder if you have one: cardboard, a key fob, even a taped LED. A physical object does more than this drawing.</a:t>
            </a:r>
          </a:p>
          <a:p/>
          <a:p>
            <a:r>
              <a:t>"You don't pick it up. You don't unlock it. It lives on the keys that are already out. Once to be quiet through a class that's supposed to be recorded. Twice to admit you are recording, if your phone or your glasses have no beacon yet."</a:t>
            </a:r>
          </a:p>
          <a:p/>
          <a:p>
            <a:r>
              <a:t>Do not invent a price, a weight in grams, or a battery life. If asked: "We don't have a bill of materials yet. A number before a parts list would be fiction. First prototype is a dev board."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 fails the demo we just ran. Every phone in the room was already a perfectly good computer, and it still couldn't help, because the social rule of a real conversation is that you put it down. Halo has to be the thing you are allowed to leave out."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demo a fake detection and call it real. If the fob lights in the room, say which of the three caused it.</a:t>
            </a:r>
          </a:p>
          <a:p/>
          <a:p>
            <a:r>
              <a:t>"The product we will defend is the beacon. Your phone, or your glasses if they can expose capture state, announces 'on' for a few meters. No audio rides along. No name. Halo is a receiver you can feel."</a:t>
            </a:r>
          </a:p>
          <a:p/>
          <a:p>
            <a:r>
              <a:t>"We looked at a glint sensor because camera lenses reflect infrared differently than cloth. At a desk it sometimes works. Eyeglasses and watch crystals set it off. If the false alarms are constant, we kill it. It is not on the poster."</a:t>
            </a:r>
          </a:p>
          <a:p/>
          <a:p>
            <a:r>
              <a:t>"And the hole: we cannot reliably hear a voice memo that does not want to be found. A product that pretends it can will accuse the wrong person. So we don't. The report leads with that limit."</a:t>
            </a:r>
          </a:p>
          <a:p/>
          <a:p>
            <a:r>
              <a:t>If they ask about Meta's API: "We don't know of a public capture-state beacon. Until one exists, a glasses wearer uses the button, or a phone shortcut. They opt in. That's the feature we want them to like."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four refusals. They are the ethical product, not the fine print.</a:t>
            </a:r>
          </a:p>
          <a:p/>
          <a:p>
            <a:r>
              <a:t>"If Halo ever tells you a classmate's name, we built the wrong thing. The scary version of this product is a detector that lets you accuse someone. The version we want is a light the willing devices agree to send."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this slowly. It is the offer.</a:t>
            </a:r>
          </a:p>
          <a:p/>
          <a:p>
            <a:r>
              <a:t>"If you wear the glasses, you already accepted a light. We are not adding a second lecture. We are moving the information you already agreed to show onto the keychains of the people who are looking at you, not at your temple."</a:t>
            </a:r>
          </a:p>
          <a:p/>
          <a:p>
            <a:r>
              <a:t>"The social effect we actually want: recording that is willing looks normal, because the table lights up together. Recording that is hidden is the one that looks strange. Halo does not catch the hidden one. It makes the honest one legible."</a:t>
            </a:r>
          </a:p>
          <a:p/>
          <a:p>
            <a:r>
              <a:t>Say the question people are allowed to ask: "Are you recording?" The product's job is to make that question ordinary, not to answer it with a name.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if you are long. Cut this before you cut the gap, the refusals, or I'm live.</a:t>
            </a:r>
          </a:p>
          <a:p/>
          <a:p>
            <a:r>
              <a:t>The middle row is the product working by staying quiet. Say that: "Thursday is the success case we care about. A detector that buzzes all day is just anxiety with a battery."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04. It is the slide that makes the exercise legitimate.</a:t>
            </a:r>
          </a:p>
          <a:p/>
          <a:p>
            <a:r>
              <a:t>"We are not going to count your faces today as user research. You were startled on purpose. After class, on paper, one question: do you want a signal like this, or did we only wind you up? If the answer is the second, the report says so. We would rather lose the product than write up a flinch as demand."</a:t>
            </a:r>
          </a:p>
          <a:p/>
          <a:p>
            <a:r>
              <a:t>Ask the professor if a one-question slip after class is appropriate. Do not collect stories from the exercise. Do not ask for names.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 this before they ask. It is worth more than a polished demo.</a:t>
            </a:r>
          </a:p>
          <a:p/>
          <a:p>
            <a:r>
              <a:t>If the room is still annoyed about the exercise, stay on this slide and take it. Do not flee into features.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Don't summarize the whole deck again.</a:t>
            </a:r>
          </a:p>
          <a:p/>
          <a:p>
            <a:r>
              <a:t>"You already felt the second. Halo is that second, earlier, on your keys. Questions."</a:t>
            </a:r>
          </a:p>
          <a:p/>
          <a:p>
            <a:r>
              <a:t>If the room is cold, you can add one line: "And if the answer is that the exercise was not worth it, we want that on the record."</a:t>
            </a:r>
          </a:p>
          <a:p/>
          <a:p>
            <a:r>
              <a:t>Then be quiet.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sharing the screen here if you are presenting from this file. Everything after this slide is for the three of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professor caps you at five minutes, do Beside through Clear, then the gap, the object, and I'm live. Sit down.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 this slide onto the phone of whoever walks them out, so it is not on the projector.</a:t>
            </a:r>
          </a:p>
          <a:p/>
          <a:p>
            <a:r>
              <a:t>Add, out loud: "If one of you hits record as a joke, we stop the class and delete it in front of everyone. That is the whole job. You are acting, not capturing."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forget everything else, say the Clear line and the Limit line. Those two protect the grade and the room.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row is a hard stop, not a judgment call.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Syllabus language, copied from the assignment page:</a:t>
            </a:r>
          </a:p>
          <a:p/>
          <a:p>
            <a:r>
              <a:t>Presentation in the last session, 2026-05-11, 10 points.</a:t>
            </a:r>
          </a:p>
          <a:p>
            <a:r>
              <a:t>Written materials due Sunday 2026-05-17, 15 points.</a:t>
            </a:r>
          </a:p>
          <a:p>
            <a:r>
              <a:t>The upload box also says due Friday by 5:10pm, 10 points, file upload. Confirm on the course page which Friday that is, and don't upload the report into the slides slot.</a:t>
            </a:r>
          </a:p>
          <a:p/>
          <a:p>
            <a:r>
              <a:t>The details were going to be discussed in class. If that discussion added requirements, they win over this outline.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is the open and the hallway. B is the only person who touches the black slides and the clear slide. C takes Halo through the close. All three answer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should rehearse the clear line until it sounds like relief, not like a punchline. Practice the handoff: B says 'that is the requirement' and C starts.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answers, if you need them:</a:t>
            </a:r>
          </a:p>
          <a:p/>
          <a:p>
            <a:r>
              <a:t>Privacy of the beacon itself: it says capture is on. It does not send a name, audio, or a photo. Short range. Off when capture is off. Snooze is local.</a:t>
            </a:r>
          </a:p>
          <a:p/>
          <a:p>
            <a:r>
              <a:t>Cost: no bill of materials yet. First prototype is a dev board and a battery. We will not invent a $29 price.</a:t>
            </a:r>
          </a:p>
          <a:p/>
          <a:p>
            <a:r>
              <a:t>Did you manipulate the class? Yes. The point was a feeling, and a feeling is not data. Nothing was recorded. If they hated it, that goes in the writeup.</a:t>
            </a:r>
          </a:p>
          <a:p/>
          <a:p>
            <a:r>
              <a:t>Is this anti-glasses? No. The offer is that glasses wearers keep the camera and the rest of the table gets a signal as clear as the one they already accepted.</a:t>
            </a:r>
          </a:p>
          <a:p/>
          <a:p>
            <a:r>
              <a:t>What if two tables are close? That's test 02. If the beacon reaches the next group, we turn the power down until it doesn't.</a:t>
            </a:r>
          </a:p>
          <a:p/>
          <a:p>
            <a:r>
              <a:t>What about a lecture being recorded on purpose? One press, snooze for the period. A product that buzzes for eighty minutes comes off the keyring by week two.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cite this from memory if someone challenges you. Open the page.</a:t>
            </a:r>
          </a:p>
          <a:p/>
          <a:p>
            <a:r>
              <a:t>The July 2026 newsroom post is the clearer FAQ: white capture LED, blinks for a photo, continues through video, no off switch, camera disables if the LED is covered or tampered with. The product claim in our deck is narrower than Meta's claim: even a real LED only helps the person who is looking at it, and a phone recording audio has no equivalent light.</a:t>
            </a:r>
          </a:p>
          <a:p/>
          <a:p>
            <a:r>
              <a:t>We are not claiming Halo detects tampering, and we are not describing how to tamper with anything.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23444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A SMALL CHANGE OF PLAN</a:t>
            </a:r>
          </a:p>
        </p:txBody>
      </p:sp>
      <p:sp>
        <p:nvSpPr>
          <p:cNvPr id="4" name="TextBox 3"/>
          <p:cNvSpPr txBox="1"/>
          <p:nvPr/>
        </p:nvSpPr>
        <p:spPr>
          <a:xfrm>
            <a:off x="685800" y="1600200"/>
            <a:ext cx="9144000" cy="1234440"/>
          </a:xfrm>
          <a:prstGeom prst="rect">
            <a:avLst/>
          </a:prstGeom>
          <a:noFill/>
        </p:spPr>
        <p:txBody>
          <a:bodyPr wrap="square" lIns="0" rIns="0" tIns="0" bIns="0" anchor="t"/>
          <a:lstStyle/>
          <a:p>
            <a:pPr algn="l">
              <a:lnSpc>
                <a:spcPct val="90000"/>
              </a:lnSpc>
              <a:spcBef>
                <a:spcPts val="0"/>
              </a:spcBef>
              <a:spcAft>
                <a:spcPts val="0"/>
              </a:spcAft>
            </a:pPr>
            <a:r>
              <a:rPr sz="8400" b="1" i="0">
                <a:solidFill>
                  <a:srgbClr val="161412"/>
                </a:solidFill>
                <a:latin typeface="Arial"/>
                <a:ea typeface="Arial"/>
                <a:cs typeface="Arial"/>
              </a:rPr>
              <a:t>Beside</a:t>
            </a:r>
          </a:p>
        </p:txBody>
      </p:sp>
      <p:sp>
        <p:nvSpPr>
          <p:cNvPr id="5" name="Rectangle 4"/>
          <p:cNvSpPr/>
          <p:nvPr/>
        </p:nvSpPr>
        <p:spPr>
          <a:xfrm>
            <a:off x="731520" y="2971800"/>
            <a:ext cx="1920240" cy="44450"/>
          </a:xfrm>
          <a:prstGeom prst="rect">
            <a:avLst/>
          </a:prstGeom>
          <a:solidFill>
            <a:srgbClr val="C44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3200400"/>
            <a:ext cx="91440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We changed our product.</a:t>
            </a:r>
          </a:p>
        </p:txBody>
      </p:sp>
      <p:sp>
        <p:nvSpPr>
          <p:cNvPr id="7" name="TextBox 6"/>
          <p:cNvSpPr txBox="1"/>
          <p:nvPr/>
        </p:nvSpPr>
        <p:spPr>
          <a:xfrm>
            <a:off x="713232" y="3840480"/>
            <a:ext cx="9144000" cy="457200"/>
          </a:xfrm>
          <a:prstGeom prst="rect">
            <a:avLst/>
          </a:prstGeom>
          <a:noFill/>
        </p:spPr>
        <p:txBody>
          <a:bodyPr wrap="square" lIns="0" rIns="0" tIns="0" bIns="0" anchor="t"/>
          <a:lstStyle/>
          <a:p>
            <a:pPr algn="l">
              <a:lnSpc>
                <a:spcPct val="100000"/>
              </a:lnSpc>
              <a:spcBef>
                <a:spcPts val="0"/>
              </a:spcBef>
              <a:spcAft>
                <a:spcPts val="0"/>
              </a:spcAft>
            </a:pPr>
            <a:r>
              <a:rPr sz="2400" b="0" i="0">
                <a:solidFill>
                  <a:srgbClr val="6F685E"/>
                </a:solidFill>
                <a:latin typeface="Arial"/>
                <a:ea typeface="Arial"/>
                <a:cs typeface="Arial"/>
              </a:rPr>
              <a:t>A mental health connection app.</a:t>
            </a:r>
          </a:p>
        </p:txBody>
      </p:sp>
      <p:sp>
        <p:nvSpPr>
          <p:cNvPr id="8" name="TextBox 7"/>
          <p:cNvSpPr txBox="1"/>
          <p:nvPr/>
        </p:nvSpPr>
        <p:spPr>
          <a:xfrm>
            <a:off x="713232" y="5806440"/>
            <a:ext cx="91440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161412"/>
                </a:solidFill>
                <a:latin typeface="Arial"/>
                <a:ea typeface="Arial"/>
                <a:cs typeface="Arial"/>
              </a:rPr>
              <a:t>Five volunteers. Step outside with us for a moment.</a:t>
            </a:r>
          </a:p>
        </p:txBody>
      </p:sp>
      <p:sp>
        <p:nvSpPr>
          <p:cNvPr id="9" name="TextBox 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BESIDE</a:t>
            </a:r>
          </a:p>
        </p:txBody>
      </p:sp>
      <p:sp>
        <p:nvSpPr>
          <p:cNvPr id="4" name="TextBox 3"/>
          <p:cNvSpPr txBox="1"/>
          <p:nvPr/>
        </p:nvSpPr>
        <p:spPr>
          <a:xfrm>
            <a:off x="685800" y="960120"/>
            <a:ext cx="10972800" cy="822960"/>
          </a:xfrm>
          <a:prstGeom prst="rect">
            <a:avLst/>
          </a:prstGeom>
          <a:noFill/>
        </p:spPr>
        <p:txBody>
          <a:bodyPr wrap="square" lIns="0" rIns="0" tIns="0" bIns="0" anchor="t"/>
          <a:lstStyle/>
          <a:p>
            <a:pPr algn="l">
              <a:lnSpc>
                <a:spcPct val="100000"/>
              </a:lnSpc>
              <a:spcBef>
                <a:spcPts val="0"/>
              </a:spcBef>
              <a:spcAft>
                <a:spcPts val="0"/>
              </a:spcAft>
            </a:pPr>
            <a:r>
              <a:rPr sz="6000" b="1" i="0">
                <a:solidFill>
                  <a:srgbClr val="161412"/>
                </a:solidFill>
                <a:latin typeface="Arial"/>
                <a:ea typeface="Arial"/>
                <a:cs typeface="Arial"/>
              </a:rPr>
              <a:t>Phones down.</a:t>
            </a:r>
          </a:p>
        </p:txBody>
      </p:sp>
      <p:sp>
        <p:nvSpPr>
          <p:cNvPr id="5" name="TextBox 4"/>
          <p:cNvSpPr txBox="1"/>
          <p:nvPr/>
        </p:nvSpPr>
        <p:spPr>
          <a:xfrm>
            <a:off x="713232" y="1965960"/>
            <a:ext cx="10058400" cy="1051560"/>
          </a:xfrm>
          <a:prstGeom prst="rect">
            <a:avLst/>
          </a:prstGeom>
          <a:noFill/>
        </p:spPr>
        <p:txBody>
          <a:bodyPr wrap="square" lIns="0" rIns="0" tIns="0" bIns="0" anchor="t"/>
          <a:lstStyle/>
          <a:p>
            <a:pPr algn="l">
              <a:lnSpc>
                <a:spcPct val="105000"/>
              </a:lnSpc>
              <a:spcBef>
                <a:spcPts val="0"/>
              </a:spcBef>
              <a:spcAft>
                <a:spcPts val="0"/>
              </a:spcAft>
            </a:pPr>
            <a:r>
              <a:rPr sz="2800" b="0" i="0">
                <a:solidFill>
                  <a:srgbClr val="161412"/>
                </a:solidFill>
                <a:latin typeface="Arial"/>
                <a:ea typeface="Arial"/>
                <a:cs typeface="Arial"/>
              </a:rPr>
              <a:t>Groups of two or three. One minute.</a:t>
            </a:r>
          </a:p>
          <a:p>
            <a:pPr algn="l">
              <a:lnSpc>
                <a:spcPct val="105000"/>
              </a:lnSpc>
              <a:spcBef>
                <a:spcPts val="0"/>
              </a:spcBef>
              <a:spcAft>
                <a:spcPts val="0"/>
              </a:spcAft>
            </a:pPr>
            <a:r>
              <a:rPr sz="2800" b="0" i="0">
                <a:solidFill>
                  <a:srgbClr val="161412"/>
                </a:solidFill>
                <a:latin typeface="Arial"/>
                <a:ea typeface="Arial"/>
                <a:cs typeface="Arial"/>
              </a:rPr>
              <a:t>Talk to the people next to you.</a:t>
            </a:r>
          </a:p>
        </p:txBody>
      </p:sp>
      <p:sp>
        <p:nvSpPr>
          <p:cNvPr id="6" name="Rectangle 5"/>
          <p:cNvSpPr/>
          <p:nvPr/>
        </p:nvSpPr>
        <p:spPr>
          <a:xfrm>
            <a:off x="731520" y="3246120"/>
            <a:ext cx="10698480" cy="15875"/>
          </a:xfrm>
          <a:prstGeom prst="rect">
            <a:avLst/>
          </a:prstGeom>
          <a:solidFill>
            <a:srgbClr val="E0D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52044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01</a:t>
            </a:r>
          </a:p>
        </p:txBody>
      </p:sp>
      <p:sp>
        <p:nvSpPr>
          <p:cNvPr id="8" name="TextBox 7"/>
          <p:cNvSpPr txBox="1"/>
          <p:nvPr/>
        </p:nvSpPr>
        <p:spPr>
          <a:xfrm>
            <a:off x="1737360" y="3493008"/>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Something from this week you would not post.</a:t>
            </a:r>
          </a:p>
        </p:txBody>
      </p:sp>
      <p:sp>
        <p:nvSpPr>
          <p:cNvPr id="9" name="TextBox 8"/>
          <p:cNvSpPr txBox="1"/>
          <p:nvPr/>
        </p:nvSpPr>
        <p:spPr>
          <a:xfrm>
            <a:off x="713232" y="416052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02</a:t>
            </a:r>
          </a:p>
        </p:txBody>
      </p:sp>
      <p:sp>
        <p:nvSpPr>
          <p:cNvPr id="10" name="TextBox 9"/>
          <p:cNvSpPr txBox="1"/>
          <p:nvPr/>
        </p:nvSpPr>
        <p:spPr>
          <a:xfrm>
            <a:off x="1737360" y="4133087"/>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An embarrassing thing, or just how the week went.</a:t>
            </a:r>
          </a:p>
        </p:txBody>
      </p:sp>
      <p:sp>
        <p:nvSpPr>
          <p:cNvPr id="11" name="TextBox 10"/>
          <p:cNvSpPr txBox="1"/>
          <p:nvPr/>
        </p:nvSpPr>
        <p:spPr>
          <a:xfrm>
            <a:off x="713232" y="4800600"/>
            <a:ext cx="914400" cy="36576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C4492C"/>
                </a:solidFill>
                <a:latin typeface="Arial"/>
                <a:ea typeface="Arial"/>
                <a:cs typeface="Arial"/>
              </a:rPr>
              <a:t>03</a:t>
            </a:r>
          </a:p>
        </p:txBody>
      </p:sp>
      <p:sp>
        <p:nvSpPr>
          <p:cNvPr id="12" name="TextBox 11"/>
          <p:cNvSpPr txBox="1"/>
          <p:nvPr/>
        </p:nvSpPr>
        <p:spPr>
          <a:xfrm>
            <a:off x="1737360" y="4773168"/>
            <a:ext cx="8686800" cy="4114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We'll tell you when to stop. Ordinary is fine.</a:t>
            </a:r>
          </a:p>
        </p:txBody>
      </p:sp>
      <p:sp>
        <p:nvSpPr>
          <p:cNvPr id="13" name="TextBox 12"/>
          <p:cNvSpPr txBox="1"/>
          <p:nvPr/>
        </p:nvSpPr>
        <p:spPr>
          <a:xfrm>
            <a:off x="713232" y="5806440"/>
            <a:ext cx="9144000" cy="365760"/>
          </a:xfrm>
          <a:prstGeom prst="rect">
            <a:avLst/>
          </a:prstGeom>
          <a:noFill/>
        </p:spPr>
        <p:txBody>
          <a:bodyPr wrap="square" lIns="0" rIns="0" tIns="0" bIns="0" anchor="t"/>
          <a:lstStyle/>
          <a:p>
            <a:pPr algn="l">
              <a:lnSpc>
                <a:spcPct val="100000"/>
              </a:lnSpc>
              <a:spcBef>
                <a:spcPts val="0"/>
              </a:spcBef>
              <a:spcAft>
                <a:spcPts val="0"/>
              </a:spcAft>
            </a:pPr>
            <a:r>
              <a:rPr sz="1800" b="0" i="1">
                <a:solidFill>
                  <a:srgbClr val="6F685E"/>
                </a:solidFill>
                <a:latin typeface="Arial"/>
                <a:ea typeface="Arial"/>
                <a:cs typeface="Arial"/>
              </a:rPr>
              <a:t>Don't perform it. Actually say it.</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691640"/>
            <a:ext cx="100584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SIXTY SECONDS</a:t>
            </a:r>
          </a:p>
        </p:txBody>
      </p:sp>
      <p:sp>
        <p:nvSpPr>
          <p:cNvPr id="4" name="TextBox 3"/>
          <p:cNvSpPr txBox="1"/>
          <p:nvPr/>
        </p:nvSpPr>
        <p:spPr>
          <a:xfrm>
            <a:off x="685800" y="2103120"/>
            <a:ext cx="10972800" cy="2194560"/>
          </a:xfrm>
          <a:prstGeom prst="rect">
            <a:avLst/>
          </a:prstGeom>
          <a:noFill/>
        </p:spPr>
        <p:txBody>
          <a:bodyPr wrap="square" lIns="0" rIns="0" tIns="0" bIns="0" anchor="t"/>
          <a:lstStyle/>
          <a:p>
            <a:pPr algn="l">
              <a:lnSpc>
                <a:spcPct val="98000"/>
              </a:lnSpc>
              <a:spcBef>
                <a:spcPts val="0"/>
              </a:spcBef>
              <a:spcAft>
                <a:spcPts val="0"/>
              </a:spcAft>
            </a:pPr>
            <a:r>
              <a:rPr sz="4800" b="1" i="0">
                <a:solidFill>
                  <a:srgbClr val="161412"/>
                </a:solidFill>
                <a:latin typeface="Arial"/>
                <a:ea typeface="Arial"/>
                <a:cs typeface="Arial"/>
              </a:rPr>
              <a:t>Something from this week</a:t>
            </a:r>
          </a:p>
          <a:p>
            <a:pPr algn="l">
              <a:lnSpc>
                <a:spcPct val="98000"/>
              </a:lnSpc>
              <a:spcBef>
                <a:spcPts val="0"/>
              </a:spcBef>
              <a:spcAft>
                <a:spcPts val="0"/>
              </a:spcAft>
            </a:pPr>
            <a:r>
              <a:rPr sz="4800" b="1" i="0">
                <a:solidFill>
                  <a:srgbClr val="161412"/>
                </a:solidFill>
                <a:latin typeface="Arial"/>
                <a:ea typeface="Arial"/>
                <a:cs typeface="Arial"/>
              </a:rPr>
              <a:t>you would not post.</a:t>
            </a:r>
          </a:p>
        </p:txBody>
      </p:sp>
      <p:sp>
        <p:nvSpPr>
          <p:cNvPr id="5" name="TextBox 4"/>
          <p:cNvSpPr txBox="1"/>
          <p:nvPr/>
        </p:nvSpPr>
        <p:spPr>
          <a:xfrm>
            <a:off x="713232" y="5029200"/>
            <a:ext cx="7315200" cy="36576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6F685E"/>
                </a:solidFill>
                <a:latin typeface="Arial"/>
                <a:ea typeface="Arial"/>
                <a:cs typeface="Arial"/>
              </a:rPr>
              <a:t>Then we move on.</a:t>
            </a:r>
          </a:p>
        </p:txBody>
      </p:sp>
      <p:sp>
        <p:nvSpPr>
          <p:cNvPr id="6" name="TextBox 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E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737360"/>
            <a:ext cx="9144000" cy="274320"/>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E39B12"/>
                </a:solidFill>
                <a:latin typeface="Arial"/>
                <a:ea typeface="Arial"/>
                <a:cs typeface="Arial"/>
              </a:rPr>
              <a:t>BEFORE WE GO ON</a:t>
            </a:r>
          </a:p>
        </p:txBody>
      </p:sp>
      <p:sp>
        <p:nvSpPr>
          <p:cNvPr id="4" name="TextBox 3"/>
          <p:cNvSpPr txBox="1"/>
          <p:nvPr/>
        </p:nvSpPr>
        <p:spPr>
          <a:xfrm>
            <a:off x="685800" y="2148840"/>
            <a:ext cx="10972800" cy="2286000"/>
          </a:xfrm>
          <a:prstGeom prst="rect">
            <a:avLst/>
          </a:prstGeom>
          <a:noFill/>
        </p:spPr>
        <p:txBody>
          <a:bodyPr wrap="square" lIns="0" rIns="0" tIns="0" bIns="0" anchor="t"/>
          <a:lstStyle/>
          <a:p>
            <a:pPr algn="l">
              <a:lnSpc>
                <a:spcPct val="95000"/>
              </a:lnSpc>
              <a:spcBef>
                <a:spcPts val="0"/>
              </a:spcBef>
              <a:spcAft>
                <a:spcPts val="0"/>
              </a:spcAft>
            </a:pPr>
            <a:r>
              <a:rPr sz="6000" b="1" i="0">
                <a:solidFill>
                  <a:srgbClr val="F6F1E8"/>
                </a:solidFill>
                <a:latin typeface="Arial"/>
                <a:ea typeface="Arial"/>
                <a:cs typeface="Arial"/>
              </a:rPr>
              <a:t>The volunteers</a:t>
            </a:r>
          </a:p>
          <a:p>
            <a:pPr algn="l">
              <a:lnSpc>
                <a:spcPct val="95000"/>
              </a:lnSpc>
              <a:spcBef>
                <a:spcPts val="0"/>
              </a:spcBef>
              <a:spcAft>
                <a:spcPts val="0"/>
              </a:spcAft>
            </a:pPr>
            <a:r>
              <a:rPr sz="6000" b="1" i="0">
                <a:solidFill>
                  <a:srgbClr val="F6F1E8"/>
                </a:solidFill>
                <a:latin typeface="Arial"/>
                <a:ea typeface="Arial"/>
                <a:cs typeface="Arial"/>
              </a:rPr>
              <a:t>were recording you.</a:t>
            </a:r>
          </a:p>
        </p:txBody>
      </p:sp>
      <p:sp>
        <p:nvSpPr>
          <p:cNvPr id="5" name="TextBox 4"/>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E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737360"/>
            <a:ext cx="9144000" cy="274320"/>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E39B12"/>
                </a:solidFill>
                <a:latin typeface="Arial"/>
                <a:ea typeface="Arial"/>
                <a:cs typeface="Arial"/>
              </a:rPr>
              <a:t>ONE MORE THING</a:t>
            </a:r>
          </a:p>
        </p:txBody>
      </p:sp>
      <p:sp>
        <p:nvSpPr>
          <p:cNvPr id="4" name="TextBox 3"/>
          <p:cNvSpPr txBox="1"/>
          <p:nvPr/>
        </p:nvSpPr>
        <p:spPr>
          <a:xfrm>
            <a:off x="685800" y="2148840"/>
            <a:ext cx="10972800" cy="2286000"/>
          </a:xfrm>
          <a:prstGeom prst="rect">
            <a:avLst/>
          </a:prstGeom>
          <a:noFill/>
        </p:spPr>
        <p:txBody>
          <a:bodyPr wrap="square" lIns="0" rIns="0" tIns="0" bIns="0" anchor="t"/>
          <a:lstStyle/>
          <a:p>
            <a:pPr algn="l">
              <a:lnSpc>
                <a:spcPct val="95000"/>
              </a:lnSpc>
              <a:spcBef>
                <a:spcPts val="0"/>
              </a:spcBef>
              <a:spcAft>
                <a:spcPts val="0"/>
              </a:spcAft>
            </a:pPr>
            <a:r>
              <a:rPr sz="6400" b="1" i="0">
                <a:solidFill>
                  <a:srgbClr val="F6F1E8"/>
                </a:solidFill>
                <a:latin typeface="Arial"/>
                <a:ea typeface="Arial"/>
                <a:cs typeface="Arial"/>
              </a:rPr>
              <a:t>We might post</a:t>
            </a:r>
          </a:p>
          <a:p>
            <a:pPr algn="l">
              <a:lnSpc>
                <a:spcPct val="95000"/>
              </a:lnSpc>
              <a:spcBef>
                <a:spcPts val="0"/>
              </a:spcBef>
              <a:spcAft>
                <a:spcPts val="0"/>
              </a:spcAft>
            </a:pPr>
            <a:r>
              <a:rPr sz="6400" b="1" i="0">
                <a:solidFill>
                  <a:srgbClr val="F6F1E8"/>
                </a:solidFill>
                <a:latin typeface="Arial"/>
                <a:ea typeface="Arial"/>
                <a:cs typeface="Arial"/>
              </a:rPr>
              <a:t>the clips.</a:t>
            </a:r>
          </a:p>
        </p:txBody>
      </p:sp>
      <p:sp>
        <p:nvSpPr>
          <p:cNvPr id="5" name="TextBox 4"/>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05156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1C6844"/>
                </a:solidFill>
                <a:latin typeface="Arial"/>
                <a:ea typeface="Arial"/>
                <a:cs typeface="Arial"/>
              </a:rPr>
              <a:t>CLEAR</a:t>
            </a:r>
          </a:p>
        </p:txBody>
      </p:sp>
      <p:sp>
        <p:nvSpPr>
          <p:cNvPr id="4" name="TextBox 3"/>
          <p:cNvSpPr txBox="1"/>
          <p:nvPr/>
        </p:nvSpPr>
        <p:spPr>
          <a:xfrm>
            <a:off x="685800" y="1463040"/>
            <a:ext cx="10972800" cy="68580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Nobody recorded you.</a:t>
            </a:r>
          </a:p>
        </p:txBody>
      </p:sp>
      <p:sp>
        <p:nvSpPr>
          <p:cNvPr id="5" name="TextBox 4"/>
          <p:cNvSpPr txBox="1"/>
          <p:nvPr/>
        </p:nvSpPr>
        <p:spPr>
          <a:xfrm>
            <a:off x="685800" y="2194560"/>
            <a:ext cx="10972800" cy="64008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Nothing was posted.</a:t>
            </a:r>
          </a:p>
        </p:txBody>
      </p:sp>
      <p:sp>
        <p:nvSpPr>
          <p:cNvPr id="6" name="TextBox 5"/>
          <p:cNvSpPr txBox="1"/>
          <p:nvPr/>
        </p:nvSpPr>
        <p:spPr>
          <a:xfrm>
            <a:off x="685800" y="2926080"/>
            <a:ext cx="10972800" cy="640080"/>
          </a:xfrm>
          <a:prstGeom prst="rect">
            <a:avLst/>
          </a:prstGeom>
          <a:noFill/>
        </p:spPr>
        <p:txBody>
          <a:bodyPr wrap="square" lIns="0" rIns="0" tIns="0" bIns="0" anchor="t"/>
          <a:lstStyle/>
          <a:p>
            <a:pPr algn="l">
              <a:lnSpc>
                <a:spcPct val="100000"/>
              </a:lnSpc>
              <a:spcBef>
                <a:spcPts val="0"/>
              </a:spcBef>
              <a:spcAft>
                <a:spcPts val="0"/>
              </a:spcAft>
            </a:pPr>
            <a:r>
              <a:rPr sz="4400" b="1" i="0">
                <a:solidFill>
                  <a:srgbClr val="161412"/>
                </a:solidFill>
                <a:latin typeface="Arial"/>
                <a:ea typeface="Arial"/>
                <a:cs typeface="Arial"/>
              </a:rPr>
              <a:t>Nothing exists.</a:t>
            </a:r>
          </a:p>
        </p:txBody>
      </p:sp>
      <p:sp>
        <p:nvSpPr>
          <p:cNvPr id="7" name="Rounded Rectangle 6"/>
          <p:cNvSpPr/>
          <p:nvPr/>
        </p:nvSpPr>
        <p:spPr>
          <a:xfrm>
            <a:off x="713232" y="4297680"/>
            <a:ext cx="7863840" cy="1051560"/>
          </a:xfrm>
          <a:prstGeom prst="roundRect">
            <a:avLst>
              <a:gd name="adj" fmla="val 10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434840"/>
            <a:ext cx="740664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Phones up. Lock screen. Camera closed.</a:t>
            </a:r>
          </a:p>
        </p:txBody>
      </p:sp>
      <p:sp>
        <p:nvSpPr>
          <p:cNvPr id="9" name="TextBox 8"/>
          <p:cNvSpPr txBox="1"/>
          <p:nvPr/>
        </p:nvSpPr>
        <p:spPr>
          <a:xfrm>
            <a:off x="960120" y="4864608"/>
            <a:ext cx="7406640" cy="32004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Show the room. Take your time.</a:t>
            </a:r>
          </a:p>
        </p:txBody>
      </p:sp>
      <p:sp>
        <p:nvSpPr>
          <p:cNvPr id="10" name="TextBox 9"/>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41732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WHAT THAT PROVED</a:t>
            </a:r>
          </a:p>
        </p:txBody>
      </p:sp>
      <p:sp>
        <p:nvSpPr>
          <p:cNvPr id="4" name="TextBox 3"/>
          <p:cNvSpPr txBox="1"/>
          <p:nvPr/>
        </p:nvSpPr>
        <p:spPr>
          <a:xfrm>
            <a:off x="685800" y="1874519"/>
            <a:ext cx="10972800" cy="1737360"/>
          </a:xfrm>
          <a:prstGeom prst="rect">
            <a:avLst/>
          </a:prstGeom>
          <a:noFill/>
        </p:spPr>
        <p:txBody>
          <a:bodyPr wrap="square" lIns="0" rIns="0" tIns="0" bIns="0" anchor="t"/>
          <a:lstStyle/>
          <a:p>
            <a:pPr algn="l">
              <a:lnSpc>
                <a:spcPct val="96000"/>
              </a:lnSpc>
              <a:spcBef>
                <a:spcPts val="0"/>
              </a:spcBef>
              <a:spcAft>
                <a:spcPts val="0"/>
              </a:spcAft>
            </a:pPr>
            <a:r>
              <a:rPr sz="4800" b="1" i="0">
                <a:solidFill>
                  <a:srgbClr val="161412"/>
                </a:solidFill>
                <a:latin typeface="Arial"/>
                <a:ea typeface="Arial"/>
                <a:cs typeface="Arial"/>
              </a:rPr>
              <a:t>Your phone was</a:t>
            </a:r>
          </a:p>
          <a:p>
            <a:pPr algn="l">
              <a:lnSpc>
                <a:spcPct val="96000"/>
              </a:lnSpc>
              <a:spcBef>
                <a:spcPts val="0"/>
              </a:spcBef>
              <a:spcAft>
                <a:spcPts val="0"/>
              </a:spcAft>
            </a:pPr>
            <a:r>
              <a:rPr sz="4800" b="1" i="0">
                <a:solidFill>
                  <a:srgbClr val="161412"/>
                </a:solidFill>
                <a:latin typeface="Arial"/>
                <a:ea typeface="Arial"/>
                <a:cs typeface="Arial"/>
              </a:rPr>
              <a:t>on the table.</a:t>
            </a:r>
          </a:p>
        </p:txBody>
      </p:sp>
      <p:sp>
        <p:nvSpPr>
          <p:cNvPr id="5" name="TextBox 4"/>
          <p:cNvSpPr txBox="1"/>
          <p:nvPr/>
        </p:nvSpPr>
        <p:spPr>
          <a:xfrm>
            <a:off x="713232" y="3886200"/>
            <a:ext cx="10058400" cy="1097280"/>
          </a:xfrm>
          <a:prstGeom prst="rect">
            <a:avLst/>
          </a:prstGeom>
          <a:noFill/>
        </p:spPr>
        <p:txBody>
          <a:bodyPr wrap="square" lIns="0" rIns="0" tIns="0" bIns="0" anchor="t"/>
          <a:lstStyle/>
          <a:p>
            <a:pPr algn="l">
              <a:lnSpc>
                <a:spcPct val="105000"/>
              </a:lnSpc>
              <a:spcBef>
                <a:spcPts val="0"/>
              </a:spcBef>
              <a:spcAft>
                <a:spcPts val="0"/>
              </a:spcAft>
            </a:pPr>
            <a:r>
              <a:rPr sz="2800" b="0" i="0">
                <a:solidFill>
                  <a:srgbClr val="161412"/>
                </a:solidFill>
                <a:latin typeface="Arial"/>
                <a:ea typeface="Arial"/>
                <a:cs typeface="Arial"/>
              </a:rPr>
              <a:t>You were acting normal.</a:t>
            </a:r>
          </a:p>
          <a:p>
            <a:pPr algn="l">
              <a:lnSpc>
                <a:spcPct val="105000"/>
              </a:lnSpc>
              <a:spcBef>
                <a:spcPts val="0"/>
              </a:spcBef>
              <a:spcAft>
                <a:spcPts val="0"/>
              </a:spcAft>
            </a:pPr>
            <a:r>
              <a:rPr sz="2800" b="0" i="0">
                <a:solidFill>
                  <a:srgbClr val="161412"/>
                </a:solidFill>
                <a:latin typeface="Arial"/>
                <a:ea typeface="Arial"/>
                <a:cs typeface="Arial"/>
              </a:rPr>
              <a:t>You still would not have known.</a:t>
            </a:r>
          </a:p>
        </p:txBody>
      </p:sp>
      <p:sp>
        <p:nvSpPr>
          <p:cNvPr id="6" name="TextBox 5"/>
          <p:cNvSpPr txBox="1"/>
          <p:nvPr/>
        </p:nvSpPr>
        <p:spPr>
          <a:xfrm>
            <a:off x="713232" y="5349240"/>
            <a:ext cx="91440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C4492C"/>
                </a:solidFill>
                <a:latin typeface="Arial"/>
                <a:ea typeface="Arial"/>
                <a:cs typeface="Arial"/>
              </a:rPr>
              <a:t>That is the product requirement.</a:t>
            </a:r>
          </a:p>
        </p:txBody>
      </p:sp>
      <p:sp>
        <p:nvSpPr>
          <p:cNvPr id="7" name="TextBox 6"/>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132588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THE ACTUAL PRODUCT</a:t>
            </a:r>
          </a:p>
        </p:txBody>
      </p:sp>
      <p:sp>
        <p:nvSpPr>
          <p:cNvPr id="4" name="TextBox 3"/>
          <p:cNvSpPr txBox="1"/>
          <p:nvPr/>
        </p:nvSpPr>
        <p:spPr>
          <a:xfrm>
            <a:off x="685800" y="1691640"/>
            <a:ext cx="7315200" cy="1051560"/>
          </a:xfrm>
          <a:prstGeom prst="rect">
            <a:avLst/>
          </a:prstGeom>
          <a:noFill/>
        </p:spPr>
        <p:txBody>
          <a:bodyPr wrap="square" lIns="0" rIns="0" tIns="0" bIns="0" anchor="t"/>
          <a:lstStyle/>
          <a:p>
            <a:pPr algn="l">
              <a:lnSpc>
                <a:spcPct val="100000"/>
              </a:lnSpc>
              <a:spcBef>
                <a:spcPts val="0"/>
              </a:spcBef>
              <a:spcAft>
                <a:spcPts val="0"/>
              </a:spcAft>
            </a:pPr>
            <a:r>
              <a:rPr sz="7200" b="1" i="0">
                <a:solidFill>
                  <a:srgbClr val="161412"/>
                </a:solidFill>
                <a:latin typeface="Arial"/>
                <a:ea typeface="Arial"/>
                <a:cs typeface="Arial"/>
              </a:rPr>
              <a:t>Halo</a:t>
            </a:r>
          </a:p>
        </p:txBody>
      </p:sp>
      <p:sp>
        <p:nvSpPr>
          <p:cNvPr id="5" name="TextBox 4"/>
          <p:cNvSpPr txBox="1"/>
          <p:nvPr/>
        </p:nvSpPr>
        <p:spPr>
          <a:xfrm>
            <a:off x="713232" y="2971800"/>
            <a:ext cx="7498079" cy="1188720"/>
          </a:xfrm>
          <a:prstGeom prst="rect">
            <a:avLst/>
          </a:prstGeom>
          <a:noFill/>
        </p:spPr>
        <p:txBody>
          <a:bodyPr wrap="square" lIns="0" rIns="0" tIns="0" bIns="0" anchor="t"/>
          <a:lstStyle/>
          <a:p>
            <a:pPr algn="l">
              <a:lnSpc>
                <a:spcPct val="102000"/>
              </a:lnSpc>
              <a:spcBef>
                <a:spcPts val="0"/>
              </a:spcBef>
              <a:spcAft>
                <a:spcPts val="0"/>
              </a:spcAft>
            </a:pPr>
            <a:r>
              <a:rPr sz="2800" b="0" i="0">
                <a:solidFill>
                  <a:srgbClr val="161412"/>
                </a:solidFill>
                <a:latin typeface="Arial"/>
                <a:ea typeface="Arial"/>
                <a:cs typeface="Arial"/>
              </a:rPr>
              <a:t>A keychain that tells you</a:t>
            </a:r>
          </a:p>
          <a:p>
            <a:pPr algn="l">
              <a:lnSpc>
                <a:spcPct val="102000"/>
              </a:lnSpc>
              <a:spcBef>
                <a:spcPts val="0"/>
              </a:spcBef>
              <a:spcAft>
                <a:spcPts val="0"/>
              </a:spcAft>
            </a:pPr>
            <a:r>
              <a:rPr sz="2800" b="0" i="0">
                <a:solidFill>
                  <a:srgbClr val="161412"/>
                </a:solidFill>
                <a:latin typeface="Arial"/>
                <a:ea typeface="Arial"/>
                <a:cs typeface="Arial"/>
              </a:rPr>
              <a:t>when someone is recording.</a:t>
            </a:r>
          </a:p>
        </p:txBody>
      </p:sp>
      <p:sp>
        <p:nvSpPr>
          <p:cNvPr id="6" name="Rectangle 5"/>
          <p:cNvSpPr/>
          <p:nvPr/>
        </p:nvSpPr>
        <p:spPr>
          <a:xfrm>
            <a:off x="731520" y="4434840"/>
            <a:ext cx="1920240" cy="44450"/>
          </a:xfrm>
          <a:prstGeom prst="rect">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709160"/>
            <a:ext cx="64008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Beside was the demo.</a:t>
            </a:r>
          </a:p>
        </p:txBody>
      </p:sp>
      <p:sp>
        <p:nvSpPr>
          <p:cNvPr id="8" name="TextBox 7"/>
          <p:cNvSpPr txBox="1"/>
          <p:nvPr/>
        </p:nvSpPr>
        <p:spPr>
          <a:xfrm>
            <a:off x="713232" y="5806440"/>
            <a:ext cx="7315200" cy="320040"/>
          </a:xfrm>
          <a:prstGeom prst="rect">
            <a:avLst/>
          </a:prstGeom>
          <a:noFill/>
        </p:spPr>
        <p:txBody>
          <a:bodyPr wrap="square" lIns="0" rIns="0" tIns="0" bIns="0" anchor="t"/>
          <a:lstStyle/>
          <a:p>
            <a:pPr algn="l">
              <a:lnSpc>
                <a:spcPct val="100000"/>
              </a:lnSpc>
              <a:spcBef>
                <a:spcPts val="0"/>
              </a:spcBef>
              <a:spcAft>
                <a:spcPts val="0"/>
              </a:spcAft>
            </a:pPr>
            <a:r>
              <a:rPr sz="1400" b="0" i="0">
                <a:solidFill>
                  <a:srgbClr val="6F685E"/>
                </a:solidFill>
                <a:latin typeface="Arial"/>
                <a:ea typeface="Arial"/>
                <a:cs typeface="Arial"/>
              </a:rPr>
              <a:t>[ Name ]     ·     [ Name ]     ·     [ Name ]</a:t>
            </a:r>
          </a:p>
        </p:txBody>
      </p:sp>
      <p:sp>
        <p:nvSpPr>
          <p:cNvPr id="9" name="Oval 8"/>
          <p:cNvSpPr/>
          <p:nvPr/>
        </p:nvSpPr>
        <p:spPr>
          <a:xfrm>
            <a:off x="9384487" y="1554480"/>
            <a:ext cx="1209293" cy="1209293"/>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36861" y="1806854"/>
            <a:ext cx="704545" cy="704545"/>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05111" y="2627071"/>
            <a:ext cx="378561" cy="294436"/>
          </a:xfrm>
          <a:prstGeom prst="roundRect">
            <a:avLst>
              <a:gd name="adj" fmla="val 40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74175" y="2837383"/>
            <a:ext cx="1629918" cy="2155697"/>
          </a:xfrm>
          <a:prstGeom prst="roundRect">
            <a:avLst>
              <a:gd name="adj" fmla="val 18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552736" y="3258007"/>
            <a:ext cx="883310" cy="883310"/>
          </a:xfrm>
          <a:prstGeom prst="ellipse">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05111" y="3510381"/>
            <a:ext cx="378561" cy="378561"/>
          </a:xfrm>
          <a:prstGeom prst="ellipse">
            <a:avLst/>
          </a:prstGeom>
          <a:solidFill>
            <a:srgbClr val="FFE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74175" y="4267504"/>
            <a:ext cx="1629918" cy="336499"/>
          </a:xfrm>
          <a:prstGeom prst="rect">
            <a:avLst/>
          </a:prstGeom>
          <a:noFill/>
        </p:spPr>
        <p:txBody>
          <a:bodyPr wrap="square" lIns="0" rIns="0" tIns="0" bIns="0" anchor="t"/>
          <a:lstStyle/>
          <a:p>
            <a:pPr algn="ctr">
              <a:lnSpc>
                <a:spcPct val="100000"/>
              </a:lnSpc>
              <a:spcBef>
                <a:spcPts val="0"/>
              </a:spcBef>
              <a:spcAft>
                <a:spcPts val="0"/>
              </a:spcAft>
            </a:pPr>
            <a:r>
              <a:rPr sz="1300" b="1" i="0" spc="160">
                <a:solidFill>
                  <a:srgbClr val="F6F1E8"/>
                </a:solidFill>
                <a:latin typeface="Arial"/>
                <a:ea typeface="Arial"/>
                <a:cs typeface="Arial"/>
              </a:rPr>
              <a:t>HALO</a:t>
            </a:r>
          </a:p>
        </p:txBody>
      </p:sp>
      <p:sp>
        <p:nvSpPr>
          <p:cNvPr id="16" name="TextBox 15"/>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7" name="TextBox 16"/>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THIS ROOM</a:t>
            </a:r>
          </a:p>
        </p:txBody>
      </p:sp>
      <p:sp>
        <p:nvSpPr>
          <p:cNvPr id="4" name="TextBox 3"/>
          <p:cNvSpPr txBox="1"/>
          <p:nvPr/>
        </p:nvSpPr>
        <p:spPr>
          <a:xfrm>
            <a:off x="685800" y="822960"/>
            <a:ext cx="10972800" cy="777240"/>
          </a:xfrm>
          <a:prstGeom prst="rect">
            <a:avLst/>
          </a:prstGeom>
          <a:noFill/>
        </p:spPr>
        <p:txBody>
          <a:bodyPr wrap="square" lIns="0" rIns="0" tIns="0" bIns="0" anchor="t"/>
          <a:lstStyle/>
          <a:p>
            <a:pPr algn="l">
              <a:lnSpc>
                <a:spcPct val="100000"/>
              </a:lnSpc>
              <a:spcBef>
                <a:spcPts val="0"/>
              </a:spcBef>
              <a:spcAft>
                <a:spcPts val="0"/>
              </a:spcAft>
            </a:pPr>
            <a:r>
              <a:rPr sz="4800" b="1" i="0">
                <a:solidFill>
                  <a:srgbClr val="161412"/>
                </a:solidFill>
                <a:latin typeface="Arial"/>
                <a:ea typeface="Arial"/>
                <a:cs typeface="Arial"/>
              </a:rPr>
              <a:t>Keep the glasses.</a:t>
            </a:r>
          </a:p>
        </p:txBody>
      </p:sp>
      <p:sp>
        <p:nvSpPr>
          <p:cNvPr id="5" name="TextBox 4"/>
          <p:cNvSpPr txBox="1"/>
          <p:nvPr/>
        </p:nvSpPr>
        <p:spPr>
          <a:xfrm>
            <a:off x="713232" y="1783080"/>
            <a:ext cx="10515600" cy="1051560"/>
          </a:xfrm>
          <a:prstGeom prst="rect">
            <a:avLst/>
          </a:prstGeom>
          <a:noFill/>
        </p:spPr>
        <p:txBody>
          <a:bodyPr wrap="square" lIns="0" rIns="0" tIns="0" bIns="0" anchor="t"/>
          <a:lstStyle/>
          <a:p>
            <a:pPr algn="l">
              <a:lnSpc>
                <a:spcPct val="108000"/>
              </a:lnSpc>
              <a:spcBef>
                <a:spcPts val="0"/>
              </a:spcBef>
              <a:spcAft>
                <a:spcPts val="0"/>
              </a:spcAft>
            </a:pPr>
            <a:r>
              <a:rPr sz="2400" b="0" i="0">
                <a:solidFill>
                  <a:srgbClr val="161412"/>
                </a:solidFill>
                <a:latin typeface="Arial"/>
                <a:ea typeface="Arial"/>
                <a:cs typeface="Arial"/>
              </a:rPr>
              <a:t>A camera you don't have to hold is a better camera.</a:t>
            </a:r>
          </a:p>
          <a:p>
            <a:pPr algn="l">
              <a:lnSpc>
                <a:spcPct val="108000"/>
              </a:lnSpc>
              <a:spcBef>
                <a:spcPts val="0"/>
              </a:spcBef>
              <a:spcAft>
                <a:spcPts val="0"/>
              </a:spcAft>
            </a:pPr>
            <a:r>
              <a:rPr sz="2400" b="0" i="0">
                <a:solidFill>
                  <a:srgbClr val="161412"/>
                </a:solidFill>
                <a:latin typeface="Arial"/>
                <a:ea typeface="Arial"/>
                <a:cs typeface="Arial"/>
              </a:rPr>
              <a:t>Halo is for the person who didn't press record.</a:t>
            </a:r>
          </a:p>
        </p:txBody>
      </p:sp>
      <p:sp>
        <p:nvSpPr>
          <p:cNvPr id="6" name="Rounded Rectangle 5"/>
          <p:cNvSpPr/>
          <p:nvPr/>
        </p:nvSpPr>
        <p:spPr>
          <a:xfrm>
            <a:off x="713232" y="3246120"/>
            <a:ext cx="521208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6480" y="3246120"/>
            <a:ext cx="534924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456432"/>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20">
                <a:solidFill>
                  <a:srgbClr val="8A5200"/>
                </a:solidFill>
                <a:latin typeface="Arial"/>
                <a:ea typeface="Arial"/>
                <a:cs typeface="Arial"/>
              </a:rPr>
              <a:t>WHAT YOU ALREADY THINK</a:t>
            </a:r>
          </a:p>
        </p:txBody>
      </p:sp>
      <p:sp>
        <p:nvSpPr>
          <p:cNvPr id="9" name="TextBox 8"/>
          <p:cNvSpPr txBox="1"/>
          <p:nvPr/>
        </p:nvSpPr>
        <p:spPr>
          <a:xfrm>
            <a:off x="960120" y="3886200"/>
            <a:ext cx="4663440" cy="1645920"/>
          </a:xfrm>
          <a:prstGeom prst="rect">
            <a:avLst/>
          </a:prstGeom>
          <a:noFill/>
        </p:spPr>
        <p:txBody>
          <a:bodyPr wrap="square" lIns="0" rIns="0" tIns="0" bIns="0" anchor="t"/>
          <a:lstStyle/>
          <a:p>
            <a:pPr algn="l">
              <a:lnSpc>
                <a:spcPct val="112000"/>
              </a:lnSpc>
              <a:spcBef>
                <a:spcPts val="0"/>
              </a:spcBef>
              <a:spcAft>
                <a:spcPts val="0"/>
              </a:spcAft>
            </a:pPr>
            <a:r>
              <a:rPr sz="2200" b="0" i="0">
                <a:solidFill>
                  <a:srgbClr val="161412"/>
                </a:solidFill>
                <a:latin typeface="Arial"/>
                <a:ea typeface="Arial"/>
                <a:cs typeface="Arial"/>
              </a:rPr>
              <a:t>Hands free.</a:t>
            </a:r>
          </a:p>
          <a:p>
            <a:pPr algn="l">
              <a:lnSpc>
                <a:spcPct val="112000"/>
              </a:lnSpc>
              <a:spcBef>
                <a:spcPts val="0"/>
              </a:spcBef>
              <a:spcAft>
                <a:spcPts val="0"/>
              </a:spcAft>
            </a:pPr>
            <a:r>
              <a:rPr sz="2200" b="0" i="0">
                <a:solidFill>
                  <a:srgbClr val="161412"/>
                </a:solidFill>
                <a:latin typeface="Arial"/>
                <a:ea typeface="Arial"/>
                <a:cs typeface="Arial"/>
              </a:rPr>
              <a:t>The shot is from your eyes.</a:t>
            </a:r>
          </a:p>
          <a:p>
            <a:pPr algn="l">
              <a:lnSpc>
                <a:spcPct val="112000"/>
              </a:lnSpc>
              <a:spcBef>
                <a:spcPts val="0"/>
              </a:spcBef>
              <a:spcAft>
                <a:spcPts val="0"/>
              </a:spcAft>
            </a:pPr>
            <a:r>
              <a:rPr sz="2200" b="0" i="0">
                <a:solidFill>
                  <a:srgbClr val="161412"/>
                </a:solidFill>
                <a:latin typeface="Arial"/>
                <a:ea typeface="Arial"/>
                <a:cs typeface="Arial"/>
              </a:rPr>
              <a:t>The glasses are not the villain.</a:t>
            </a:r>
          </a:p>
        </p:txBody>
      </p:sp>
      <p:sp>
        <p:nvSpPr>
          <p:cNvPr id="10" name="TextBox 9"/>
          <p:cNvSpPr txBox="1"/>
          <p:nvPr/>
        </p:nvSpPr>
        <p:spPr>
          <a:xfrm>
            <a:off x="6382512" y="3456432"/>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20">
                <a:solidFill>
                  <a:srgbClr val="C4492C"/>
                </a:solidFill>
                <a:latin typeface="Arial"/>
                <a:ea typeface="Arial"/>
                <a:cs typeface="Arial"/>
              </a:rPr>
              <a:t>THE OTHER SEAT</a:t>
            </a:r>
          </a:p>
        </p:txBody>
      </p:sp>
      <p:sp>
        <p:nvSpPr>
          <p:cNvPr id="11" name="TextBox 10"/>
          <p:cNvSpPr txBox="1"/>
          <p:nvPr/>
        </p:nvSpPr>
        <p:spPr>
          <a:xfrm>
            <a:off x="6382512" y="3886200"/>
            <a:ext cx="4754880" cy="1645920"/>
          </a:xfrm>
          <a:prstGeom prst="rect">
            <a:avLst/>
          </a:prstGeom>
          <a:noFill/>
        </p:spPr>
        <p:txBody>
          <a:bodyPr wrap="square" lIns="0" rIns="0" tIns="0" bIns="0" anchor="t"/>
          <a:lstStyle/>
          <a:p>
            <a:pPr algn="l">
              <a:lnSpc>
                <a:spcPct val="112000"/>
              </a:lnSpc>
              <a:spcBef>
                <a:spcPts val="0"/>
              </a:spcBef>
              <a:spcAft>
                <a:spcPts val="0"/>
              </a:spcAft>
            </a:pPr>
            <a:r>
              <a:rPr sz="2200" b="0" i="0">
                <a:solidFill>
                  <a:srgbClr val="161412"/>
                </a:solidFill>
                <a:latin typeface="Arial"/>
                <a:ea typeface="Arial"/>
                <a:cs typeface="Arial"/>
              </a:rPr>
              <a:t>They didn't press it.</a:t>
            </a:r>
          </a:p>
          <a:p>
            <a:pPr algn="l">
              <a:lnSpc>
                <a:spcPct val="112000"/>
              </a:lnSpc>
              <a:spcBef>
                <a:spcPts val="0"/>
              </a:spcBef>
              <a:spcAft>
                <a:spcPts val="0"/>
              </a:spcAft>
            </a:pPr>
            <a:r>
              <a:rPr sz="2200" b="0" i="0">
                <a:solidFill>
                  <a:srgbClr val="161412"/>
                </a:solidFill>
                <a:latin typeface="Arial"/>
                <a:ea typeface="Arial"/>
                <a:cs typeface="Arial"/>
              </a:rPr>
              <a:t>They may not be looking</a:t>
            </a:r>
          </a:p>
          <a:p>
            <a:pPr algn="l">
              <a:lnSpc>
                <a:spcPct val="112000"/>
              </a:lnSpc>
              <a:spcBef>
                <a:spcPts val="0"/>
              </a:spcBef>
              <a:spcAft>
                <a:spcPts val="0"/>
              </a:spcAft>
            </a:pPr>
            <a:r>
              <a:rPr sz="2200" b="0" i="0">
                <a:solidFill>
                  <a:srgbClr val="161412"/>
                </a:solidFill>
                <a:latin typeface="Arial"/>
                <a:ea typeface="Arial"/>
                <a:cs typeface="Arial"/>
              </a:rPr>
              <a:t>at the frame.</a:t>
            </a:r>
          </a:p>
        </p:txBody>
      </p:sp>
      <p:sp>
        <p:nvSpPr>
          <p:cNvPr id="12" name="TextBox 11"/>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3" name="TextBox 1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THE GAP</a:t>
            </a:r>
          </a:p>
        </p:txBody>
      </p:sp>
      <p:sp>
        <p:nvSpPr>
          <p:cNvPr id="4" name="TextBox 3"/>
          <p:cNvSpPr txBox="1"/>
          <p:nvPr/>
        </p:nvSpPr>
        <p:spPr>
          <a:xfrm>
            <a:off x="685800" y="713232"/>
            <a:ext cx="10972800" cy="1417320"/>
          </a:xfrm>
          <a:prstGeom prst="rect">
            <a:avLst/>
          </a:prstGeom>
          <a:noFill/>
        </p:spPr>
        <p:txBody>
          <a:bodyPr wrap="square" lIns="0" rIns="0" tIns="0" bIns="0" anchor="t"/>
          <a:lstStyle/>
          <a:p>
            <a:pPr algn="l">
              <a:lnSpc>
                <a:spcPct val="96000"/>
              </a:lnSpc>
              <a:spcBef>
                <a:spcPts val="0"/>
              </a:spcBef>
              <a:spcAft>
                <a:spcPts val="0"/>
              </a:spcAft>
            </a:pPr>
            <a:r>
              <a:rPr sz="4000" b="1" i="0">
                <a:solidFill>
                  <a:srgbClr val="161412"/>
                </a:solidFill>
                <a:latin typeface="Arial"/>
                <a:ea typeface="Arial"/>
                <a:cs typeface="Arial"/>
              </a:rPr>
              <a:t>The blink only helps</a:t>
            </a:r>
          </a:p>
          <a:p>
            <a:pPr algn="l">
              <a:lnSpc>
                <a:spcPct val="96000"/>
              </a:lnSpc>
              <a:spcBef>
                <a:spcPts val="0"/>
              </a:spcBef>
              <a:spcAft>
                <a:spcPts val="0"/>
              </a:spcAft>
            </a:pPr>
            <a:r>
              <a:rPr sz="4000" b="1" i="0">
                <a:solidFill>
                  <a:srgbClr val="161412"/>
                </a:solidFill>
                <a:latin typeface="Arial"/>
                <a:ea typeface="Arial"/>
                <a:cs typeface="Arial"/>
              </a:rPr>
              <a:t>if you are looking.</a:t>
            </a:r>
          </a:p>
        </p:txBody>
      </p:sp>
      <p:sp>
        <p:nvSpPr>
          <p:cNvPr id="5" name="Rounded Rectangle 4"/>
          <p:cNvSpPr/>
          <p:nvPr/>
        </p:nvSpPr>
        <p:spPr>
          <a:xfrm>
            <a:off x="685800" y="2468880"/>
            <a:ext cx="5349240" cy="3520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0" y="2468880"/>
            <a:ext cx="5303520" cy="3520440"/>
          </a:xfrm>
          <a:prstGeom prst="roundRect">
            <a:avLst>
              <a:gd name="adj" fmla="val 8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97480"/>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50">
                <a:solidFill>
                  <a:srgbClr val="8A5200"/>
                </a:solidFill>
                <a:latin typeface="Arial"/>
                <a:ea typeface="Arial"/>
                <a:cs typeface="Arial"/>
              </a:rPr>
              <a:t>GLASSES</a:t>
            </a:r>
          </a:p>
        </p:txBody>
      </p:sp>
      <p:sp>
        <p:nvSpPr>
          <p:cNvPr id="8" name="TextBox 7"/>
          <p:cNvSpPr txBox="1"/>
          <p:nvPr/>
        </p:nvSpPr>
        <p:spPr>
          <a:xfrm>
            <a:off x="960120" y="3108960"/>
            <a:ext cx="4754880" cy="2560320"/>
          </a:xfrm>
          <a:prstGeom prst="rect">
            <a:avLst/>
          </a:prstGeom>
          <a:noFill/>
        </p:spPr>
        <p:txBody>
          <a:bodyPr wrap="square" lIns="0" rIns="0" tIns="0" bIns="0" anchor="t"/>
          <a:lstStyle/>
          <a:p>
            <a:pPr algn="l">
              <a:lnSpc>
                <a:spcPct val="108000"/>
              </a:lnSpc>
              <a:spcBef>
                <a:spcPts val="0"/>
              </a:spcBef>
              <a:spcAft>
                <a:spcPts val="0"/>
              </a:spcAft>
            </a:pPr>
            <a:r>
              <a:rPr sz="2000" b="0" i="0">
                <a:solidFill>
                  <a:srgbClr val="161412"/>
                </a:solidFill>
                <a:latin typeface="Arial"/>
                <a:ea typeface="Arial"/>
                <a:cs typeface="Arial"/>
              </a:rPr>
              <a:t>A white capture LED.</a:t>
            </a:r>
          </a:p>
          <a:p>
            <a:pPr algn="l">
              <a:lnSpc>
                <a:spcPct val="108000"/>
              </a:lnSpc>
              <a:spcBef>
                <a:spcPts val="0"/>
              </a:spcBef>
              <a:spcAft>
                <a:spcPts val="0"/>
              </a:spcAft>
            </a:pPr>
            <a:r>
              <a:rPr sz="2000" b="0" i="0">
                <a:solidFill>
                  <a:srgbClr val="161412"/>
                </a:solidFill>
                <a:latin typeface="Arial"/>
                <a:ea typeface="Arial"/>
                <a:cs typeface="Arial"/>
              </a:rPr>
              <a:t>A blink for a photo.</a:t>
            </a:r>
          </a:p>
          <a:p>
            <a:pPr algn="l">
              <a:lnSpc>
                <a:spcPct val="108000"/>
              </a:lnSpc>
              <a:spcBef>
                <a:spcPts val="0"/>
              </a:spcBef>
              <a:spcAft>
                <a:spcPts val="0"/>
              </a:spcAft>
            </a:pPr>
            <a:r>
              <a:rPr sz="2000" b="0" i="0">
                <a:solidFill>
                  <a:srgbClr val="161412"/>
                </a:solidFill>
                <a:latin typeface="Arial"/>
                <a:ea typeface="Arial"/>
                <a:cs typeface="Arial"/>
              </a:rPr>
              <a:t>On through a video.</a:t>
            </a:r>
          </a:p>
          <a:p>
            <a:pPr algn="l">
              <a:lnSpc>
                <a:spcPct val="108000"/>
              </a:lnSpc>
              <a:spcBef>
                <a:spcPts val="0"/>
              </a:spcBef>
              <a:spcAft>
                <a:spcPts val="0"/>
              </a:spcAft>
            </a:pPr>
            <a:r>
              <a:rPr sz="2000" b="0" i="0">
                <a:solidFill>
                  <a:srgbClr val="161412"/>
                </a:solidFill>
                <a:latin typeface="Arial"/>
                <a:ea typeface="Arial"/>
                <a:cs typeface="Arial"/>
              </a:rPr>
              <a:t>Cover the light, the camera</a:t>
            </a:r>
          </a:p>
          <a:p>
            <a:pPr algn="l">
              <a:lnSpc>
                <a:spcPct val="108000"/>
              </a:lnSpc>
              <a:spcBef>
                <a:spcPts val="0"/>
              </a:spcBef>
              <a:spcAft>
                <a:spcPts val="0"/>
              </a:spcAft>
            </a:pPr>
            <a:r>
              <a:rPr sz="2000" b="0" i="0">
                <a:solidFill>
                  <a:srgbClr val="161412"/>
                </a:solidFill>
                <a:latin typeface="Arial"/>
                <a:ea typeface="Arial"/>
                <a:cs typeface="Arial"/>
              </a:rPr>
              <a:t>is supposed to stop.</a:t>
            </a:r>
          </a:p>
        </p:txBody>
      </p:sp>
      <p:sp>
        <p:nvSpPr>
          <p:cNvPr id="9" name="TextBox 8"/>
          <p:cNvSpPr txBox="1"/>
          <p:nvPr/>
        </p:nvSpPr>
        <p:spPr>
          <a:xfrm>
            <a:off x="6492240" y="2697480"/>
            <a:ext cx="4754880" cy="274320"/>
          </a:xfrm>
          <a:prstGeom prst="rect">
            <a:avLst/>
          </a:prstGeom>
          <a:noFill/>
        </p:spPr>
        <p:txBody>
          <a:bodyPr wrap="square" lIns="0" rIns="0" tIns="0" bIns="0" anchor="t"/>
          <a:lstStyle/>
          <a:p>
            <a:pPr algn="l">
              <a:lnSpc>
                <a:spcPct val="100000"/>
              </a:lnSpc>
              <a:spcBef>
                <a:spcPts val="0"/>
              </a:spcBef>
              <a:spcAft>
                <a:spcPts val="0"/>
              </a:spcAft>
            </a:pPr>
            <a:r>
              <a:rPr sz="1300" b="1" i="0" spc="120">
                <a:solidFill>
                  <a:srgbClr val="E39B12"/>
                </a:solidFill>
                <a:latin typeface="Arial"/>
                <a:ea typeface="Arial"/>
                <a:cs typeface="Arial"/>
              </a:rPr>
              <a:t>THE PHONE ON THE TABLE</a:t>
            </a:r>
          </a:p>
        </p:txBody>
      </p:sp>
      <p:sp>
        <p:nvSpPr>
          <p:cNvPr id="10" name="TextBox 9"/>
          <p:cNvSpPr txBox="1"/>
          <p:nvPr/>
        </p:nvSpPr>
        <p:spPr>
          <a:xfrm>
            <a:off x="6492240" y="3154680"/>
            <a:ext cx="4754880" cy="2377440"/>
          </a:xfrm>
          <a:prstGeom prst="rect">
            <a:avLst/>
          </a:prstGeom>
          <a:noFill/>
        </p:spPr>
        <p:txBody>
          <a:bodyPr wrap="square" lIns="0" rIns="0" tIns="0" bIns="0" anchor="t"/>
          <a:lstStyle/>
          <a:p>
            <a:pPr algn="l">
              <a:lnSpc>
                <a:spcPct val="108000"/>
              </a:lnSpc>
              <a:spcBef>
                <a:spcPts val="0"/>
              </a:spcBef>
              <a:spcAft>
                <a:spcPts val="0"/>
              </a:spcAft>
            </a:pPr>
            <a:r>
              <a:rPr sz="2000" b="0" i="0">
                <a:solidFill>
                  <a:srgbClr val="F6F1E8"/>
                </a:solidFill>
                <a:latin typeface="Arial"/>
                <a:ea typeface="Arial"/>
                <a:cs typeface="Arial"/>
              </a:rPr>
              <a:t>A voice memo has no light.</a:t>
            </a:r>
          </a:p>
          <a:p>
            <a:pPr algn="l">
              <a:lnSpc>
                <a:spcPct val="108000"/>
              </a:lnSpc>
              <a:spcBef>
                <a:spcPts val="0"/>
              </a:spcBef>
              <a:spcAft>
                <a:spcPts val="0"/>
              </a:spcAft>
            </a:pPr>
            <a:r>
              <a:rPr sz="2000" b="0" i="0">
                <a:solidFill>
                  <a:srgbClr val="F6F1E8"/>
                </a:solidFill>
                <a:latin typeface="Arial"/>
                <a:ea typeface="Arial"/>
                <a:cs typeface="Arial"/>
              </a:rPr>
              <a:t>Face down looks like manners.</a:t>
            </a:r>
          </a:p>
          <a:p>
            <a:pPr algn="l">
              <a:lnSpc>
                <a:spcPct val="108000"/>
              </a:lnSpc>
              <a:spcBef>
                <a:spcPts val="0"/>
              </a:spcBef>
              <a:spcAft>
                <a:spcPts val="0"/>
              </a:spcAft>
            </a:pPr>
            <a:r>
              <a:rPr sz="2000" b="0" i="0">
                <a:solidFill>
                  <a:srgbClr val="F6F1E8"/>
                </a:solidFill>
                <a:latin typeface="Arial"/>
                <a:ea typeface="Arial"/>
                <a:cs typeface="Arial"/>
              </a:rPr>
              <a:t>We told you not to touch it.</a:t>
            </a:r>
          </a:p>
          <a:p>
            <a:pPr algn="l">
              <a:lnSpc>
                <a:spcPct val="108000"/>
              </a:lnSpc>
              <a:spcBef>
                <a:spcPts val="0"/>
              </a:spcBef>
              <a:spcAft>
                <a:spcPts val="0"/>
              </a:spcAft>
            </a:pPr>
            <a:r>
              <a:rPr sz="2000" b="0" i="0">
                <a:solidFill>
                  <a:srgbClr val="F6F1E8"/>
                </a:solidFill>
                <a:latin typeface="Arial"/>
                <a:ea typeface="Arial"/>
                <a:cs typeface="Arial"/>
              </a:rPr>
              <a:t>You still would not have known.</a:t>
            </a:r>
          </a:p>
        </p:txBody>
      </p:sp>
      <p:sp>
        <p:nvSpPr>
          <p:cNvPr id="11" name="TextBox 10"/>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2" name="TextBox 11"/>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THE DEMO IS THE SPEC</a:t>
            </a:r>
          </a:p>
        </p:txBody>
      </p:sp>
      <p:sp>
        <p:nvSpPr>
          <p:cNvPr id="4" name="TextBox 3"/>
          <p:cNvSpPr txBox="1"/>
          <p:nvPr/>
        </p:nvSpPr>
        <p:spPr>
          <a:xfrm>
            <a:off x="685800" y="777240"/>
            <a:ext cx="10972800" cy="1280160"/>
          </a:xfrm>
          <a:prstGeom prst="rect">
            <a:avLst/>
          </a:prstGeom>
          <a:noFill/>
        </p:spPr>
        <p:txBody>
          <a:bodyPr wrap="square" lIns="0" rIns="0" tIns="0" bIns="0" anchor="t"/>
          <a:lstStyle/>
          <a:p>
            <a:pPr algn="l">
              <a:lnSpc>
                <a:spcPct val="98000"/>
              </a:lnSpc>
              <a:spcBef>
                <a:spcPts val="0"/>
              </a:spcBef>
              <a:spcAft>
                <a:spcPts val="0"/>
              </a:spcAft>
            </a:pPr>
            <a:r>
              <a:rPr sz="3600" b="1" i="0">
                <a:solidFill>
                  <a:srgbClr val="161412"/>
                </a:solidFill>
                <a:latin typeface="Arial"/>
                <a:ea typeface="Arial"/>
                <a:cs typeface="Arial"/>
              </a:rPr>
              <a:t>It has to work in the room</a:t>
            </a:r>
          </a:p>
          <a:p>
            <a:pPr algn="l">
              <a:lnSpc>
                <a:spcPct val="98000"/>
              </a:lnSpc>
              <a:spcBef>
                <a:spcPts val="0"/>
              </a:spcBef>
              <a:spcAft>
                <a:spcPts val="0"/>
              </a:spcAft>
            </a:pPr>
            <a:r>
              <a:rPr sz="3600" b="1" i="0">
                <a:solidFill>
                  <a:srgbClr val="161412"/>
                </a:solidFill>
                <a:latin typeface="Arial"/>
                <a:ea typeface="Arial"/>
                <a:cs typeface="Arial"/>
              </a:rPr>
              <a:t>we just made.</a:t>
            </a:r>
          </a:p>
        </p:txBody>
      </p:sp>
      <p:sp>
        <p:nvSpPr>
          <p:cNvPr id="5" name="Rounded Rectangle 4"/>
          <p:cNvSpPr/>
          <p:nvPr/>
        </p:nvSpPr>
        <p:spPr>
          <a:xfrm>
            <a:off x="685800" y="3246120"/>
            <a:ext cx="269748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0392" y="3401568"/>
            <a:ext cx="2286000" cy="27432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8A5200"/>
                </a:solidFill>
                <a:latin typeface="Arial"/>
                <a:ea typeface="Arial"/>
                <a:cs typeface="Arial"/>
              </a:rPr>
              <a:t>01</a:t>
            </a:r>
          </a:p>
        </p:txBody>
      </p:sp>
      <p:sp>
        <p:nvSpPr>
          <p:cNvPr id="7" name="TextBox 6"/>
          <p:cNvSpPr txBox="1"/>
          <p:nvPr/>
        </p:nvSpPr>
        <p:spPr>
          <a:xfrm>
            <a:off x="850392" y="3749039"/>
            <a:ext cx="2377440" cy="64008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Phone down</a:t>
            </a:r>
          </a:p>
        </p:txBody>
      </p:sp>
      <p:sp>
        <p:nvSpPr>
          <p:cNvPr id="8" name="TextBox 7"/>
          <p:cNvSpPr txBox="1"/>
          <p:nvPr/>
        </p:nvSpPr>
        <p:spPr>
          <a:xfrm>
            <a:off x="850392" y="4434840"/>
            <a:ext cx="2377440" cy="11887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You are not looking at a screen, because the conversation got real.</a:t>
            </a:r>
          </a:p>
        </p:txBody>
      </p:sp>
      <p:sp>
        <p:nvSpPr>
          <p:cNvPr id="9" name="Rounded Rectangle 8"/>
          <p:cNvSpPr/>
          <p:nvPr/>
        </p:nvSpPr>
        <p:spPr>
          <a:xfrm>
            <a:off x="3520440" y="3246120"/>
            <a:ext cx="269748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85032" y="3401568"/>
            <a:ext cx="2286000" cy="27432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8A5200"/>
                </a:solidFill>
                <a:latin typeface="Arial"/>
                <a:ea typeface="Arial"/>
                <a:cs typeface="Arial"/>
              </a:rPr>
              <a:t>02</a:t>
            </a:r>
          </a:p>
        </p:txBody>
      </p:sp>
      <p:sp>
        <p:nvSpPr>
          <p:cNvPr id="11" name="TextBox 10"/>
          <p:cNvSpPr txBox="1"/>
          <p:nvPr/>
        </p:nvSpPr>
        <p:spPr>
          <a:xfrm>
            <a:off x="3685032" y="3749039"/>
            <a:ext cx="2377440" cy="64008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Acting normal</a:t>
            </a:r>
          </a:p>
        </p:txBody>
      </p:sp>
      <p:sp>
        <p:nvSpPr>
          <p:cNvPr id="12" name="TextBox 11"/>
          <p:cNvSpPr txBox="1"/>
          <p:nvPr/>
        </p:nvSpPr>
        <p:spPr>
          <a:xfrm>
            <a:off x="3685032" y="4434840"/>
            <a:ext cx="2377440" cy="11887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No scanning people's faces or temples for a tiny light.</a:t>
            </a:r>
          </a:p>
        </p:txBody>
      </p:sp>
      <p:sp>
        <p:nvSpPr>
          <p:cNvPr id="13" name="Rounded Rectangle 12"/>
          <p:cNvSpPr/>
          <p:nvPr/>
        </p:nvSpPr>
        <p:spPr>
          <a:xfrm>
            <a:off x="6355080" y="3246120"/>
            <a:ext cx="269748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3401568"/>
            <a:ext cx="2286000" cy="27432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8A5200"/>
                </a:solidFill>
                <a:latin typeface="Arial"/>
                <a:ea typeface="Arial"/>
                <a:cs typeface="Arial"/>
              </a:rPr>
              <a:t>03</a:t>
            </a:r>
          </a:p>
        </p:txBody>
      </p:sp>
      <p:sp>
        <p:nvSpPr>
          <p:cNvPr id="15" name="TextBox 14"/>
          <p:cNvSpPr txBox="1"/>
          <p:nvPr/>
        </p:nvSpPr>
        <p:spPr>
          <a:xfrm>
            <a:off x="6519672" y="3749039"/>
            <a:ext cx="2377440" cy="64008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During, not after</a:t>
            </a:r>
          </a:p>
        </p:txBody>
      </p:sp>
      <p:sp>
        <p:nvSpPr>
          <p:cNvPr id="16" name="TextBox 15"/>
          <p:cNvSpPr txBox="1"/>
          <p:nvPr/>
        </p:nvSpPr>
        <p:spPr>
          <a:xfrm>
            <a:off x="6519672" y="4434840"/>
            <a:ext cx="2377440" cy="11887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The signal arrives while you can still choose what to say.</a:t>
            </a:r>
          </a:p>
        </p:txBody>
      </p:sp>
      <p:sp>
        <p:nvSpPr>
          <p:cNvPr id="17" name="Rounded Rectangle 16"/>
          <p:cNvSpPr/>
          <p:nvPr/>
        </p:nvSpPr>
        <p:spPr>
          <a:xfrm>
            <a:off x="9189720" y="3246120"/>
            <a:ext cx="2697480" cy="26060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54312" y="3401568"/>
            <a:ext cx="2286000" cy="27432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8A5200"/>
                </a:solidFill>
                <a:latin typeface="Arial"/>
                <a:ea typeface="Arial"/>
                <a:cs typeface="Arial"/>
              </a:rPr>
              <a:t>04</a:t>
            </a:r>
          </a:p>
        </p:txBody>
      </p:sp>
      <p:sp>
        <p:nvSpPr>
          <p:cNvPr id="19" name="TextBox 18"/>
          <p:cNvSpPr txBox="1"/>
          <p:nvPr/>
        </p:nvSpPr>
        <p:spPr>
          <a:xfrm>
            <a:off x="9354312" y="3749039"/>
            <a:ext cx="2377440" cy="64008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You decide</a:t>
            </a:r>
          </a:p>
        </p:txBody>
      </p:sp>
      <p:sp>
        <p:nvSpPr>
          <p:cNvPr id="20" name="TextBox 19"/>
          <p:cNvSpPr txBox="1"/>
          <p:nvPr/>
        </p:nvSpPr>
        <p:spPr>
          <a:xfrm>
            <a:off x="9354312" y="4434840"/>
            <a:ext cx="2377440" cy="11887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Ask, move, or keep talking. The object does not accuse anyone.</a:t>
            </a:r>
          </a:p>
        </p:txBody>
      </p:sp>
      <p:sp>
        <p:nvSpPr>
          <p:cNvPr id="21" name="TextBox 20"/>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22" name="TextBox 21"/>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THE OBJECT</a:t>
            </a:r>
          </a:p>
        </p:txBody>
      </p:sp>
      <p:sp>
        <p:nvSpPr>
          <p:cNvPr id="4" name="TextBox 3"/>
          <p:cNvSpPr txBox="1"/>
          <p:nvPr/>
        </p:nvSpPr>
        <p:spPr>
          <a:xfrm>
            <a:off x="685800" y="822960"/>
            <a:ext cx="6583680" cy="2286000"/>
          </a:xfrm>
          <a:prstGeom prst="rect">
            <a:avLst/>
          </a:prstGeom>
          <a:noFill/>
        </p:spPr>
        <p:txBody>
          <a:bodyPr wrap="square" lIns="0" rIns="0" tIns="0" bIns="0" anchor="t"/>
          <a:lstStyle/>
          <a:p>
            <a:pPr algn="l">
              <a:lnSpc>
                <a:spcPct val="95000"/>
              </a:lnSpc>
              <a:spcBef>
                <a:spcPts val="0"/>
              </a:spcBef>
              <a:spcAft>
                <a:spcPts val="0"/>
              </a:spcAft>
            </a:pPr>
            <a:r>
              <a:rPr sz="4400" b="1" i="0">
                <a:solidFill>
                  <a:srgbClr val="161412"/>
                </a:solidFill>
                <a:latin typeface="Arial"/>
                <a:ea typeface="Arial"/>
                <a:cs typeface="Arial"/>
              </a:rPr>
              <a:t>One light.</a:t>
            </a:r>
          </a:p>
          <a:p>
            <a:pPr algn="l">
              <a:lnSpc>
                <a:spcPct val="95000"/>
              </a:lnSpc>
              <a:spcBef>
                <a:spcPts val="0"/>
              </a:spcBef>
              <a:spcAft>
                <a:spcPts val="0"/>
              </a:spcAft>
            </a:pPr>
            <a:r>
              <a:rPr sz="4400" b="1" i="0">
                <a:solidFill>
                  <a:srgbClr val="161412"/>
                </a:solidFill>
                <a:latin typeface="Arial"/>
                <a:ea typeface="Arial"/>
                <a:cs typeface="Arial"/>
              </a:rPr>
              <a:t>One buzz.</a:t>
            </a:r>
          </a:p>
          <a:p>
            <a:pPr algn="l">
              <a:lnSpc>
                <a:spcPct val="95000"/>
              </a:lnSpc>
              <a:spcBef>
                <a:spcPts val="0"/>
              </a:spcBef>
              <a:spcAft>
                <a:spcPts val="0"/>
              </a:spcAft>
            </a:pPr>
            <a:r>
              <a:rPr sz="4400" b="1" i="0">
                <a:solidFill>
                  <a:srgbClr val="161412"/>
                </a:solidFill>
                <a:latin typeface="Arial"/>
                <a:ea typeface="Arial"/>
                <a:cs typeface="Arial"/>
              </a:rPr>
              <a:t>One button.</a:t>
            </a:r>
          </a:p>
        </p:txBody>
      </p:sp>
      <p:sp>
        <p:nvSpPr>
          <p:cNvPr id="5" name="TextBox 4"/>
          <p:cNvSpPr txBox="1"/>
          <p:nvPr/>
        </p:nvSpPr>
        <p:spPr>
          <a:xfrm>
            <a:off x="713232" y="3383280"/>
            <a:ext cx="6675120" cy="1280160"/>
          </a:xfrm>
          <a:prstGeom prst="rect">
            <a:avLst/>
          </a:prstGeom>
          <a:noFill/>
        </p:spPr>
        <p:txBody>
          <a:bodyPr wrap="square" lIns="0" rIns="0" tIns="0" bIns="0" anchor="t"/>
          <a:lstStyle/>
          <a:p>
            <a:pPr algn="l">
              <a:lnSpc>
                <a:spcPct val="112000"/>
              </a:lnSpc>
              <a:spcBef>
                <a:spcPts val="0"/>
              </a:spcBef>
              <a:spcAft>
                <a:spcPts val="0"/>
              </a:spcAft>
            </a:pPr>
            <a:r>
              <a:rPr sz="2000" b="0" i="0">
                <a:solidFill>
                  <a:srgbClr val="161412"/>
                </a:solidFill>
                <a:latin typeface="Arial"/>
                <a:ea typeface="Arial"/>
                <a:cs typeface="Arial"/>
              </a:rPr>
              <a:t>About the size of a car key.</a:t>
            </a:r>
          </a:p>
          <a:p>
            <a:pPr algn="l">
              <a:lnSpc>
                <a:spcPct val="112000"/>
              </a:lnSpc>
              <a:spcBef>
                <a:spcPts val="0"/>
              </a:spcBef>
              <a:spcAft>
                <a:spcPts val="0"/>
              </a:spcAft>
            </a:pPr>
            <a:r>
              <a:rPr sz="2000" b="0" i="0">
                <a:solidFill>
                  <a:srgbClr val="161412"/>
                </a:solidFill>
                <a:latin typeface="Arial"/>
                <a:ea typeface="Arial"/>
                <a:cs typeface="Arial"/>
              </a:rPr>
              <a:t>On the keys you already drop on the table.</a:t>
            </a:r>
          </a:p>
          <a:p>
            <a:pPr algn="l">
              <a:lnSpc>
                <a:spcPct val="112000"/>
              </a:lnSpc>
              <a:spcBef>
                <a:spcPts val="0"/>
              </a:spcBef>
              <a:spcAft>
                <a:spcPts val="0"/>
              </a:spcAft>
            </a:pPr>
            <a:r>
              <a:rPr sz="2000" b="0" i="0">
                <a:solidFill>
                  <a:srgbClr val="161412"/>
                </a:solidFill>
                <a:latin typeface="Arial"/>
                <a:ea typeface="Arial"/>
                <a:cs typeface="Arial"/>
              </a:rPr>
              <a:t>Quiet almost all the time. That is the design.</a:t>
            </a:r>
          </a:p>
        </p:txBody>
      </p:sp>
      <p:sp>
        <p:nvSpPr>
          <p:cNvPr id="6" name="Rounded Rectangle 5"/>
          <p:cNvSpPr/>
          <p:nvPr/>
        </p:nvSpPr>
        <p:spPr>
          <a:xfrm>
            <a:off x="713232" y="4846320"/>
            <a:ext cx="6766560" cy="1234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5010912"/>
            <a:ext cx="2743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PRESS ONCE</a:t>
            </a:r>
          </a:p>
        </p:txBody>
      </p:sp>
      <p:sp>
        <p:nvSpPr>
          <p:cNvPr id="8" name="TextBox 7"/>
          <p:cNvSpPr txBox="1"/>
          <p:nvPr/>
        </p:nvSpPr>
        <p:spPr>
          <a:xfrm>
            <a:off x="932688" y="5303520"/>
            <a:ext cx="3017520" cy="64008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161412"/>
                </a:solidFill>
                <a:latin typeface="Arial"/>
                <a:ea typeface="Arial"/>
                <a:cs typeface="Arial"/>
              </a:rPr>
              <a:t>Snooze a lecture that's</a:t>
            </a:r>
          </a:p>
          <a:p>
            <a:pPr algn="l">
              <a:lnSpc>
                <a:spcPct val="105000"/>
              </a:lnSpc>
              <a:spcBef>
                <a:spcPts val="0"/>
              </a:spcBef>
              <a:spcAft>
                <a:spcPts val="0"/>
              </a:spcAft>
            </a:pPr>
            <a:r>
              <a:rPr sz="1400" b="0" i="0">
                <a:solidFill>
                  <a:srgbClr val="161412"/>
                </a:solidFill>
                <a:latin typeface="Arial"/>
                <a:ea typeface="Arial"/>
                <a:cs typeface="Arial"/>
              </a:rPr>
              <a:t>being recorded on purpose.</a:t>
            </a:r>
          </a:p>
        </p:txBody>
      </p:sp>
      <p:sp>
        <p:nvSpPr>
          <p:cNvPr id="9" name="TextBox 8"/>
          <p:cNvSpPr txBox="1"/>
          <p:nvPr/>
        </p:nvSpPr>
        <p:spPr>
          <a:xfrm>
            <a:off x="4114800" y="5010912"/>
            <a:ext cx="301752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PRESS TWICE</a:t>
            </a:r>
          </a:p>
        </p:txBody>
      </p:sp>
      <p:sp>
        <p:nvSpPr>
          <p:cNvPr id="10" name="TextBox 9"/>
          <p:cNvSpPr txBox="1"/>
          <p:nvPr/>
        </p:nvSpPr>
        <p:spPr>
          <a:xfrm>
            <a:off x="4114800" y="5303520"/>
            <a:ext cx="3108960" cy="64008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161412"/>
                </a:solidFill>
                <a:latin typeface="Arial"/>
                <a:ea typeface="Arial"/>
                <a:cs typeface="Arial"/>
              </a:rPr>
              <a:t>Say "I'm live" when your</a:t>
            </a:r>
          </a:p>
          <a:p>
            <a:pPr algn="l">
              <a:lnSpc>
                <a:spcPct val="105000"/>
              </a:lnSpc>
              <a:spcBef>
                <a:spcPts val="0"/>
              </a:spcBef>
              <a:spcAft>
                <a:spcPts val="0"/>
              </a:spcAft>
            </a:pPr>
            <a:r>
              <a:rPr sz="1400" b="0" i="0">
                <a:solidFill>
                  <a:srgbClr val="161412"/>
                </a:solidFill>
                <a:latin typeface="Arial"/>
                <a:ea typeface="Arial"/>
                <a:cs typeface="Arial"/>
              </a:rPr>
              <a:t>phone can't say it for you.</a:t>
            </a:r>
          </a:p>
        </p:txBody>
      </p:sp>
      <p:sp>
        <p:nvSpPr>
          <p:cNvPr id="11" name="Oval 10"/>
          <p:cNvSpPr/>
          <p:nvPr/>
        </p:nvSpPr>
        <p:spPr>
          <a:xfrm>
            <a:off x="9549993" y="1234440"/>
            <a:ext cx="1261872" cy="126187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13340" y="1497787"/>
            <a:ext cx="735177" cy="735177"/>
          </a:xfrm>
          <a:prstGeom prst="ellipse">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988905" y="2353665"/>
            <a:ext cx="395020" cy="307238"/>
          </a:xfrm>
          <a:prstGeom prst="roundRect">
            <a:avLst>
              <a:gd name="adj" fmla="val 40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330537" y="2573121"/>
            <a:ext cx="1700784" cy="2249423"/>
          </a:xfrm>
          <a:prstGeom prst="roundRect">
            <a:avLst>
              <a:gd name="adj" fmla="val 18000"/>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25558" y="3012033"/>
            <a:ext cx="921715" cy="921715"/>
          </a:xfrm>
          <a:prstGeom prst="ellipse">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988905" y="3275380"/>
            <a:ext cx="395020" cy="395020"/>
          </a:xfrm>
          <a:prstGeom prst="ellipse">
            <a:avLst/>
          </a:prstGeom>
          <a:solidFill>
            <a:srgbClr val="FFE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30537" y="4065422"/>
            <a:ext cx="1700784" cy="351129"/>
          </a:xfrm>
          <a:prstGeom prst="rect">
            <a:avLst/>
          </a:prstGeom>
          <a:noFill/>
        </p:spPr>
        <p:txBody>
          <a:bodyPr wrap="square" lIns="0" rIns="0" tIns="0" bIns="0" anchor="t"/>
          <a:lstStyle/>
          <a:p>
            <a:pPr algn="ctr">
              <a:lnSpc>
                <a:spcPct val="100000"/>
              </a:lnSpc>
              <a:spcBef>
                <a:spcPts val="0"/>
              </a:spcBef>
              <a:spcAft>
                <a:spcPts val="0"/>
              </a:spcAft>
            </a:pPr>
            <a:r>
              <a:rPr sz="1400" b="1" i="0" spc="160">
                <a:solidFill>
                  <a:srgbClr val="F6F1E8"/>
                </a:solidFill>
                <a:latin typeface="Arial"/>
                <a:ea typeface="Arial"/>
                <a:cs typeface="Arial"/>
              </a:rPr>
              <a:t>HALO</a:t>
            </a:r>
          </a:p>
        </p:txBody>
      </p:sp>
      <p:sp>
        <p:nvSpPr>
          <p:cNvPr id="18" name="TextBox 17"/>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9" name="TextBox 1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WHY THIS, AND NOT AN APP</a:t>
            </a:r>
          </a:p>
        </p:txBody>
      </p:sp>
      <p:sp>
        <p:nvSpPr>
          <p:cNvPr id="4" name="TextBox 3"/>
          <p:cNvSpPr txBox="1"/>
          <p:nvPr/>
        </p:nvSpPr>
        <p:spPr>
          <a:xfrm>
            <a:off x="685800" y="749808"/>
            <a:ext cx="10972800" cy="132588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The useful object was</a:t>
            </a:r>
          </a:p>
          <a:p>
            <a:pPr algn="l">
              <a:lnSpc>
                <a:spcPct val="96000"/>
              </a:lnSpc>
              <a:spcBef>
                <a:spcPts val="0"/>
              </a:spcBef>
              <a:spcAft>
                <a:spcPts val="0"/>
              </a:spcAft>
            </a:pPr>
            <a:r>
              <a:rPr sz="3600" b="1" i="0">
                <a:solidFill>
                  <a:srgbClr val="161412"/>
                </a:solidFill>
                <a:latin typeface="Arial"/>
                <a:ea typeface="Arial"/>
                <a:cs typeface="Arial"/>
              </a:rPr>
              <a:t>the one on the table.</a:t>
            </a:r>
          </a:p>
        </p:txBody>
      </p:sp>
      <p:sp>
        <p:nvSpPr>
          <p:cNvPr id="5" name="TextBox 4"/>
          <p:cNvSpPr txBox="1"/>
          <p:nvPr/>
        </p:nvSpPr>
        <p:spPr>
          <a:xfrm>
            <a:off x="731520" y="2377440"/>
            <a:ext cx="7315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01</a:t>
            </a:r>
          </a:p>
        </p:txBody>
      </p:sp>
      <p:sp>
        <p:nvSpPr>
          <p:cNvPr id="6" name="TextBox 5"/>
          <p:cNvSpPr txBox="1"/>
          <p:nvPr/>
        </p:nvSpPr>
        <p:spPr>
          <a:xfrm>
            <a:off x="1645920" y="2359152"/>
            <a:ext cx="8686800" cy="347472"/>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phone</a:t>
            </a:r>
          </a:p>
        </p:txBody>
      </p:sp>
      <p:sp>
        <p:nvSpPr>
          <p:cNvPr id="7" name="TextBox 6"/>
          <p:cNvSpPr txBox="1"/>
          <p:nvPr/>
        </p:nvSpPr>
        <p:spPr>
          <a:xfrm>
            <a:off x="1645920" y="2761488"/>
            <a:ext cx="9326880" cy="6400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Right object, wrong moment. It was face up and still useless, because looking at it meant leaving the conversation.</a:t>
            </a:r>
          </a:p>
        </p:txBody>
      </p:sp>
      <p:sp>
        <p:nvSpPr>
          <p:cNvPr id="8" name="TextBox 7"/>
          <p:cNvSpPr txBox="1"/>
          <p:nvPr/>
        </p:nvSpPr>
        <p:spPr>
          <a:xfrm>
            <a:off x="731520" y="3611880"/>
            <a:ext cx="7315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02</a:t>
            </a:r>
          </a:p>
        </p:txBody>
      </p:sp>
      <p:sp>
        <p:nvSpPr>
          <p:cNvPr id="9" name="TextBox 8"/>
          <p:cNvSpPr txBox="1"/>
          <p:nvPr/>
        </p:nvSpPr>
        <p:spPr>
          <a:xfrm>
            <a:off x="1645920" y="3593592"/>
            <a:ext cx="8686800" cy="347472"/>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LED on the frame</a:t>
            </a:r>
          </a:p>
        </p:txBody>
      </p:sp>
      <p:sp>
        <p:nvSpPr>
          <p:cNvPr id="10" name="TextBox 9"/>
          <p:cNvSpPr txBox="1"/>
          <p:nvPr/>
        </p:nvSpPr>
        <p:spPr>
          <a:xfrm>
            <a:off x="1645920" y="3995928"/>
            <a:ext cx="9326880" cy="6400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Right idea, wrong direction. It tells the room only if the room is looking at the wearer.</a:t>
            </a:r>
          </a:p>
        </p:txBody>
      </p:sp>
      <p:sp>
        <p:nvSpPr>
          <p:cNvPr id="11" name="TextBox 10"/>
          <p:cNvSpPr txBox="1"/>
          <p:nvPr/>
        </p:nvSpPr>
        <p:spPr>
          <a:xfrm>
            <a:off x="731520" y="4846320"/>
            <a:ext cx="73152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03</a:t>
            </a:r>
          </a:p>
        </p:txBody>
      </p:sp>
      <p:sp>
        <p:nvSpPr>
          <p:cNvPr id="12" name="TextBox 11"/>
          <p:cNvSpPr txBox="1"/>
          <p:nvPr/>
        </p:nvSpPr>
        <p:spPr>
          <a:xfrm>
            <a:off x="1645920" y="4828032"/>
            <a:ext cx="8686800" cy="347472"/>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keychain</a:t>
            </a:r>
          </a:p>
        </p:txBody>
      </p:sp>
      <p:sp>
        <p:nvSpPr>
          <p:cNvPr id="13" name="TextBox 12"/>
          <p:cNvSpPr txBox="1"/>
          <p:nvPr/>
        </p:nvSpPr>
        <p:spPr>
          <a:xfrm>
            <a:off x="1645920" y="5230368"/>
            <a:ext cx="9326880" cy="64008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Already out. Already yours. The signal arrives on your body, which is the one place you are not too busy to notice.</a:t>
            </a:r>
          </a:p>
        </p:txBody>
      </p:sp>
      <p:sp>
        <p:nvSpPr>
          <p:cNvPr id="14" name="TextBox 13"/>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5" name="TextBox 14"/>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29184"/>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HOW IT KNOWS</a:t>
            </a:r>
          </a:p>
        </p:txBody>
      </p:sp>
      <p:sp>
        <p:nvSpPr>
          <p:cNvPr id="4" name="TextBox 3"/>
          <p:cNvSpPr txBox="1"/>
          <p:nvPr/>
        </p:nvSpPr>
        <p:spPr>
          <a:xfrm>
            <a:off x="685800" y="685800"/>
            <a:ext cx="109728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One promise. Two maybes.</a:t>
            </a:r>
          </a:p>
        </p:txBody>
      </p:sp>
      <p:sp>
        <p:nvSpPr>
          <p:cNvPr id="5" name="Rounded Rectangle 4"/>
          <p:cNvSpPr/>
          <p:nvPr/>
        </p:nvSpPr>
        <p:spPr>
          <a:xfrm>
            <a:off x="685800" y="1600200"/>
            <a:ext cx="3566160" cy="36576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10512"/>
            <a:ext cx="3108960" cy="45720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8A5200"/>
                </a:solidFill>
                <a:latin typeface="Arial"/>
                <a:ea typeface="Arial"/>
                <a:cs typeface="Arial"/>
              </a:rPr>
              <a:t>BUILD THIS</a:t>
            </a:r>
          </a:p>
        </p:txBody>
      </p:sp>
      <p:sp>
        <p:nvSpPr>
          <p:cNvPr id="7" name="TextBox 6"/>
          <p:cNvSpPr txBox="1"/>
          <p:nvPr/>
        </p:nvSpPr>
        <p:spPr>
          <a:xfrm>
            <a:off x="914400" y="2331720"/>
            <a:ext cx="3108960" cy="50292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I'm live</a:t>
            </a:r>
          </a:p>
        </p:txBody>
      </p:sp>
      <p:sp>
        <p:nvSpPr>
          <p:cNvPr id="8" name="TextBox 7"/>
          <p:cNvSpPr txBox="1"/>
          <p:nvPr/>
        </p:nvSpPr>
        <p:spPr>
          <a:xfrm>
            <a:off x="914400" y="3017520"/>
            <a:ext cx="3108960" cy="192024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Capture turns on a short-range Bluetooth beacon. A few meters. A flag, not a recording. Halo lights.</a:t>
            </a:r>
          </a:p>
        </p:txBody>
      </p:sp>
      <p:sp>
        <p:nvSpPr>
          <p:cNvPr id="9" name="Rounded Rectangle 8"/>
          <p:cNvSpPr/>
          <p:nvPr/>
        </p:nvSpPr>
        <p:spPr>
          <a:xfrm>
            <a:off x="4434840" y="1600200"/>
            <a:ext cx="3566160" cy="36576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810512"/>
            <a:ext cx="3108960" cy="45720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C4492C"/>
                </a:solidFill>
                <a:latin typeface="Arial"/>
                <a:ea typeface="Arial"/>
                <a:cs typeface="Arial"/>
              </a:rPr>
              <a:t>TEST, DON'T PROMISE</a:t>
            </a:r>
          </a:p>
        </p:txBody>
      </p:sp>
      <p:sp>
        <p:nvSpPr>
          <p:cNvPr id="11" name="TextBox 10"/>
          <p:cNvSpPr txBox="1"/>
          <p:nvPr/>
        </p:nvSpPr>
        <p:spPr>
          <a:xfrm>
            <a:off x="4663440" y="2331720"/>
            <a:ext cx="3108960" cy="50292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Glint</a:t>
            </a:r>
          </a:p>
        </p:txBody>
      </p:sp>
      <p:sp>
        <p:nvSpPr>
          <p:cNvPr id="12" name="TextBox 11"/>
          <p:cNvSpPr txBox="1"/>
          <p:nvPr/>
        </p:nvSpPr>
        <p:spPr>
          <a:xfrm>
            <a:off x="4663440" y="3017520"/>
            <a:ext cx="3108960" cy="192024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A faint infrared blink looks for a lens at desk range. Ordinary glasses can fool it. A prototype question, not the pitch.</a:t>
            </a:r>
          </a:p>
        </p:txBody>
      </p:sp>
      <p:sp>
        <p:nvSpPr>
          <p:cNvPr id="13" name="Rounded Rectangle 12"/>
          <p:cNvSpPr/>
          <p:nvPr/>
        </p:nvSpPr>
        <p:spPr>
          <a:xfrm>
            <a:off x="8183879" y="1600200"/>
            <a:ext cx="3566160" cy="365760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810512"/>
            <a:ext cx="3108960" cy="457200"/>
          </a:xfrm>
          <a:prstGeom prst="rect">
            <a:avLst/>
          </a:prstGeom>
          <a:noFill/>
        </p:spPr>
        <p:txBody>
          <a:bodyPr wrap="square" lIns="0" rIns="0" tIns="0" bIns="0" anchor="t"/>
          <a:lstStyle/>
          <a:p>
            <a:pPr algn="l">
              <a:lnSpc>
                <a:spcPct val="100000"/>
              </a:lnSpc>
              <a:spcBef>
                <a:spcPts val="0"/>
              </a:spcBef>
              <a:spcAft>
                <a:spcPts val="0"/>
              </a:spcAft>
            </a:pPr>
            <a:r>
              <a:rPr sz="1300" b="1" i="0" spc="80">
                <a:solidFill>
                  <a:srgbClr val="6F685E"/>
                </a:solidFill>
                <a:latin typeface="Arial"/>
                <a:ea typeface="Arial"/>
                <a:cs typeface="Arial"/>
              </a:rPr>
              <a:t>IF THE PHONE CAN'T</a:t>
            </a:r>
          </a:p>
        </p:txBody>
      </p:sp>
      <p:sp>
        <p:nvSpPr>
          <p:cNvPr id="15" name="TextBox 14"/>
          <p:cNvSpPr txBox="1"/>
          <p:nvPr/>
        </p:nvSpPr>
        <p:spPr>
          <a:xfrm>
            <a:off x="8412480" y="2331720"/>
            <a:ext cx="3108960" cy="50292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The button</a:t>
            </a:r>
          </a:p>
        </p:txBody>
      </p:sp>
      <p:sp>
        <p:nvSpPr>
          <p:cNvPr id="16" name="TextBox 15"/>
          <p:cNvSpPr txBox="1"/>
          <p:nvPr/>
        </p:nvSpPr>
        <p:spPr>
          <a:xfrm>
            <a:off x="8412480" y="3017520"/>
            <a:ext cx="3108960" cy="192024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Double-press means the wearer admits it. Nearby Halos light for that stretch, then go dark.</a:t>
            </a:r>
          </a:p>
        </p:txBody>
      </p:sp>
      <p:sp>
        <p:nvSpPr>
          <p:cNvPr id="17" name="TextBox 16"/>
          <p:cNvSpPr txBox="1"/>
          <p:nvPr/>
        </p:nvSpPr>
        <p:spPr>
          <a:xfrm>
            <a:off x="713232" y="5486400"/>
            <a:ext cx="105156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A silent mic in a pocket is a miss. We will say that before anyone else does.</a:t>
            </a:r>
          </a:p>
        </p:txBody>
      </p:sp>
      <p:sp>
        <p:nvSpPr>
          <p:cNvPr id="18" name="TextBox 17"/>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9" name="TextBox 1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WHAT IT REFUSES TO DO</a:t>
            </a:r>
          </a:p>
        </p:txBody>
      </p:sp>
      <p:sp>
        <p:nvSpPr>
          <p:cNvPr id="4" name="TextBox 3"/>
          <p:cNvSpPr txBox="1"/>
          <p:nvPr/>
        </p:nvSpPr>
        <p:spPr>
          <a:xfrm>
            <a:off x="685800" y="777240"/>
            <a:ext cx="10972800" cy="640080"/>
          </a:xfrm>
          <a:prstGeom prst="rect">
            <a:avLst/>
          </a:prstGeom>
          <a:noFill/>
        </p:spPr>
        <p:txBody>
          <a:bodyPr wrap="square" lIns="0" rIns="0" tIns="0" bIns="0" anchor="t"/>
          <a:lstStyle/>
          <a:p>
            <a:pPr algn="l">
              <a:lnSpc>
                <a:spcPct val="100000"/>
              </a:lnSpc>
              <a:spcBef>
                <a:spcPts val="0"/>
              </a:spcBef>
              <a:spcAft>
                <a:spcPts val="0"/>
              </a:spcAft>
            </a:pPr>
            <a:r>
              <a:rPr sz="3600" b="1" i="0">
                <a:solidFill>
                  <a:srgbClr val="161412"/>
                </a:solidFill>
                <a:latin typeface="Arial"/>
                <a:ea typeface="Arial"/>
                <a:cs typeface="Arial"/>
              </a:rPr>
              <a:t>A warning, not a verdict.</a:t>
            </a:r>
          </a:p>
        </p:txBody>
      </p:sp>
      <p:sp>
        <p:nvSpPr>
          <p:cNvPr id="5" name="TextBox 4"/>
          <p:cNvSpPr txBox="1"/>
          <p:nvPr/>
        </p:nvSpPr>
        <p:spPr>
          <a:xfrm>
            <a:off x="731520" y="1737360"/>
            <a:ext cx="310896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recording</a:t>
            </a:r>
          </a:p>
        </p:txBody>
      </p:sp>
      <p:sp>
        <p:nvSpPr>
          <p:cNvPr id="6" name="TextBox 5"/>
          <p:cNvSpPr txBox="1"/>
          <p:nvPr/>
        </p:nvSpPr>
        <p:spPr>
          <a:xfrm>
            <a:off x="4023360" y="1755648"/>
            <a:ext cx="7315200" cy="64008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Halo does not store audio, video, or a transcript of the room.</a:t>
            </a:r>
          </a:p>
        </p:txBody>
      </p:sp>
      <p:sp>
        <p:nvSpPr>
          <p:cNvPr id="7" name="TextBox 6"/>
          <p:cNvSpPr txBox="1"/>
          <p:nvPr/>
        </p:nvSpPr>
        <p:spPr>
          <a:xfrm>
            <a:off x="731520" y="2788920"/>
            <a:ext cx="310896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names</a:t>
            </a:r>
          </a:p>
        </p:txBody>
      </p:sp>
      <p:sp>
        <p:nvSpPr>
          <p:cNvPr id="8" name="TextBox 7"/>
          <p:cNvSpPr txBox="1"/>
          <p:nvPr/>
        </p:nvSpPr>
        <p:spPr>
          <a:xfrm>
            <a:off x="4023360" y="2807208"/>
            <a:ext cx="7315200" cy="64008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The light means nearby and right now. It does not mean who.</a:t>
            </a:r>
          </a:p>
        </p:txBody>
      </p:sp>
      <p:sp>
        <p:nvSpPr>
          <p:cNvPr id="9" name="TextBox 8"/>
          <p:cNvSpPr txBox="1"/>
          <p:nvPr/>
        </p:nvSpPr>
        <p:spPr>
          <a:xfrm>
            <a:off x="731520" y="3840479"/>
            <a:ext cx="310896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bypass</a:t>
            </a:r>
          </a:p>
        </p:txBody>
      </p:sp>
      <p:sp>
        <p:nvSpPr>
          <p:cNvPr id="10" name="TextBox 9"/>
          <p:cNvSpPr txBox="1"/>
          <p:nvPr/>
        </p:nvSpPr>
        <p:spPr>
          <a:xfrm>
            <a:off x="4023360" y="3858767"/>
            <a:ext cx="7315200" cy="64008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It does not cover, disable, or work around a capture LED.</a:t>
            </a:r>
          </a:p>
        </p:txBody>
      </p:sp>
      <p:sp>
        <p:nvSpPr>
          <p:cNvPr id="11" name="TextBox 10"/>
          <p:cNvSpPr txBox="1"/>
          <p:nvPr/>
        </p:nvSpPr>
        <p:spPr>
          <a:xfrm>
            <a:off x="731520" y="4892040"/>
            <a:ext cx="310896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 proof</a:t>
            </a:r>
          </a:p>
        </p:txBody>
      </p:sp>
      <p:sp>
        <p:nvSpPr>
          <p:cNvPr id="12" name="TextBox 11"/>
          <p:cNvSpPr txBox="1"/>
          <p:nvPr/>
        </p:nvSpPr>
        <p:spPr>
          <a:xfrm>
            <a:off x="4023360" y="4910327"/>
            <a:ext cx="7315200" cy="64008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Dark does not mean safe. It means no willing signal, and no glint.</a:t>
            </a:r>
          </a:p>
        </p:txBody>
      </p:sp>
      <p:sp>
        <p:nvSpPr>
          <p:cNvPr id="13" name="TextBox 12"/>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FOR THE PEOPLE WEARING THEM</a:t>
            </a:r>
          </a:p>
        </p:txBody>
      </p:sp>
      <p:sp>
        <p:nvSpPr>
          <p:cNvPr id="4" name="TextBox 3"/>
          <p:cNvSpPr txBox="1"/>
          <p:nvPr/>
        </p:nvSpPr>
        <p:spPr>
          <a:xfrm>
            <a:off x="685800" y="749808"/>
            <a:ext cx="10972800" cy="1371600"/>
          </a:xfrm>
          <a:prstGeom prst="rect">
            <a:avLst/>
          </a:prstGeom>
          <a:noFill/>
        </p:spPr>
        <p:txBody>
          <a:bodyPr wrap="square" lIns="0" rIns="0" tIns="0" bIns="0" anchor="t"/>
          <a:lstStyle/>
          <a:p>
            <a:pPr algn="l">
              <a:lnSpc>
                <a:spcPct val="96000"/>
              </a:lnSpc>
              <a:spcBef>
                <a:spcPts val="0"/>
              </a:spcBef>
              <a:spcAft>
                <a:spcPts val="0"/>
              </a:spcAft>
            </a:pPr>
            <a:r>
              <a:rPr sz="4000" b="1" i="0">
                <a:solidFill>
                  <a:srgbClr val="161412"/>
                </a:solidFill>
                <a:latin typeface="Arial"/>
                <a:ea typeface="Arial"/>
                <a:cs typeface="Arial"/>
              </a:rPr>
              <a:t>Make the willing ones</a:t>
            </a:r>
          </a:p>
          <a:p>
            <a:pPr algn="l">
              <a:lnSpc>
                <a:spcPct val="96000"/>
              </a:lnSpc>
              <a:spcBef>
                <a:spcPts val="0"/>
              </a:spcBef>
              <a:spcAft>
                <a:spcPts val="0"/>
              </a:spcAft>
            </a:pPr>
            <a:r>
              <a:rPr sz="4000" b="1" i="0">
                <a:solidFill>
                  <a:srgbClr val="161412"/>
                </a:solidFill>
                <a:latin typeface="Arial"/>
                <a:ea typeface="Arial"/>
                <a:cs typeface="Arial"/>
              </a:rPr>
              <a:t>obvious.</a:t>
            </a:r>
          </a:p>
        </p:txBody>
      </p:sp>
      <p:sp>
        <p:nvSpPr>
          <p:cNvPr id="5" name="Oval 4"/>
          <p:cNvSpPr/>
          <p:nvPr/>
        </p:nvSpPr>
        <p:spPr>
          <a:xfrm>
            <a:off x="685800" y="246888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2523744"/>
            <a:ext cx="438912" cy="347472"/>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1</a:t>
            </a:r>
          </a:p>
        </p:txBody>
      </p:sp>
      <p:sp>
        <p:nvSpPr>
          <p:cNvPr id="7" name="TextBox 6"/>
          <p:cNvSpPr txBox="1"/>
          <p:nvPr/>
        </p:nvSpPr>
        <p:spPr>
          <a:xfrm>
            <a:off x="685800" y="3063240"/>
            <a:ext cx="3474720" cy="6400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Capture starts.</a:t>
            </a:r>
          </a:p>
        </p:txBody>
      </p:sp>
      <p:sp>
        <p:nvSpPr>
          <p:cNvPr id="8" name="TextBox 7"/>
          <p:cNvSpPr txBox="1"/>
          <p:nvPr/>
        </p:nvSpPr>
        <p:spPr>
          <a:xfrm>
            <a:off x="685800" y="3794760"/>
            <a:ext cx="3383280" cy="118872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Camera or voice memo opens. Glasses begin a clip.</a:t>
            </a:r>
          </a:p>
        </p:txBody>
      </p:sp>
      <p:sp>
        <p:nvSpPr>
          <p:cNvPr id="9" name="Oval 8"/>
          <p:cNvSpPr/>
          <p:nvPr/>
        </p:nvSpPr>
        <p:spPr>
          <a:xfrm>
            <a:off x="4434840" y="246888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523744"/>
            <a:ext cx="438912" cy="347472"/>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2</a:t>
            </a:r>
          </a:p>
        </p:txBody>
      </p:sp>
      <p:sp>
        <p:nvSpPr>
          <p:cNvPr id="11" name="TextBox 10"/>
          <p:cNvSpPr txBox="1"/>
          <p:nvPr/>
        </p:nvSpPr>
        <p:spPr>
          <a:xfrm>
            <a:off x="4434840" y="3063240"/>
            <a:ext cx="3474720" cy="6400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The device admits it.</a:t>
            </a:r>
          </a:p>
        </p:txBody>
      </p:sp>
      <p:sp>
        <p:nvSpPr>
          <p:cNvPr id="12" name="TextBox 11"/>
          <p:cNvSpPr txBox="1"/>
          <p:nvPr/>
        </p:nvSpPr>
        <p:spPr>
          <a:xfrm>
            <a:off x="4434840" y="3794760"/>
            <a:ext cx="3383280" cy="118872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A beacon, or the double-press. Same color on every Halo at the table.</a:t>
            </a:r>
          </a:p>
        </p:txBody>
      </p:sp>
      <p:sp>
        <p:nvSpPr>
          <p:cNvPr id="13" name="Oval 12"/>
          <p:cNvSpPr/>
          <p:nvPr/>
        </p:nvSpPr>
        <p:spPr>
          <a:xfrm>
            <a:off x="8183879" y="2468880"/>
            <a:ext cx="438912" cy="438912"/>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2523744"/>
            <a:ext cx="438912" cy="347472"/>
          </a:xfrm>
          <a:prstGeom prst="rect">
            <a:avLst/>
          </a:prstGeom>
          <a:noFill/>
        </p:spPr>
        <p:txBody>
          <a:bodyPr wrap="square" lIns="0" rIns="0" tIns="0" bIns="0" anchor="t"/>
          <a:lstStyle/>
          <a:p>
            <a:pPr algn="ctr">
              <a:lnSpc>
                <a:spcPct val="100000"/>
              </a:lnSpc>
              <a:spcBef>
                <a:spcPts val="0"/>
              </a:spcBef>
              <a:spcAft>
                <a:spcPts val="0"/>
              </a:spcAft>
            </a:pPr>
            <a:r>
              <a:rPr sz="1600" b="1" i="0">
                <a:solidFill>
                  <a:srgbClr val="F6F1E8"/>
                </a:solidFill>
                <a:latin typeface="Arial"/>
                <a:ea typeface="Arial"/>
                <a:cs typeface="Arial"/>
              </a:rPr>
              <a:t>3</a:t>
            </a:r>
          </a:p>
        </p:txBody>
      </p:sp>
      <p:sp>
        <p:nvSpPr>
          <p:cNvPr id="15" name="TextBox 14"/>
          <p:cNvSpPr txBox="1"/>
          <p:nvPr/>
        </p:nvSpPr>
        <p:spPr>
          <a:xfrm>
            <a:off x="8183879" y="3063240"/>
            <a:ext cx="3474720" cy="64008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Covert looks different.</a:t>
            </a:r>
          </a:p>
        </p:txBody>
      </p:sp>
      <p:sp>
        <p:nvSpPr>
          <p:cNvPr id="16" name="TextBox 15"/>
          <p:cNvSpPr txBox="1"/>
          <p:nvPr/>
        </p:nvSpPr>
        <p:spPr>
          <a:xfrm>
            <a:off x="8183879" y="3794760"/>
            <a:ext cx="3383280" cy="1188720"/>
          </a:xfrm>
          <a:prstGeom prst="rect">
            <a:avLst/>
          </a:prstGeom>
          <a:noFill/>
        </p:spPr>
        <p:txBody>
          <a:bodyPr wrap="square" lIns="0" rIns="0" tIns="0" bIns="0" anchor="t"/>
          <a:lstStyle/>
          <a:p>
            <a:pPr algn="l">
              <a:lnSpc>
                <a:spcPct val="108000"/>
              </a:lnSpc>
              <a:spcBef>
                <a:spcPts val="0"/>
              </a:spcBef>
              <a:spcAft>
                <a:spcPts val="0"/>
              </a:spcAft>
            </a:pPr>
            <a:r>
              <a:rPr sz="1600" b="0" i="0">
                <a:solidFill>
                  <a:srgbClr val="6F685E"/>
                </a:solidFill>
                <a:latin typeface="Arial"/>
                <a:ea typeface="Arial"/>
                <a:cs typeface="Arial"/>
              </a:rPr>
              <a:t>A phone in someone's hand, and a dark keychain, is a question you can ask out loud.</a:t>
            </a:r>
          </a:p>
        </p:txBody>
      </p:sp>
      <p:sp>
        <p:nvSpPr>
          <p:cNvPr id="17" name="TextBox 16"/>
          <p:cNvSpPr txBox="1"/>
          <p:nvPr/>
        </p:nvSpPr>
        <p:spPr>
          <a:xfrm>
            <a:off x="713232" y="5349240"/>
            <a:ext cx="10607040" cy="50292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You keep the glasses. The rest of the table gets the blink without staring at the frame.</a:t>
            </a:r>
          </a:p>
        </p:txBody>
      </p:sp>
      <p:sp>
        <p:nvSpPr>
          <p:cNvPr id="18" name="TextBox 17"/>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9" name="TextBox 18"/>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THREE MOMENTS</a:t>
            </a:r>
          </a:p>
        </p:txBody>
      </p:sp>
      <p:sp>
        <p:nvSpPr>
          <p:cNvPr id="4" name="TextBox 3"/>
          <p:cNvSpPr txBox="1"/>
          <p:nvPr/>
        </p:nvSpPr>
        <p:spPr>
          <a:xfrm>
            <a:off x="685800" y="731520"/>
            <a:ext cx="109728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Most minutes, it does nothing.</a:t>
            </a:r>
          </a:p>
        </p:txBody>
      </p:sp>
      <p:sp>
        <p:nvSpPr>
          <p:cNvPr id="5" name="Rounded Rectangle 4"/>
          <p:cNvSpPr/>
          <p:nvPr/>
        </p:nvSpPr>
        <p:spPr>
          <a:xfrm>
            <a:off x="685800" y="1600200"/>
            <a:ext cx="10835640" cy="132588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56232"/>
            <a:ext cx="2103120" cy="32004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200"/>
                </a:solidFill>
                <a:latin typeface="Arial"/>
                <a:ea typeface="Arial"/>
                <a:cs typeface="Arial"/>
              </a:rPr>
              <a:t>Monday</a:t>
            </a:r>
          </a:p>
        </p:txBody>
      </p:sp>
      <p:sp>
        <p:nvSpPr>
          <p:cNvPr id="7" name="TextBox 6"/>
          <p:cNvSpPr txBox="1"/>
          <p:nvPr/>
        </p:nvSpPr>
        <p:spPr>
          <a:xfrm>
            <a:off x="914400" y="2221992"/>
            <a:ext cx="21945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Seminar</a:t>
            </a:r>
          </a:p>
        </p:txBody>
      </p:sp>
      <p:sp>
        <p:nvSpPr>
          <p:cNvPr id="8" name="TextBox 7"/>
          <p:cNvSpPr txBox="1"/>
          <p:nvPr/>
        </p:nvSpPr>
        <p:spPr>
          <a:xfrm>
            <a:off x="3291840" y="1920240"/>
            <a:ext cx="7863840" cy="77724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Someone's glasses are live for a photo of the board. One tap. You see them hold the moment up. Back to your notes.</a:t>
            </a:r>
          </a:p>
        </p:txBody>
      </p:sp>
      <p:sp>
        <p:nvSpPr>
          <p:cNvPr id="9" name="Rounded Rectangle 8"/>
          <p:cNvSpPr/>
          <p:nvPr/>
        </p:nvSpPr>
        <p:spPr>
          <a:xfrm>
            <a:off x="685800" y="3063240"/>
            <a:ext cx="10835640" cy="132588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19272"/>
            <a:ext cx="2103120" cy="32004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200"/>
                </a:solidFill>
                <a:latin typeface="Arial"/>
                <a:ea typeface="Arial"/>
                <a:cs typeface="Arial"/>
              </a:rPr>
              <a:t>Thursday</a:t>
            </a:r>
          </a:p>
        </p:txBody>
      </p:sp>
      <p:sp>
        <p:nvSpPr>
          <p:cNvPr id="11" name="TextBox 10"/>
          <p:cNvSpPr txBox="1"/>
          <p:nvPr/>
        </p:nvSpPr>
        <p:spPr>
          <a:xfrm>
            <a:off x="914400" y="3685032"/>
            <a:ext cx="21945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Group project</a:t>
            </a:r>
          </a:p>
        </p:txBody>
      </p:sp>
      <p:sp>
        <p:nvSpPr>
          <p:cNvPr id="12" name="TextBox 11"/>
          <p:cNvSpPr txBox="1"/>
          <p:nvPr/>
        </p:nvSpPr>
        <p:spPr>
          <a:xfrm>
            <a:off x="3291840" y="3383280"/>
            <a:ext cx="7863840" cy="77724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Phones are down. No beacon. Halo stays dark. You say the messy version of the week.</a:t>
            </a:r>
          </a:p>
        </p:txBody>
      </p:sp>
      <p:sp>
        <p:nvSpPr>
          <p:cNvPr id="13" name="Rounded Rectangle 12"/>
          <p:cNvSpPr/>
          <p:nvPr/>
        </p:nvSpPr>
        <p:spPr>
          <a:xfrm>
            <a:off x="685800" y="4526280"/>
            <a:ext cx="10835640" cy="132588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82312"/>
            <a:ext cx="2103120" cy="320040"/>
          </a:xfrm>
          <a:prstGeom prst="rect">
            <a:avLst/>
          </a:prstGeom>
          <a:noFill/>
        </p:spPr>
        <p:txBody>
          <a:bodyPr wrap="square" lIns="0" rIns="0" tIns="0" bIns="0" anchor="t"/>
          <a:lstStyle/>
          <a:p>
            <a:pPr algn="l">
              <a:lnSpc>
                <a:spcPct val="100000"/>
              </a:lnSpc>
              <a:spcBef>
                <a:spcPts val="0"/>
              </a:spcBef>
              <a:spcAft>
                <a:spcPts val="0"/>
              </a:spcAft>
            </a:pPr>
            <a:r>
              <a:rPr sz="1400" b="1" i="0" spc="80">
                <a:solidFill>
                  <a:srgbClr val="8A5200"/>
                </a:solidFill>
                <a:latin typeface="Arial"/>
                <a:ea typeface="Arial"/>
                <a:cs typeface="Arial"/>
              </a:rPr>
              <a:t>Saturday</a:t>
            </a:r>
          </a:p>
        </p:txBody>
      </p:sp>
      <p:sp>
        <p:nvSpPr>
          <p:cNvPr id="15" name="TextBox 14"/>
          <p:cNvSpPr txBox="1"/>
          <p:nvPr/>
        </p:nvSpPr>
        <p:spPr>
          <a:xfrm>
            <a:off x="914400" y="5148072"/>
            <a:ext cx="21945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A party</a:t>
            </a:r>
          </a:p>
        </p:txBody>
      </p:sp>
      <p:sp>
        <p:nvSpPr>
          <p:cNvPr id="16" name="TextBox 15"/>
          <p:cNvSpPr txBox="1"/>
          <p:nvPr/>
        </p:nvSpPr>
        <p:spPr>
          <a:xfrm>
            <a:off x="3291840" y="4846320"/>
            <a:ext cx="7863840" cy="777240"/>
          </a:xfrm>
          <a:prstGeom prst="rect">
            <a:avLst/>
          </a:prstGeom>
          <a:noFill/>
        </p:spPr>
        <p:txBody>
          <a:bodyPr wrap="square" lIns="0" rIns="0" tIns="0" bIns="0" anchor="t"/>
          <a:lstStyle/>
          <a:p>
            <a:pPr algn="l">
              <a:lnSpc>
                <a:spcPct val="105000"/>
              </a:lnSpc>
              <a:spcBef>
                <a:spcPts val="0"/>
              </a:spcBef>
              <a:spcAft>
                <a:spcPts val="0"/>
              </a:spcAft>
            </a:pPr>
            <a:r>
              <a:rPr sz="1800" b="0" i="0">
                <a:solidFill>
                  <a:srgbClr val="161412"/>
                </a:solidFill>
                <a:latin typeface="Arial"/>
                <a:ea typeface="Arial"/>
                <a:cs typeface="Arial"/>
              </a:rPr>
              <a:t>A glint keeps returning, if that sensor exists. You don't accuse anyone. You turn your chair, or you ask.</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BEFORE WE WRITE THE REPORT</a:t>
            </a:r>
          </a:p>
        </p:txBody>
      </p:sp>
      <p:sp>
        <p:nvSpPr>
          <p:cNvPr id="4" name="TextBox 3"/>
          <p:cNvSpPr txBox="1"/>
          <p:nvPr/>
        </p:nvSpPr>
        <p:spPr>
          <a:xfrm>
            <a:off x="685800" y="749808"/>
            <a:ext cx="10972800" cy="1280160"/>
          </a:xfrm>
          <a:prstGeom prst="rect">
            <a:avLst/>
          </a:prstGeom>
          <a:noFill/>
        </p:spPr>
        <p:txBody>
          <a:bodyPr wrap="square" lIns="0" rIns="0" tIns="0" bIns="0" anchor="t"/>
          <a:lstStyle/>
          <a:p>
            <a:pPr algn="l">
              <a:lnSpc>
                <a:spcPct val="96000"/>
              </a:lnSpc>
              <a:spcBef>
                <a:spcPts val="0"/>
              </a:spcBef>
              <a:spcAft>
                <a:spcPts val="0"/>
              </a:spcAft>
            </a:pPr>
            <a:r>
              <a:rPr sz="3600" b="1" i="0">
                <a:solidFill>
                  <a:srgbClr val="161412"/>
                </a:solidFill>
                <a:latin typeface="Arial"/>
                <a:ea typeface="Arial"/>
                <a:cs typeface="Arial"/>
              </a:rPr>
              <a:t>Four tests. One of them</a:t>
            </a:r>
          </a:p>
          <a:p>
            <a:pPr algn="l">
              <a:lnSpc>
                <a:spcPct val="96000"/>
              </a:lnSpc>
              <a:spcBef>
                <a:spcPts val="0"/>
              </a:spcBef>
              <a:spcAft>
                <a:spcPts val="0"/>
              </a:spcAft>
            </a:pPr>
            <a:r>
              <a:rPr sz="3600" b="1" i="0">
                <a:solidFill>
                  <a:srgbClr val="161412"/>
                </a:solidFill>
                <a:latin typeface="Arial"/>
                <a:ea typeface="Arial"/>
                <a:cs typeface="Arial"/>
              </a:rPr>
              <a:t>can kill the idea.</a:t>
            </a:r>
          </a:p>
        </p:txBody>
      </p:sp>
      <p:sp>
        <p:nvSpPr>
          <p:cNvPr id="5" name="TextBox 4"/>
          <p:cNvSpPr txBox="1"/>
          <p:nvPr/>
        </p:nvSpPr>
        <p:spPr>
          <a:xfrm>
            <a:off x="685800" y="2377440"/>
            <a:ext cx="914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01</a:t>
            </a:r>
          </a:p>
        </p:txBody>
      </p:sp>
      <p:sp>
        <p:nvSpPr>
          <p:cNvPr id="6" name="TextBox 5"/>
          <p:cNvSpPr txBox="1"/>
          <p:nvPr/>
        </p:nvSpPr>
        <p:spPr>
          <a:xfrm>
            <a:off x="1645920" y="2359152"/>
            <a:ext cx="438912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Notice</a:t>
            </a:r>
          </a:p>
        </p:txBody>
      </p:sp>
      <p:sp>
        <p:nvSpPr>
          <p:cNvPr id="7" name="TextBox 6"/>
          <p:cNvSpPr txBox="1"/>
          <p:nvPr/>
        </p:nvSpPr>
        <p:spPr>
          <a:xfrm>
            <a:off x="1645920" y="2834640"/>
            <a:ext cx="4480560" cy="100584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Can someone feel one buzz mid-sentence, without looking down?</a:t>
            </a:r>
          </a:p>
        </p:txBody>
      </p:sp>
      <p:sp>
        <p:nvSpPr>
          <p:cNvPr id="8" name="TextBox 7"/>
          <p:cNvSpPr txBox="1"/>
          <p:nvPr/>
        </p:nvSpPr>
        <p:spPr>
          <a:xfrm>
            <a:off x="6446520" y="2377440"/>
            <a:ext cx="914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02</a:t>
            </a:r>
          </a:p>
        </p:txBody>
      </p:sp>
      <p:sp>
        <p:nvSpPr>
          <p:cNvPr id="9" name="TextBox 8"/>
          <p:cNvSpPr txBox="1"/>
          <p:nvPr/>
        </p:nvSpPr>
        <p:spPr>
          <a:xfrm>
            <a:off x="7406640" y="2359152"/>
            <a:ext cx="438912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Distance</a:t>
            </a:r>
          </a:p>
        </p:txBody>
      </p:sp>
      <p:sp>
        <p:nvSpPr>
          <p:cNvPr id="10" name="TextBox 9"/>
          <p:cNvSpPr txBox="1"/>
          <p:nvPr/>
        </p:nvSpPr>
        <p:spPr>
          <a:xfrm>
            <a:off x="7406640" y="2834640"/>
            <a:ext cx="4480560" cy="100584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Do four beacons light a fob across this table, and stay dark across the room?</a:t>
            </a:r>
          </a:p>
        </p:txBody>
      </p:sp>
      <p:sp>
        <p:nvSpPr>
          <p:cNvPr id="11" name="TextBox 10"/>
          <p:cNvSpPr txBox="1"/>
          <p:nvPr/>
        </p:nvSpPr>
        <p:spPr>
          <a:xfrm>
            <a:off x="685800" y="4206240"/>
            <a:ext cx="914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03</a:t>
            </a:r>
          </a:p>
        </p:txBody>
      </p:sp>
      <p:sp>
        <p:nvSpPr>
          <p:cNvPr id="12" name="TextBox 11"/>
          <p:cNvSpPr txBox="1"/>
          <p:nvPr/>
        </p:nvSpPr>
        <p:spPr>
          <a:xfrm>
            <a:off x="1645920" y="4187952"/>
            <a:ext cx="438912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Glint</a:t>
            </a:r>
          </a:p>
        </p:txBody>
      </p:sp>
      <p:sp>
        <p:nvSpPr>
          <p:cNvPr id="13" name="TextBox 12"/>
          <p:cNvSpPr txBox="1"/>
          <p:nvPr/>
        </p:nvSpPr>
        <p:spPr>
          <a:xfrm>
            <a:off x="1645920" y="4663440"/>
            <a:ext cx="4480560" cy="100584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How fast do normal glasses false-alarm it? Constant means we drop the sensor.</a:t>
            </a:r>
          </a:p>
        </p:txBody>
      </p:sp>
      <p:sp>
        <p:nvSpPr>
          <p:cNvPr id="14" name="TextBox 13"/>
          <p:cNvSpPr txBox="1"/>
          <p:nvPr/>
        </p:nvSpPr>
        <p:spPr>
          <a:xfrm>
            <a:off x="6446520" y="4206240"/>
            <a:ext cx="914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8A5200"/>
                </a:solidFill>
                <a:latin typeface="Arial"/>
                <a:ea typeface="Arial"/>
                <a:cs typeface="Arial"/>
              </a:rPr>
              <a:t>04</a:t>
            </a:r>
          </a:p>
        </p:txBody>
      </p:sp>
      <p:sp>
        <p:nvSpPr>
          <p:cNvPr id="15" name="TextBox 14"/>
          <p:cNvSpPr txBox="1"/>
          <p:nvPr/>
        </p:nvSpPr>
        <p:spPr>
          <a:xfrm>
            <a:off x="7406640" y="4187952"/>
            <a:ext cx="4389120" cy="365760"/>
          </a:xfrm>
          <a:prstGeom prst="rect">
            <a:avLst/>
          </a:prstGeom>
          <a:noFill/>
        </p:spPr>
        <p:txBody>
          <a:bodyPr wrap="square" lIns="0" rIns="0" tIns="0" bIns="0" anchor="t"/>
          <a:lstStyle/>
          <a:p>
            <a:pPr algn="l">
              <a:lnSpc>
                <a:spcPct val="100000"/>
              </a:lnSpc>
              <a:spcBef>
                <a:spcPts val="0"/>
              </a:spcBef>
              <a:spcAft>
                <a:spcPts val="0"/>
              </a:spcAft>
            </a:pPr>
            <a:r>
              <a:rPr sz="2200" b="1" i="0">
                <a:solidFill>
                  <a:srgbClr val="161412"/>
                </a:solidFill>
                <a:latin typeface="Arial"/>
                <a:ea typeface="Arial"/>
                <a:cs typeface="Arial"/>
              </a:rPr>
              <a:t>Today</a:t>
            </a:r>
          </a:p>
        </p:txBody>
      </p:sp>
      <p:sp>
        <p:nvSpPr>
          <p:cNvPr id="16" name="TextBox 15"/>
          <p:cNvSpPr txBox="1"/>
          <p:nvPr/>
        </p:nvSpPr>
        <p:spPr>
          <a:xfrm>
            <a:off x="7406640" y="4663440"/>
            <a:ext cx="4480560" cy="1005840"/>
          </a:xfrm>
          <a:prstGeom prst="rect">
            <a:avLst/>
          </a:prstGeom>
          <a:noFill/>
        </p:spPr>
        <p:txBody>
          <a:bodyPr wrap="square" lIns="0" rIns="0" tIns="0" bIns="0" anchor="t"/>
          <a:lstStyle/>
          <a:p>
            <a:pPr algn="l">
              <a:lnSpc>
                <a:spcPct val="105000"/>
              </a:lnSpc>
              <a:spcBef>
                <a:spcPts val="0"/>
              </a:spcBef>
              <a:spcAft>
                <a:spcPts val="0"/>
              </a:spcAft>
            </a:pPr>
            <a:r>
              <a:rPr sz="1600" b="0" i="0">
                <a:solidFill>
                  <a:srgbClr val="6F685E"/>
                </a:solidFill>
                <a:latin typeface="Arial"/>
                <a:ea typeface="Arial"/>
                <a:cs typeface="Arial"/>
              </a:rPr>
              <a:t>Did this scare make you want Halo, or just make you angry?</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65760"/>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SAID OUT LOUD</a:t>
            </a:r>
          </a:p>
        </p:txBody>
      </p:sp>
      <p:sp>
        <p:nvSpPr>
          <p:cNvPr id="4" name="TextBox 3"/>
          <p:cNvSpPr txBox="1"/>
          <p:nvPr/>
        </p:nvSpPr>
        <p:spPr>
          <a:xfrm>
            <a:off x="685800" y="777240"/>
            <a:ext cx="10972800" cy="548640"/>
          </a:xfrm>
          <a:prstGeom prst="rect">
            <a:avLst/>
          </a:prstGeom>
          <a:noFill/>
        </p:spPr>
        <p:txBody>
          <a:bodyPr wrap="square" lIns="0" rIns="0" tIns="0" bIns="0" anchor="t"/>
          <a:lstStyle/>
          <a:p>
            <a:pPr algn="l">
              <a:lnSpc>
                <a:spcPct val="100000"/>
              </a:lnSpc>
              <a:spcBef>
                <a:spcPts val="0"/>
              </a:spcBef>
              <a:spcAft>
                <a:spcPts val="0"/>
              </a:spcAft>
            </a:pPr>
            <a:r>
              <a:rPr sz="3200" b="1" i="0">
                <a:solidFill>
                  <a:srgbClr val="161412"/>
                </a:solidFill>
                <a:latin typeface="Arial"/>
                <a:ea typeface="Arial"/>
                <a:cs typeface="Arial"/>
              </a:rPr>
              <a:t>The ways this goes wrong.</a:t>
            </a:r>
          </a:p>
        </p:txBody>
      </p:sp>
      <p:sp>
        <p:nvSpPr>
          <p:cNvPr id="5" name="Rectangle 4"/>
          <p:cNvSpPr/>
          <p:nvPr/>
        </p:nvSpPr>
        <p:spPr>
          <a:xfrm>
            <a:off x="731520" y="1600200"/>
            <a:ext cx="411480" cy="38100"/>
          </a:xfrm>
          <a:prstGeom prst="rect">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35608"/>
            <a:ext cx="9875520" cy="347472"/>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 stunt is not evidence.</a:t>
            </a:r>
          </a:p>
        </p:txBody>
      </p:sp>
      <p:sp>
        <p:nvSpPr>
          <p:cNvPr id="7" name="TextBox 6"/>
          <p:cNvSpPr txBox="1"/>
          <p:nvPr/>
        </p:nvSpPr>
        <p:spPr>
          <a:xfrm>
            <a:off x="1371600" y="1819656"/>
            <a:ext cx="9875520" cy="54864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It produces a feeling once. The paper after class is the evidence.</a:t>
            </a:r>
          </a:p>
        </p:txBody>
      </p:sp>
      <p:sp>
        <p:nvSpPr>
          <p:cNvPr id="8" name="Rectangle 7"/>
          <p:cNvSpPr/>
          <p:nvPr/>
        </p:nvSpPr>
        <p:spPr>
          <a:xfrm>
            <a:off x="731520" y="2697480"/>
            <a:ext cx="411480" cy="38100"/>
          </a:xfrm>
          <a:prstGeom prst="rect">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32888"/>
            <a:ext cx="9875520" cy="347472"/>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A false accusation is worse than no product.</a:t>
            </a:r>
          </a:p>
        </p:txBody>
      </p:sp>
      <p:sp>
        <p:nvSpPr>
          <p:cNvPr id="10" name="TextBox 9"/>
          <p:cNvSpPr txBox="1"/>
          <p:nvPr/>
        </p:nvSpPr>
        <p:spPr>
          <a:xfrm>
            <a:off x="1371600" y="2916936"/>
            <a:ext cx="9875520" cy="54864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So Halo never names a person, and a dark fob is not proof of safety.</a:t>
            </a:r>
          </a:p>
        </p:txBody>
      </p:sp>
      <p:sp>
        <p:nvSpPr>
          <p:cNvPr id="11" name="Rectangle 10"/>
          <p:cNvSpPr/>
          <p:nvPr/>
        </p:nvSpPr>
        <p:spPr>
          <a:xfrm>
            <a:off x="731520" y="3794760"/>
            <a:ext cx="411480" cy="38100"/>
          </a:xfrm>
          <a:prstGeom prst="rect">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630168"/>
            <a:ext cx="9875520" cy="347472"/>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Anxiety is a broken feature.</a:t>
            </a:r>
          </a:p>
        </p:txBody>
      </p:sp>
      <p:sp>
        <p:nvSpPr>
          <p:cNvPr id="13" name="TextBox 12"/>
          <p:cNvSpPr txBox="1"/>
          <p:nvPr/>
        </p:nvSpPr>
        <p:spPr>
          <a:xfrm>
            <a:off x="1371600" y="4014216"/>
            <a:ext cx="9875520" cy="54864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Snooze has to be faster than the buzz is annoying, or people will take it off the keys.</a:t>
            </a:r>
          </a:p>
        </p:txBody>
      </p:sp>
      <p:sp>
        <p:nvSpPr>
          <p:cNvPr id="14" name="Rectangle 13"/>
          <p:cNvSpPr/>
          <p:nvPr/>
        </p:nvSpPr>
        <p:spPr>
          <a:xfrm>
            <a:off x="731520" y="4892040"/>
            <a:ext cx="411480" cy="38100"/>
          </a:xfrm>
          <a:prstGeom prst="rect">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727448"/>
            <a:ext cx="9875520" cy="347472"/>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 prompt was a false premise.</a:t>
            </a:r>
          </a:p>
        </p:txBody>
      </p:sp>
      <p:sp>
        <p:nvSpPr>
          <p:cNvPr id="16" name="TextBox 15"/>
          <p:cNvSpPr txBox="1"/>
          <p:nvPr/>
        </p:nvSpPr>
        <p:spPr>
          <a:xfrm>
            <a:off x="1371600" y="5111496"/>
            <a:ext cx="9875520" cy="54864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The next sentence had to be that nothing exists. The professor hears the plan first. Next time, if there is a next time, the prompt is only 'how your week went.'</a:t>
            </a:r>
          </a:p>
        </p:txBody>
      </p:sp>
      <p:sp>
        <p:nvSpPr>
          <p:cNvPr id="17" name="TextBox 16"/>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1965960"/>
            <a:ext cx="640080" cy="640080"/>
          </a:xfrm>
          <a:prstGeom prst="ellipse">
            <a:avLst/>
          </a:prstGeom>
          <a:solidFill>
            <a:srgbClr val="E39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 y="2176272"/>
            <a:ext cx="219456" cy="219456"/>
          </a:xfrm>
          <a:prstGeom prst="ellipse">
            <a:avLst/>
          </a:prstGeom>
          <a:solidFill>
            <a:srgbClr val="FFE3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91640" y="2057400"/>
            <a:ext cx="5486400" cy="502920"/>
          </a:xfrm>
          <a:prstGeom prst="rect">
            <a:avLst/>
          </a:prstGeom>
          <a:noFill/>
        </p:spPr>
        <p:txBody>
          <a:bodyPr wrap="square" lIns="0" rIns="0" tIns="0" bIns="0" anchor="ctr"/>
          <a:lstStyle/>
          <a:p>
            <a:pPr algn="l">
              <a:lnSpc>
                <a:spcPct val="100000"/>
              </a:lnSpc>
              <a:spcBef>
                <a:spcPts val="0"/>
              </a:spcBef>
              <a:spcAft>
                <a:spcPts val="0"/>
              </a:spcAft>
            </a:pPr>
            <a:r>
              <a:rPr sz="1800" b="1" i="0" spc="200">
                <a:solidFill>
                  <a:srgbClr val="8A5200"/>
                </a:solidFill>
                <a:latin typeface="Arial"/>
                <a:ea typeface="Arial"/>
                <a:cs typeface="Arial"/>
              </a:rPr>
              <a:t>HALO</a:t>
            </a:r>
          </a:p>
        </p:txBody>
      </p:sp>
      <p:sp>
        <p:nvSpPr>
          <p:cNvPr id="6" name="TextBox 5"/>
          <p:cNvSpPr txBox="1"/>
          <p:nvPr/>
        </p:nvSpPr>
        <p:spPr>
          <a:xfrm>
            <a:off x="713232" y="2880360"/>
            <a:ext cx="9144000" cy="1463040"/>
          </a:xfrm>
          <a:prstGeom prst="rect">
            <a:avLst/>
          </a:prstGeom>
          <a:noFill/>
        </p:spPr>
        <p:txBody>
          <a:bodyPr wrap="square" lIns="0" rIns="0" tIns="0" bIns="0" anchor="t"/>
          <a:lstStyle/>
          <a:p>
            <a:pPr algn="l">
              <a:lnSpc>
                <a:spcPct val="96000"/>
              </a:lnSpc>
              <a:spcBef>
                <a:spcPts val="0"/>
              </a:spcBef>
              <a:spcAft>
                <a:spcPts val="0"/>
              </a:spcAft>
            </a:pPr>
            <a:r>
              <a:rPr sz="4400" b="1" i="0">
                <a:solidFill>
                  <a:srgbClr val="161412"/>
                </a:solidFill>
                <a:latin typeface="Arial"/>
                <a:ea typeface="Arial"/>
                <a:cs typeface="Arial"/>
              </a:rPr>
              <a:t>Know when someone</a:t>
            </a:r>
          </a:p>
          <a:p>
            <a:pPr algn="l">
              <a:lnSpc>
                <a:spcPct val="96000"/>
              </a:lnSpc>
              <a:spcBef>
                <a:spcPts val="0"/>
              </a:spcBef>
              <a:spcAft>
                <a:spcPts val="0"/>
              </a:spcAft>
            </a:pPr>
            <a:r>
              <a:rPr sz="4400" b="1" i="0">
                <a:solidFill>
                  <a:srgbClr val="161412"/>
                </a:solidFill>
                <a:latin typeface="Arial"/>
                <a:ea typeface="Arial"/>
                <a:cs typeface="Arial"/>
              </a:rPr>
              <a:t>is recording.</a:t>
            </a:r>
          </a:p>
        </p:txBody>
      </p:sp>
      <p:sp>
        <p:nvSpPr>
          <p:cNvPr id="7" name="TextBox 6"/>
          <p:cNvSpPr txBox="1"/>
          <p:nvPr/>
        </p:nvSpPr>
        <p:spPr>
          <a:xfrm>
            <a:off x="731520" y="4572000"/>
            <a:ext cx="9144000" cy="411480"/>
          </a:xfrm>
          <a:prstGeom prst="rect">
            <a:avLst/>
          </a:prstGeom>
          <a:noFill/>
        </p:spPr>
        <p:txBody>
          <a:bodyPr wrap="square" lIns="0" rIns="0" tIns="0" bIns="0" anchor="t"/>
          <a:lstStyle/>
          <a:p>
            <a:pPr algn="l">
              <a:lnSpc>
                <a:spcPct val="100000"/>
              </a:lnSpc>
              <a:spcBef>
                <a:spcPts val="0"/>
              </a:spcBef>
              <a:spcAft>
                <a:spcPts val="0"/>
              </a:spcAft>
            </a:pPr>
            <a:r>
              <a:rPr sz="2200" b="0" i="0">
                <a:solidFill>
                  <a:srgbClr val="161412"/>
                </a:solidFill>
                <a:latin typeface="Arial"/>
                <a:ea typeface="Arial"/>
                <a:cs typeface="Arial"/>
              </a:rPr>
              <a:t>Before the sentence, not after.</a:t>
            </a:r>
          </a:p>
        </p:txBody>
      </p:sp>
      <p:sp>
        <p:nvSpPr>
          <p:cNvPr id="8" name="TextBox 7"/>
          <p:cNvSpPr txBox="1"/>
          <p:nvPr/>
        </p:nvSpPr>
        <p:spPr>
          <a:xfrm>
            <a:off x="731520" y="5623560"/>
            <a:ext cx="36576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6F685E"/>
                </a:solidFill>
                <a:latin typeface="Arial"/>
                <a:ea typeface="Arial"/>
                <a:cs typeface="Arial"/>
              </a:rPr>
              <a:t>Questions.</a:t>
            </a:r>
          </a:p>
        </p:txBody>
      </p:sp>
      <p:sp>
        <p:nvSpPr>
          <p:cNvPr id="9" name="TextBox 8"/>
          <p:cNvSpPr txBox="1"/>
          <p:nvPr/>
        </p:nvSpPr>
        <p:spPr>
          <a:xfrm>
            <a:off x="658368" y="6473952"/>
            <a:ext cx="5029200" cy="237744"/>
          </a:xfrm>
          <a:prstGeom prst="rect">
            <a:avLst/>
          </a:prstGeom>
          <a:noFill/>
        </p:spPr>
        <p:txBody>
          <a:bodyPr wrap="square" lIns="0" rIns="0" tIns="0" bIns="0" anchor="t"/>
          <a:lstStyle/>
          <a:p>
            <a:pPr algn="l">
              <a:lnSpc>
                <a:spcPct val="100000"/>
              </a:lnSpc>
              <a:spcBef>
                <a:spcPts val="0"/>
              </a:spcBef>
              <a:spcAft>
                <a:spcPts val="0"/>
              </a:spcAft>
            </a:pPr>
            <a:r>
              <a:rPr sz="1100" b="1" i="0" spc="160">
                <a:solidFill>
                  <a:srgbClr val="8A8478"/>
                </a:solidFill>
                <a:latin typeface="Arial"/>
                <a:ea typeface="Arial"/>
                <a:cs typeface="Arial"/>
              </a:rPr>
              <a:t>HALO    ·    DRAFT</a:t>
            </a:r>
          </a:p>
        </p:txBody>
      </p:sp>
      <p:sp>
        <p:nvSpPr>
          <p:cNvPr id="10" name="TextBox 9"/>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2103120"/>
            <a:ext cx="10972800" cy="365760"/>
          </a:xfrm>
          <a:prstGeom prst="rect">
            <a:avLst/>
          </a:prstGeom>
          <a:noFill/>
        </p:spPr>
        <p:txBody>
          <a:bodyPr wrap="square" lIns="0" rIns="0" tIns="0" bIns="0" anchor="t"/>
          <a:lstStyle/>
          <a:p>
            <a:pPr algn="l">
              <a:lnSpc>
                <a:spcPct val="100000"/>
              </a:lnSpc>
              <a:spcBef>
                <a:spcPts val="0"/>
              </a:spcBef>
              <a:spcAft>
                <a:spcPts val="0"/>
              </a:spcAft>
            </a:pPr>
            <a:r>
              <a:rPr sz="1400" b="1" i="0" spc="200">
                <a:solidFill>
                  <a:srgbClr val="E39B12"/>
                </a:solidFill>
                <a:latin typeface="Arial"/>
                <a:ea typeface="Arial"/>
                <a:cs typeface="Arial"/>
              </a:rPr>
              <a:t>APPENDIX</a:t>
            </a:r>
          </a:p>
        </p:txBody>
      </p:sp>
      <p:sp>
        <p:nvSpPr>
          <p:cNvPr id="4" name="TextBox 3"/>
          <p:cNvSpPr txBox="1"/>
          <p:nvPr/>
        </p:nvSpPr>
        <p:spPr>
          <a:xfrm>
            <a:off x="685800" y="2514600"/>
            <a:ext cx="10972800" cy="1645920"/>
          </a:xfrm>
          <a:prstGeom prst="rect">
            <a:avLst/>
          </a:prstGeom>
          <a:noFill/>
        </p:spPr>
        <p:txBody>
          <a:bodyPr wrap="square" lIns="0" rIns="0" tIns="0" bIns="0" anchor="t"/>
          <a:lstStyle/>
          <a:p>
            <a:pPr algn="l">
              <a:lnSpc>
                <a:spcPct val="96000"/>
              </a:lnSpc>
              <a:spcBef>
                <a:spcPts val="0"/>
              </a:spcBef>
              <a:spcAft>
                <a:spcPts val="0"/>
              </a:spcAft>
            </a:pPr>
            <a:r>
              <a:rPr sz="5200" b="1" i="0">
                <a:solidFill>
                  <a:srgbClr val="F6F1E8"/>
                </a:solidFill>
                <a:latin typeface="Arial"/>
                <a:ea typeface="Arial"/>
                <a:cs typeface="Arial"/>
              </a:rPr>
              <a:t>Do not project</a:t>
            </a:r>
          </a:p>
          <a:p>
            <a:pPr algn="l">
              <a:lnSpc>
                <a:spcPct val="96000"/>
              </a:lnSpc>
              <a:spcBef>
                <a:spcPts val="0"/>
              </a:spcBef>
              <a:spcAft>
                <a:spcPts val="0"/>
              </a:spcAft>
            </a:pPr>
            <a:r>
              <a:rPr sz="5200" b="1" i="0">
                <a:solidFill>
                  <a:srgbClr val="F6F1E8"/>
                </a:solidFill>
                <a:latin typeface="Arial"/>
                <a:ea typeface="Arial"/>
                <a:cs typeface="Arial"/>
              </a:rPr>
              <a:t>the rest.</a:t>
            </a:r>
          </a:p>
        </p:txBody>
      </p:sp>
      <p:sp>
        <p:nvSpPr>
          <p:cNvPr id="5" name="TextBox 4"/>
          <p:cNvSpPr txBox="1"/>
          <p:nvPr/>
        </p:nvSpPr>
        <p:spPr>
          <a:xfrm>
            <a:off x="731520" y="4572000"/>
            <a:ext cx="10058400" cy="36576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C8C0B4"/>
                </a:solidFill>
                <a:latin typeface="Arial"/>
                <a:ea typeface="Arial"/>
                <a:cs typeface="Arial"/>
              </a:rPr>
              <a:t>Run of show, hallway script, repairs, report, sources.</a:t>
            </a:r>
          </a:p>
        </p:txBody>
      </p:sp>
      <p:sp>
        <p:nvSpPr>
          <p:cNvPr id="6" name="TextBox 5"/>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5C5852"/>
                </a:solidFill>
                <a:latin typeface="Arial"/>
                <a:ea typeface="Arial"/>
                <a:cs typeface="Arial"/>
              </a:rPr>
              <a:t>APPENDIX    ·    DO NOT PROJECT</a:t>
            </a:r>
          </a:p>
        </p:txBody>
      </p:sp>
      <p:sp>
        <p:nvSpPr>
          <p:cNvPr id="7" name="TextBox 6"/>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5C5852"/>
                </a:solidFill>
                <a:latin typeface="Arial"/>
                <a:ea typeface="Arial"/>
                <a:cs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RUN OF SHOW</a:t>
            </a:r>
          </a:p>
        </p:txBody>
      </p:sp>
      <p:sp>
        <p:nvSpPr>
          <p:cNvPr id="4" name="TextBox 3"/>
          <p:cNvSpPr txBox="1"/>
          <p:nvPr/>
        </p:nvSpPr>
        <p:spPr>
          <a:xfrm>
            <a:off x="658368" y="621792"/>
            <a:ext cx="10972800" cy="36576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About nine minutes. The scare is not the grade.</a:t>
            </a:r>
          </a:p>
        </p:txBody>
      </p:sp>
      <p:sp>
        <p:nvSpPr>
          <p:cNvPr id="5" name="TextBox 4"/>
          <p:cNvSpPr txBox="1"/>
          <p:nvPr/>
        </p:nvSpPr>
        <p:spPr>
          <a:xfrm>
            <a:off x="658368" y="1097280"/>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0:00</a:t>
            </a:r>
          </a:p>
        </p:txBody>
      </p:sp>
      <p:sp>
        <p:nvSpPr>
          <p:cNvPr id="6" name="TextBox 5"/>
          <p:cNvSpPr txBox="1"/>
          <p:nvPr/>
        </p:nvSpPr>
        <p:spPr>
          <a:xfrm>
            <a:off x="1783080" y="1097280"/>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Beside</a:t>
            </a:r>
          </a:p>
        </p:txBody>
      </p:sp>
      <p:sp>
        <p:nvSpPr>
          <p:cNvPr id="7" name="TextBox 6"/>
          <p:cNvSpPr txBox="1"/>
          <p:nvPr/>
        </p:nvSpPr>
        <p:spPr>
          <a:xfrm>
            <a:off x="4114800" y="1097280"/>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Ask for five volunteers. Straight face.</a:t>
            </a:r>
          </a:p>
        </p:txBody>
      </p:sp>
      <p:sp>
        <p:nvSpPr>
          <p:cNvPr id="8" name="TextBox 7"/>
          <p:cNvSpPr txBox="1"/>
          <p:nvPr/>
        </p:nvSpPr>
        <p:spPr>
          <a:xfrm>
            <a:off x="658368" y="1627631"/>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0:30</a:t>
            </a:r>
          </a:p>
        </p:txBody>
      </p:sp>
      <p:sp>
        <p:nvSpPr>
          <p:cNvPr id="9" name="TextBox 8"/>
          <p:cNvSpPr txBox="1"/>
          <p:nvPr/>
        </p:nvSpPr>
        <p:spPr>
          <a:xfrm>
            <a:off x="1783080" y="1627631"/>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Hallway</a:t>
            </a:r>
          </a:p>
        </p:txBody>
      </p:sp>
      <p:sp>
        <p:nvSpPr>
          <p:cNvPr id="10" name="TextBox 9"/>
          <p:cNvSpPr txBox="1"/>
          <p:nvPr/>
        </p:nvSpPr>
        <p:spPr>
          <a:xfrm>
            <a:off x="4114800" y="1627631"/>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One of you reads the script outside. They sit back down.</a:t>
            </a:r>
          </a:p>
        </p:txBody>
      </p:sp>
      <p:sp>
        <p:nvSpPr>
          <p:cNvPr id="11" name="TextBox 10"/>
          <p:cNvSpPr txBox="1"/>
          <p:nvPr/>
        </p:nvSpPr>
        <p:spPr>
          <a:xfrm>
            <a:off x="658368" y="2157984"/>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1:15</a:t>
            </a:r>
          </a:p>
        </p:txBody>
      </p:sp>
      <p:sp>
        <p:nvSpPr>
          <p:cNvPr id="12" name="TextBox 11"/>
          <p:cNvSpPr txBox="1"/>
          <p:nvPr/>
        </p:nvSpPr>
        <p:spPr>
          <a:xfrm>
            <a:off x="1783080" y="2157984"/>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Phones down</a:t>
            </a:r>
          </a:p>
        </p:txBody>
      </p:sp>
      <p:sp>
        <p:nvSpPr>
          <p:cNvPr id="13" name="TextBox 12"/>
          <p:cNvSpPr txBox="1"/>
          <p:nvPr/>
        </p:nvSpPr>
        <p:spPr>
          <a:xfrm>
            <a:off x="4114800" y="2157984"/>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Groups form. Permission to share something ordinary.</a:t>
            </a:r>
          </a:p>
        </p:txBody>
      </p:sp>
      <p:sp>
        <p:nvSpPr>
          <p:cNvPr id="14" name="TextBox 13"/>
          <p:cNvSpPr txBox="1"/>
          <p:nvPr/>
        </p:nvSpPr>
        <p:spPr>
          <a:xfrm>
            <a:off x="658368" y="2688335"/>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1:45</a:t>
            </a:r>
          </a:p>
        </p:txBody>
      </p:sp>
      <p:sp>
        <p:nvSpPr>
          <p:cNvPr id="15" name="TextBox 14"/>
          <p:cNvSpPr txBox="1"/>
          <p:nvPr/>
        </p:nvSpPr>
        <p:spPr>
          <a:xfrm>
            <a:off x="1783080" y="2688335"/>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Prompt</a:t>
            </a:r>
          </a:p>
        </p:txBody>
      </p:sp>
      <p:sp>
        <p:nvSpPr>
          <p:cNvPr id="16" name="TextBox 15"/>
          <p:cNvSpPr txBox="1"/>
          <p:nvPr/>
        </p:nvSpPr>
        <p:spPr>
          <a:xfrm>
            <a:off x="4114800" y="2688335"/>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75 seconds. You stay quiet. Watch for distress, not for stories.</a:t>
            </a:r>
          </a:p>
        </p:txBody>
      </p:sp>
      <p:sp>
        <p:nvSpPr>
          <p:cNvPr id="17" name="TextBox 16"/>
          <p:cNvSpPr txBox="1"/>
          <p:nvPr/>
        </p:nvSpPr>
        <p:spPr>
          <a:xfrm>
            <a:off x="658368" y="3218687"/>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3:00</a:t>
            </a:r>
          </a:p>
        </p:txBody>
      </p:sp>
      <p:sp>
        <p:nvSpPr>
          <p:cNvPr id="18" name="TextBox 17"/>
          <p:cNvSpPr txBox="1"/>
          <p:nvPr/>
        </p:nvSpPr>
        <p:spPr>
          <a:xfrm>
            <a:off x="1783080" y="3218687"/>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Black slides</a:t>
            </a:r>
          </a:p>
        </p:txBody>
      </p:sp>
      <p:sp>
        <p:nvSpPr>
          <p:cNvPr id="19" name="TextBox 18"/>
          <p:cNvSpPr txBox="1"/>
          <p:nvPr/>
        </p:nvSpPr>
        <p:spPr>
          <a:xfrm>
            <a:off x="4114800" y="3218687"/>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One second of silence. Skip the second slide if the room is already shaky.</a:t>
            </a:r>
          </a:p>
        </p:txBody>
      </p:sp>
      <p:sp>
        <p:nvSpPr>
          <p:cNvPr id="20" name="TextBox 19"/>
          <p:cNvSpPr txBox="1"/>
          <p:nvPr/>
        </p:nvSpPr>
        <p:spPr>
          <a:xfrm>
            <a:off x="658368" y="3749039"/>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3:15</a:t>
            </a:r>
          </a:p>
        </p:txBody>
      </p:sp>
      <p:sp>
        <p:nvSpPr>
          <p:cNvPr id="21" name="TextBox 20"/>
          <p:cNvSpPr txBox="1"/>
          <p:nvPr/>
        </p:nvSpPr>
        <p:spPr>
          <a:xfrm>
            <a:off x="1783080" y="3749039"/>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Clear</a:t>
            </a:r>
          </a:p>
        </p:txBody>
      </p:sp>
      <p:sp>
        <p:nvSpPr>
          <p:cNvPr id="22" name="TextBox 21"/>
          <p:cNvSpPr txBox="1"/>
          <p:nvPr/>
        </p:nvSpPr>
        <p:spPr>
          <a:xfrm>
            <a:off x="4114800" y="3749039"/>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Phones up before any joke. Nothing exists.</a:t>
            </a:r>
          </a:p>
        </p:txBody>
      </p:sp>
      <p:sp>
        <p:nvSpPr>
          <p:cNvPr id="23" name="TextBox 22"/>
          <p:cNvSpPr txBox="1"/>
          <p:nvPr/>
        </p:nvSpPr>
        <p:spPr>
          <a:xfrm>
            <a:off x="658368" y="4279392"/>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3:40</a:t>
            </a:r>
          </a:p>
        </p:txBody>
      </p:sp>
      <p:sp>
        <p:nvSpPr>
          <p:cNvPr id="24" name="TextBox 23"/>
          <p:cNvSpPr txBox="1"/>
          <p:nvPr/>
        </p:nvSpPr>
        <p:spPr>
          <a:xfrm>
            <a:off x="1783080" y="4279392"/>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requirement</a:t>
            </a:r>
          </a:p>
        </p:txBody>
      </p:sp>
      <p:sp>
        <p:nvSpPr>
          <p:cNvPr id="25" name="TextBox 24"/>
          <p:cNvSpPr txBox="1"/>
          <p:nvPr/>
        </p:nvSpPr>
        <p:spPr>
          <a:xfrm>
            <a:off x="4114800" y="4279392"/>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Phone on the table, acting normal, still didn't know.</a:t>
            </a:r>
          </a:p>
        </p:txBody>
      </p:sp>
      <p:sp>
        <p:nvSpPr>
          <p:cNvPr id="26" name="TextBox 25"/>
          <p:cNvSpPr txBox="1"/>
          <p:nvPr/>
        </p:nvSpPr>
        <p:spPr>
          <a:xfrm>
            <a:off x="658368" y="4809744"/>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4:00</a:t>
            </a:r>
          </a:p>
        </p:txBody>
      </p:sp>
      <p:sp>
        <p:nvSpPr>
          <p:cNvPr id="27" name="TextBox 26"/>
          <p:cNvSpPr txBox="1"/>
          <p:nvPr/>
        </p:nvSpPr>
        <p:spPr>
          <a:xfrm>
            <a:off x="1783080" y="4809744"/>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Halo through close</a:t>
            </a:r>
          </a:p>
        </p:txBody>
      </p:sp>
      <p:sp>
        <p:nvSpPr>
          <p:cNvPr id="28" name="TextBox 27"/>
          <p:cNvSpPr txBox="1"/>
          <p:nvPr/>
        </p:nvSpPr>
        <p:spPr>
          <a:xfrm>
            <a:off x="4114800" y="4809744"/>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Gap, spec, object, beacon, refusals. Cut moments and tests if long.</a:t>
            </a:r>
          </a:p>
        </p:txBody>
      </p:sp>
      <p:sp>
        <p:nvSpPr>
          <p:cNvPr id="29" name="TextBox 28"/>
          <p:cNvSpPr txBox="1"/>
          <p:nvPr/>
        </p:nvSpPr>
        <p:spPr>
          <a:xfrm>
            <a:off x="658368" y="5340096"/>
            <a:ext cx="1051560" cy="36576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9:00</a:t>
            </a:r>
          </a:p>
        </p:txBody>
      </p:sp>
      <p:sp>
        <p:nvSpPr>
          <p:cNvPr id="30" name="TextBox 29"/>
          <p:cNvSpPr txBox="1"/>
          <p:nvPr/>
        </p:nvSpPr>
        <p:spPr>
          <a:xfrm>
            <a:off x="1783080" y="5340096"/>
            <a:ext cx="2286000" cy="36576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Questions</a:t>
            </a:r>
          </a:p>
        </p:txBody>
      </p:sp>
      <p:sp>
        <p:nvSpPr>
          <p:cNvPr id="31" name="TextBox 30"/>
          <p:cNvSpPr txBox="1"/>
          <p:nvPr/>
        </p:nvSpPr>
        <p:spPr>
          <a:xfrm>
            <a:off x="4114800" y="5340096"/>
            <a:ext cx="7406640" cy="41148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Lead with the limit: we cannot catch a silent mic.</a:t>
            </a:r>
          </a:p>
        </p:txBody>
      </p:sp>
      <p:sp>
        <p:nvSpPr>
          <p:cNvPr id="32" name="TextBox 31"/>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33" name="TextBox 3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HALLWAY  ·  READ IT, DON'T IMPROVISE</a:t>
            </a:r>
          </a:p>
        </p:txBody>
      </p:sp>
      <p:sp>
        <p:nvSpPr>
          <p:cNvPr id="4" name="TextBox 3"/>
          <p:cNvSpPr txBox="1"/>
          <p:nvPr/>
        </p:nvSpPr>
        <p:spPr>
          <a:xfrm>
            <a:off x="658368" y="658368"/>
            <a:ext cx="10972800" cy="411480"/>
          </a:xfrm>
          <a:prstGeom prst="rect">
            <a:avLst/>
          </a:prstGeom>
          <a:noFill/>
        </p:spPr>
        <p:txBody>
          <a:bodyPr wrap="square" lIns="0" rIns="0" tIns="0" bIns="0" anchor="t"/>
          <a:lstStyle/>
          <a:p>
            <a:pPr algn="l">
              <a:lnSpc>
                <a:spcPct val="100000"/>
              </a:lnSpc>
              <a:spcBef>
                <a:spcPts val="0"/>
              </a:spcBef>
              <a:spcAft>
                <a:spcPts val="0"/>
              </a:spcAft>
            </a:pPr>
            <a:r>
              <a:rPr sz="2400" b="1" i="0">
                <a:solidFill>
                  <a:srgbClr val="161412"/>
                </a:solidFill>
                <a:latin typeface="Arial"/>
                <a:ea typeface="Arial"/>
                <a:cs typeface="Arial"/>
              </a:rPr>
              <a:t>Nobody outside is recording anything.</a:t>
            </a:r>
          </a:p>
        </p:txBody>
      </p:sp>
      <p:sp>
        <p:nvSpPr>
          <p:cNvPr id="5" name="Oval 4"/>
          <p:cNvSpPr/>
          <p:nvPr/>
        </p:nvSpPr>
        <p:spPr>
          <a:xfrm>
            <a:off x="713232" y="1408176"/>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444752"/>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1</a:t>
            </a:r>
          </a:p>
        </p:txBody>
      </p:sp>
      <p:sp>
        <p:nvSpPr>
          <p:cNvPr id="7" name="TextBox 6"/>
          <p:cNvSpPr txBox="1"/>
          <p:nvPr/>
        </p:nvSpPr>
        <p:spPr>
          <a:xfrm>
            <a:off x="1325880" y="1417320"/>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Walk back in separately. Sit down.</a:t>
            </a:r>
          </a:p>
        </p:txBody>
      </p:sp>
      <p:sp>
        <p:nvSpPr>
          <p:cNvPr id="8" name="Oval 7"/>
          <p:cNvSpPr/>
          <p:nvPr/>
        </p:nvSpPr>
        <p:spPr>
          <a:xfrm>
            <a:off x="713232" y="2121408"/>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57984"/>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2</a:t>
            </a:r>
          </a:p>
        </p:txBody>
      </p:sp>
      <p:sp>
        <p:nvSpPr>
          <p:cNvPr id="10" name="TextBox 9"/>
          <p:cNvSpPr txBox="1"/>
          <p:nvPr/>
        </p:nvSpPr>
        <p:spPr>
          <a:xfrm>
            <a:off x="1325880" y="2130552"/>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Phone face up, on the lock screen. Don't touch it.</a:t>
            </a:r>
          </a:p>
        </p:txBody>
      </p:sp>
      <p:sp>
        <p:nvSpPr>
          <p:cNvPr id="11" name="Oval 10"/>
          <p:cNvSpPr/>
          <p:nvPr/>
        </p:nvSpPr>
        <p:spPr>
          <a:xfrm>
            <a:off x="713232" y="2834640"/>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871216"/>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3</a:t>
            </a:r>
          </a:p>
        </p:txBody>
      </p:sp>
      <p:sp>
        <p:nvSpPr>
          <p:cNvPr id="13" name="TextBox 12"/>
          <p:cNvSpPr txBox="1"/>
          <p:nvPr/>
        </p:nvSpPr>
        <p:spPr>
          <a:xfrm>
            <a:off x="1325880" y="2843784"/>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Do not open the camera. Do not open voice memos. Do not take notes.</a:t>
            </a:r>
          </a:p>
        </p:txBody>
      </p:sp>
      <p:sp>
        <p:nvSpPr>
          <p:cNvPr id="14" name="Oval 13"/>
          <p:cNvSpPr/>
          <p:nvPr/>
        </p:nvSpPr>
        <p:spPr>
          <a:xfrm>
            <a:off x="713232" y="3547872"/>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584448"/>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4</a:t>
            </a:r>
          </a:p>
        </p:txBody>
      </p:sp>
      <p:sp>
        <p:nvSpPr>
          <p:cNvPr id="16" name="TextBox 15"/>
          <p:cNvSpPr txBox="1"/>
          <p:nvPr/>
        </p:nvSpPr>
        <p:spPr>
          <a:xfrm>
            <a:off x="1325880" y="3557015"/>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Look ordinary. If you smirk, the exercise dies.</a:t>
            </a:r>
          </a:p>
        </p:txBody>
      </p:sp>
      <p:sp>
        <p:nvSpPr>
          <p:cNvPr id="17" name="Oval 16"/>
          <p:cNvSpPr/>
          <p:nvPr/>
        </p:nvSpPr>
        <p:spPr>
          <a:xfrm>
            <a:off x="713232" y="4261104"/>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297680"/>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5</a:t>
            </a:r>
          </a:p>
        </p:txBody>
      </p:sp>
      <p:sp>
        <p:nvSpPr>
          <p:cNvPr id="19" name="TextBox 18"/>
          <p:cNvSpPr txBox="1"/>
          <p:nvPr/>
        </p:nvSpPr>
        <p:spPr>
          <a:xfrm>
            <a:off x="1325880" y="4270248"/>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When we say phones up, show the lock screen, camera closed.</a:t>
            </a:r>
          </a:p>
        </p:txBody>
      </p:sp>
      <p:sp>
        <p:nvSpPr>
          <p:cNvPr id="20" name="Oval 19"/>
          <p:cNvSpPr/>
          <p:nvPr/>
        </p:nvSpPr>
        <p:spPr>
          <a:xfrm>
            <a:off x="713232" y="4974336"/>
            <a:ext cx="384048" cy="384048"/>
          </a:xfrm>
          <a:prstGeom prst="ellipse">
            <a:avLst/>
          </a:prstGeom>
          <a:solidFill>
            <a:srgbClr val="16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5010912"/>
            <a:ext cx="384048" cy="310896"/>
          </a:xfrm>
          <a:prstGeom prst="rect">
            <a:avLst/>
          </a:prstGeom>
          <a:noFill/>
        </p:spPr>
        <p:txBody>
          <a:bodyPr wrap="square" lIns="0" rIns="0" tIns="0" bIns="0" anchor="t"/>
          <a:lstStyle/>
          <a:p>
            <a:pPr algn="ctr">
              <a:lnSpc>
                <a:spcPct val="100000"/>
              </a:lnSpc>
              <a:spcBef>
                <a:spcPts val="0"/>
              </a:spcBef>
              <a:spcAft>
                <a:spcPts val="0"/>
              </a:spcAft>
            </a:pPr>
            <a:r>
              <a:rPr sz="1400" b="1" i="0">
                <a:solidFill>
                  <a:srgbClr val="F6F1E8"/>
                </a:solidFill>
                <a:latin typeface="Arial"/>
                <a:ea typeface="Arial"/>
                <a:cs typeface="Arial"/>
              </a:rPr>
              <a:t>6</a:t>
            </a:r>
          </a:p>
        </p:txBody>
      </p:sp>
      <p:sp>
        <p:nvSpPr>
          <p:cNvPr id="22" name="TextBox 21"/>
          <p:cNvSpPr txBox="1"/>
          <p:nvPr/>
        </p:nvSpPr>
        <p:spPr>
          <a:xfrm>
            <a:off x="1325880" y="4983480"/>
            <a:ext cx="9875520" cy="457200"/>
          </a:xfrm>
          <a:prstGeom prst="rect">
            <a:avLst/>
          </a:prstGeom>
          <a:noFill/>
        </p:spPr>
        <p:txBody>
          <a:bodyPr wrap="square" lIns="0" rIns="0" tIns="0" bIns="0" anchor="t"/>
          <a:lstStyle/>
          <a:p>
            <a:pPr algn="l">
              <a:lnSpc>
                <a:spcPct val="100000"/>
              </a:lnSpc>
              <a:spcBef>
                <a:spcPts val="0"/>
              </a:spcBef>
              <a:spcAft>
                <a:spcPts val="0"/>
              </a:spcAft>
            </a:pPr>
            <a:r>
              <a:rPr sz="2000" b="0" i="0">
                <a:solidFill>
                  <a:srgbClr val="161412"/>
                </a:solidFill>
                <a:latin typeface="Arial"/>
                <a:ea typeface="Arial"/>
                <a:cs typeface="Arial"/>
              </a:rPr>
              <a:t>If anyone in the room looks actually upset, don't wait. Phones up first.</a:t>
            </a:r>
          </a:p>
        </p:txBody>
      </p:sp>
      <p:sp>
        <p:nvSpPr>
          <p:cNvPr id="23" name="TextBox 22"/>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4" name="TextBox 2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LINES</a:t>
            </a:r>
          </a:p>
        </p:txBody>
      </p:sp>
      <p:sp>
        <p:nvSpPr>
          <p:cNvPr id="4" name="TextBox 3"/>
          <p:cNvSpPr txBox="1"/>
          <p:nvPr/>
        </p:nvSpPr>
        <p:spPr>
          <a:xfrm>
            <a:off x="658368" y="685800"/>
            <a:ext cx="10972800" cy="41148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Say these. Don't decorate them.</a:t>
            </a:r>
          </a:p>
        </p:txBody>
      </p:sp>
      <p:sp>
        <p:nvSpPr>
          <p:cNvPr id="5" name="TextBox 4"/>
          <p:cNvSpPr txBox="1"/>
          <p:nvPr/>
        </p:nvSpPr>
        <p:spPr>
          <a:xfrm>
            <a:off x="685800" y="137160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OPEN</a:t>
            </a:r>
          </a:p>
        </p:txBody>
      </p:sp>
      <p:sp>
        <p:nvSpPr>
          <p:cNvPr id="6" name="TextBox 5"/>
          <p:cNvSpPr txBox="1"/>
          <p:nvPr/>
        </p:nvSpPr>
        <p:spPr>
          <a:xfrm>
            <a:off x="685800" y="1664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We changed our product. We need five volunteers outside.</a:t>
            </a:r>
          </a:p>
        </p:txBody>
      </p:sp>
      <p:sp>
        <p:nvSpPr>
          <p:cNvPr id="7" name="TextBox 6"/>
          <p:cNvSpPr txBox="1"/>
          <p:nvPr/>
        </p:nvSpPr>
        <p:spPr>
          <a:xfrm>
            <a:off x="685800" y="251460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EXERCISE</a:t>
            </a:r>
          </a:p>
        </p:txBody>
      </p:sp>
      <p:sp>
        <p:nvSpPr>
          <p:cNvPr id="8" name="TextBox 7"/>
          <p:cNvSpPr txBox="1"/>
          <p:nvPr/>
        </p:nvSpPr>
        <p:spPr>
          <a:xfrm>
            <a:off x="685800" y="2807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How your week went is enough. You don't owe an embarrassing story.</a:t>
            </a:r>
          </a:p>
        </p:txBody>
      </p:sp>
      <p:sp>
        <p:nvSpPr>
          <p:cNvPr id="9" name="TextBox 8"/>
          <p:cNvSpPr txBox="1"/>
          <p:nvPr/>
        </p:nvSpPr>
        <p:spPr>
          <a:xfrm>
            <a:off x="685800" y="365760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REVEAL</a:t>
            </a:r>
          </a:p>
        </p:txBody>
      </p:sp>
      <p:sp>
        <p:nvSpPr>
          <p:cNvPr id="10" name="TextBox 9"/>
          <p:cNvSpPr txBox="1"/>
          <p:nvPr/>
        </p:nvSpPr>
        <p:spPr>
          <a:xfrm>
            <a:off x="685800" y="3950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The volunteers were recording you.</a:t>
            </a:r>
          </a:p>
        </p:txBody>
      </p:sp>
      <p:sp>
        <p:nvSpPr>
          <p:cNvPr id="11" name="TextBox 10"/>
          <p:cNvSpPr txBox="1"/>
          <p:nvPr/>
        </p:nvSpPr>
        <p:spPr>
          <a:xfrm>
            <a:off x="685800" y="4800600"/>
            <a:ext cx="502920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CLEAR</a:t>
            </a:r>
          </a:p>
        </p:txBody>
      </p:sp>
      <p:sp>
        <p:nvSpPr>
          <p:cNvPr id="12" name="TextBox 11"/>
          <p:cNvSpPr txBox="1"/>
          <p:nvPr/>
        </p:nvSpPr>
        <p:spPr>
          <a:xfrm>
            <a:off x="685800" y="5093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Nobody recorded you. Nothing exists. Phones up.</a:t>
            </a:r>
          </a:p>
        </p:txBody>
      </p:sp>
      <p:sp>
        <p:nvSpPr>
          <p:cNvPr id="13" name="TextBox 12"/>
          <p:cNvSpPr txBox="1"/>
          <p:nvPr/>
        </p:nvSpPr>
        <p:spPr>
          <a:xfrm>
            <a:off x="6400800" y="137160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HINGE</a:t>
            </a:r>
          </a:p>
        </p:txBody>
      </p:sp>
      <p:sp>
        <p:nvSpPr>
          <p:cNvPr id="14" name="TextBox 13"/>
          <p:cNvSpPr txBox="1"/>
          <p:nvPr/>
        </p:nvSpPr>
        <p:spPr>
          <a:xfrm>
            <a:off x="6400800" y="1664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Your phone was on the table. You still would not have known.</a:t>
            </a:r>
          </a:p>
        </p:txBody>
      </p:sp>
      <p:sp>
        <p:nvSpPr>
          <p:cNvPr id="15" name="TextBox 14"/>
          <p:cNvSpPr txBox="1"/>
          <p:nvPr/>
        </p:nvSpPr>
        <p:spPr>
          <a:xfrm>
            <a:off x="6400800" y="251460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GLASSES</a:t>
            </a:r>
          </a:p>
        </p:txBody>
      </p:sp>
      <p:sp>
        <p:nvSpPr>
          <p:cNvPr id="16" name="TextBox 15"/>
          <p:cNvSpPr txBox="1"/>
          <p:nvPr/>
        </p:nvSpPr>
        <p:spPr>
          <a:xfrm>
            <a:off x="6400800" y="2807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Keep them. The LED is real. It only helps if you are looking.</a:t>
            </a:r>
          </a:p>
        </p:txBody>
      </p:sp>
      <p:sp>
        <p:nvSpPr>
          <p:cNvPr id="17" name="TextBox 16"/>
          <p:cNvSpPr txBox="1"/>
          <p:nvPr/>
        </p:nvSpPr>
        <p:spPr>
          <a:xfrm>
            <a:off x="6400800" y="365760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LIMIT</a:t>
            </a:r>
          </a:p>
        </p:txBody>
      </p:sp>
      <p:sp>
        <p:nvSpPr>
          <p:cNvPr id="18" name="TextBox 17"/>
          <p:cNvSpPr txBox="1"/>
          <p:nvPr/>
        </p:nvSpPr>
        <p:spPr>
          <a:xfrm>
            <a:off x="6400800" y="3950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We cannot catch a silent mic. We will not pretend we can.</a:t>
            </a:r>
          </a:p>
        </p:txBody>
      </p:sp>
      <p:sp>
        <p:nvSpPr>
          <p:cNvPr id="19" name="TextBox 18"/>
          <p:cNvSpPr txBox="1"/>
          <p:nvPr/>
        </p:nvSpPr>
        <p:spPr>
          <a:xfrm>
            <a:off x="6400800" y="4800600"/>
            <a:ext cx="5120640" cy="256032"/>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C4492C"/>
                </a:solidFill>
                <a:latin typeface="Arial"/>
                <a:ea typeface="Arial"/>
                <a:cs typeface="Arial"/>
              </a:rPr>
              <a:t>CLOSE</a:t>
            </a:r>
          </a:p>
        </p:txBody>
      </p:sp>
      <p:sp>
        <p:nvSpPr>
          <p:cNvPr id="20" name="TextBox 19"/>
          <p:cNvSpPr txBox="1"/>
          <p:nvPr/>
        </p:nvSpPr>
        <p:spPr>
          <a:xfrm>
            <a:off x="6400800" y="5093208"/>
            <a:ext cx="5120640" cy="6858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Know when someone is recording. Before the sentence, not after.</a:t>
            </a:r>
          </a:p>
        </p:txBody>
      </p:sp>
      <p:sp>
        <p:nvSpPr>
          <p:cNvPr id="21" name="TextBox 20"/>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2" name="TextBox 21"/>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IF IT BREAKS</a:t>
            </a:r>
          </a:p>
        </p:txBody>
      </p:sp>
      <p:sp>
        <p:nvSpPr>
          <p:cNvPr id="4" name="TextBox 3"/>
          <p:cNvSpPr txBox="1"/>
          <p:nvPr/>
        </p:nvSpPr>
        <p:spPr>
          <a:xfrm>
            <a:off x="658368" y="685800"/>
            <a:ext cx="10972800" cy="41148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Leave the bit. Keep the product.</a:t>
            </a:r>
          </a:p>
        </p:txBody>
      </p:sp>
      <p:sp>
        <p:nvSpPr>
          <p:cNvPr id="5" name="TextBox 4"/>
          <p:cNvSpPr txBox="1"/>
          <p:nvPr/>
        </p:nvSpPr>
        <p:spPr>
          <a:xfrm>
            <a:off x="658368" y="13258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Someone won't share</a:t>
            </a:r>
          </a:p>
        </p:txBody>
      </p:sp>
      <p:sp>
        <p:nvSpPr>
          <p:cNvPr id="6" name="TextBox 5"/>
          <p:cNvSpPr txBox="1"/>
          <p:nvPr/>
        </p:nvSpPr>
        <p:spPr>
          <a:xfrm>
            <a:off x="658368" y="17099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Say: then talk about lunch. Beside doesn't get to demand a confession. Move on.</a:t>
            </a:r>
          </a:p>
        </p:txBody>
      </p:sp>
      <p:sp>
        <p:nvSpPr>
          <p:cNvPr id="7" name="TextBox 6"/>
          <p:cNvSpPr txBox="1"/>
          <p:nvPr/>
        </p:nvSpPr>
        <p:spPr>
          <a:xfrm>
            <a:off x="6419088" y="13258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Someone is upset</a:t>
            </a:r>
          </a:p>
        </p:txBody>
      </p:sp>
      <p:sp>
        <p:nvSpPr>
          <p:cNvPr id="8" name="TextBox 7"/>
          <p:cNvSpPr txBox="1"/>
          <p:nvPr/>
        </p:nvSpPr>
        <p:spPr>
          <a:xfrm>
            <a:off x="6419088" y="17099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Clear slide, immediately. Skip the rest of the scare. Let them step out. Talk after class, not from the front.</a:t>
            </a:r>
          </a:p>
        </p:txBody>
      </p:sp>
      <p:sp>
        <p:nvSpPr>
          <p:cNvPr id="9" name="TextBox 8"/>
          <p:cNvSpPr txBox="1"/>
          <p:nvPr/>
        </p:nvSpPr>
        <p:spPr>
          <a:xfrm>
            <a:off x="658368" y="29260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A volunteer actually recorded</a:t>
            </a:r>
          </a:p>
        </p:txBody>
      </p:sp>
      <p:sp>
        <p:nvSpPr>
          <p:cNvPr id="10" name="TextBox 9"/>
          <p:cNvSpPr txBox="1"/>
          <p:nvPr/>
        </p:nvSpPr>
        <p:spPr>
          <a:xfrm>
            <a:off x="658368" y="33101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Stop. Delete it in front of the room. Tell the professor. Do not continue the pitch that day.</a:t>
            </a:r>
          </a:p>
        </p:txBody>
      </p:sp>
      <p:sp>
        <p:nvSpPr>
          <p:cNvPr id="11" name="TextBox 10"/>
          <p:cNvSpPr txBox="1"/>
          <p:nvPr/>
        </p:nvSpPr>
        <p:spPr>
          <a:xfrm>
            <a:off x="6419088" y="29260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professor hates it</a:t>
            </a:r>
          </a:p>
        </p:txBody>
      </p:sp>
      <p:sp>
        <p:nvSpPr>
          <p:cNvPr id="12" name="TextBox 11"/>
          <p:cNvSpPr txBox="1"/>
          <p:nvPr/>
        </p:nvSpPr>
        <p:spPr>
          <a:xfrm>
            <a:off x="6419088" y="33101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You still have slides 8 through 20. Start at Halo. The product does not need the scare to make sense.</a:t>
            </a:r>
          </a:p>
        </p:txBody>
      </p:sp>
      <p:sp>
        <p:nvSpPr>
          <p:cNvPr id="13" name="TextBox 12"/>
          <p:cNvSpPr txBox="1"/>
          <p:nvPr/>
        </p:nvSpPr>
        <p:spPr>
          <a:xfrm>
            <a:off x="658368" y="45262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They say glasses already blink</a:t>
            </a:r>
          </a:p>
        </p:txBody>
      </p:sp>
      <p:sp>
        <p:nvSpPr>
          <p:cNvPr id="14" name="TextBox 13"/>
          <p:cNvSpPr txBox="1"/>
          <p:nvPr/>
        </p:nvSpPr>
        <p:spPr>
          <a:xfrm>
            <a:off x="658368" y="49103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Agree. Go to the gap slide. Phones and voice memos are the hole. The LED faces the wrong way for a real conversation.</a:t>
            </a:r>
          </a:p>
        </p:txBody>
      </p:sp>
      <p:sp>
        <p:nvSpPr>
          <p:cNvPr id="15" name="TextBox 14"/>
          <p:cNvSpPr txBox="1"/>
          <p:nvPr/>
        </p:nvSpPr>
        <p:spPr>
          <a:xfrm>
            <a:off x="6419088" y="4526280"/>
            <a:ext cx="5486400" cy="365760"/>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They ask for a price or a market</a:t>
            </a:r>
          </a:p>
        </p:txBody>
      </p:sp>
      <p:sp>
        <p:nvSpPr>
          <p:cNvPr id="16" name="TextBox 15"/>
          <p:cNvSpPr txBox="1"/>
          <p:nvPr/>
        </p:nvSpPr>
        <p:spPr>
          <a:xfrm>
            <a:off x="6419088" y="4910328"/>
            <a:ext cx="5486400" cy="960120"/>
          </a:xfrm>
          <a:prstGeom prst="rect">
            <a:avLst/>
          </a:prstGeom>
          <a:noFill/>
        </p:spPr>
        <p:txBody>
          <a:bodyPr wrap="square" lIns="0" rIns="0" tIns="0" bIns="0" anchor="t"/>
          <a:lstStyle/>
          <a:p>
            <a:pPr algn="l">
              <a:lnSpc>
                <a:spcPct val="105000"/>
              </a:lnSpc>
              <a:spcBef>
                <a:spcPts val="0"/>
              </a:spcBef>
              <a:spcAft>
                <a:spcPts val="0"/>
              </a:spcAft>
            </a:pPr>
            <a:r>
              <a:rPr sz="1400" b="0" i="0">
                <a:solidFill>
                  <a:srgbClr val="6F685E"/>
                </a:solidFill>
                <a:latin typeface="Arial"/>
                <a:ea typeface="Arial"/>
                <a:cs typeface="Arial"/>
              </a:rPr>
              <a:t>We don't have a parts list yet. A price before that is fiction. Campus, one table, is the only market we claim.</a:t>
            </a:r>
          </a:p>
        </p:txBody>
      </p:sp>
      <p:sp>
        <p:nvSpPr>
          <p:cNvPr id="17" name="TextBox 16"/>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WRITTEN REPORT  ·  15 POINTS</a:t>
            </a:r>
          </a:p>
        </p:txBody>
      </p:sp>
      <p:sp>
        <p:nvSpPr>
          <p:cNvPr id="4" name="TextBox 3"/>
          <p:cNvSpPr txBox="1"/>
          <p:nvPr/>
        </p:nvSpPr>
        <p:spPr>
          <a:xfrm>
            <a:off x="658368" y="621792"/>
            <a:ext cx="10972800" cy="365760"/>
          </a:xfrm>
          <a:prstGeom prst="rect">
            <a:avLst/>
          </a:prstGeom>
          <a:noFill/>
        </p:spPr>
        <p:txBody>
          <a:bodyPr wrap="square" lIns="0" rIns="0" tIns="0" bIns="0" anchor="t"/>
          <a:lstStyle/>
          <a:p>
            <a:pPr algn="l">
              <a:lnSpc>
                <a:spcPct val="100000"/>
              </a:lnSpc>
              <a:spcBef>
                <a:spcPts val="0"/>
              </a:spcBef>
              <a:spcAft>
                <a:spcPts val="0"/>
              </a:spcAft>
            </a:pPr>
            <a:r>
              <a:rPr sz="2600" b="1" i="0">
                <a:solidFill>
                  <a:srgbClr val="161412"/>
                </a:solidFill>
                <a:latin typeface="Arial"/>
                <a:ea typeface="Arial"/>
                <a:cs typeface="Arial"/>
              </a:rPr>
              <a:t>Due Sunday, May 17, 2026.</a:t>
            </a:r>
          </a:p>
        </p:txBody>
      </p:sp>
      <p:sp>
        <p:nvSpPr>
          <p:cNvPr id="5" name="TextBox 4"/>
          <p:cNvSpPr txBox="1"/>
          <p:nvPr/>
        </p:nvSpPr>
        <p:spPr>
          <a:xfrm>
            <a:off x="658368" y="118872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1</a:t>
            </a:r>
          </a:p>
        </p:txBody>
      </p:sp>
      <p:sp>
        <p:nvSpPr>
          <p:cNvPr id="6" name="TextBox 5"/>
          <p:cNvSpPr txBox="1"/>
          <p:nvPr/>
        </p:nvSpPr>
        <p:spPr>
          <a:xfrm>
            <a:off x="1115568" y="118872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scene</a:t>
            </a:r>
          </a:p>
        </p:txBody>
      </p:sp>
      <p:sp>
        <p:nvSpPr>
          <p:cNvPr id="7" name="TextBox 6"/>
          <p:cNvSpPr txBox="1"/>
          <p:nvPr/>
        </p:nvSpPr>
        <p:spPr>
          <a:xfrm>
            <a:off x="1115568" y="148132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What the room was, including that several people like recording glasses.</a:t>
            </a:r>
          </a:p>
        </p:txBody>
      </p:sp>
      <p:sp>
        <p:nvSpPr>
          <p:cNvPr id="8" name="TextBox 7"/>
          <p:cNvSpPr txBox="1"/>
          <p:nvPr/>
        </p:nvSpPr>
        <p:spPr>
          <a:xfrm>
            <a:off x="658368" y="214884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2</a:t>
            </a:r>
          </a:p>
        </p:txBody>
      </p:sp>
      <p:sp>
        <p:nvSpPr>
          <p:cNvPr id="9" name="TextBox 8"/>
          <p:cNvSpPr txBox="1"/>
          <p:nvPr/>
        </p:nvSpPr>
        <p:spPr>
          <a:xfrm>
            <a:off x="1115568" y="214884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exercise</a:t>
            </a:r>
          </a:p>
        </p:txBody>
      </p:sp>
      <p:sp>
        <p:nvSpPr>
          <p:cNvPr id="10" name="TextBox 9"/>
          <p:cNvSpPr txBox="1"/>
          <p:nvPr/>
        </p:nvSpPr>
        <p:spPr>
          <a:xfrm>
            <a:off x="1115568" y="244144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What you staged, what you refused to record, and how the room actually reacted.</a:t>
            </a:r>
          </a:p>
        </p:txBody>
      </p:sp>
      <p:sp>
        <p:nvSpPr>
          <p:cNvPr id="11" name="TextBox 10"/>
          <p:cNvSpPr txBox="1"/>
          <p:nvPr/>
        </p:nvSpPr>
        <p:spPr>
          <a:xfrm>
            <a:off x="658368" y="310896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3</a:t>
            </a:r>
          </a:p>
        </p:txBody>
      </p:sp>
      <p:sp>
        <p:nvSpPr>
          <p:cNvPr id="12" name="TextBox 11"/>
          <p:cNvSpPr txBox="1"/>
          <p:nvPr/>
        </p:nvSpPr>
        <p:spPr>
          <a:xfrm>
            <a:off x="1115568" y="310896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requirement</a:t>
            </a:r>
          </a:p>
        </p:txBody>
      </p:sp>
      <p:sp>
        <p:nvSpPr>
          <p:cNvPr id="13" name="TextBox 12"/>
          <p:cNvSpPr txBox="1"/>
          <p:nvPr/>
        </p:nvSpPr>
        <p:spPr>
          <a:xfrm>
            <a:off x="1115568" y="340156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Phone down, acting normal, signal during the conversation, no accusation.</a:t>
            </a:r>
          </a:p>
        </p:txBody>
      </p:sp>
      <p:sp>
        <p:nvSpPr>
          <p:cNvPr id="14" name="TextBox 13"/>
          <p:cNvSpPr txBox="1"/>
          <p:nvPr/>
        </p:nvSpPr>
        <p:spPr>
          <a:xfrm>
            <a:off x="658368" y="406908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4</a:t>
            </a:r>
          </a:p>
        </p:txBody>
      </p:sp>
      <p:sp>
        <p:nvSpPr>
          <p:cNvPr id="15" name="TextBox 14"/>
          <p:cNvSpPr txBox="1"/>
          <p:nvPr/>
        </p:nvSpPr>
        <p:spPr>
          <a:xfrm>
            <a:off x="1115568" y="406908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product</a:t>
            </a:r>
          </a:p>
        </p:txBody>
      </p:sp>
      <p:sp>
        <p:nvSpPr>
          <p:cNvPr id="16" name="TextBox 15"/>
          <p:cNvSpPr txBox="1"/>
          <p:nvPr/>
        </p:nvSpPr>
        <p:spPr>
          <a:xfrm>
            <a:off x="1115568" y="436168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Keychain, light, buzz, snooze, double-press. Working name and why.</a:t>
            </a:r>
          </a:p>
        </p:txBody>
      </p:sp>
      <p:sp>
        <p:nvSpPr>
          <p:cNvPr id="17" name="TextBox 16"/>
          <p:cNvSpPr txBox="1"/>
          <p:nvPr/>
        </p:nvSpPr>
        <p:spPr>
          <a:xfrm>
            <a:off x="658368" y="502920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5</a:t>
            </a:r>
          </a:p>
        </p:txBody>
      </p:sp>
      <p:sp>
        <p:nvSpPr>
          <p:cNvPr id="18" name="TextBox 17"/>
          <p:cNvSpPr txBox="1"/>
          <p:nvPr/>
        </p:nvSpPr>
        <p:spPr>
          <a:xfrm>
            <a:off x="1115568" y="502920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What is real</a:t>
            </a:r>
          </a:p>
        </p:txBody>
      </p:sp>
      <p:sp>
        <p:nvSpPr>
          <p:cNvPr id="19" name="TextBox 18"/>
          <p:cNvSpPr txBox="1"/>
          <p:nvPr/>
        </p:nvSpPr>
        <p:spPr>
          <a:xfrm>
            <a:off x="1115568" y="532180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The beacon. Range of a few meters. A flag, not a clip.</a:t>
            </a:r>
          </a:p>
        </p:txBody>
      </p:sp>
      <p:sp>
        <p:nvSpPr>
          <p:cNvPr id="20" name="TextBox 19"/>
          <p:cNvSpPr txBox="1"/>
          <p:nvPr/>
        </p:nvSpPr>
        <p:spPr>
          <a:xfrm>
            <a:off x="6419088" y="118872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6</a:t>
            </a:r>
          </a:p>
        </p:txBody>
      </p:sp>
      <p:sp>
        <p:nvSpPr>
          <p:cNvPr id="21" name="TextBox 20"/>
          <p:cNvSpPr txBox="1"/>
          <p:nvPr/>
        </p:nvSpPr>
        <p:spPr>
          <a:xfrm>
            <a:off x="6876288" y="118872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What is a test</a:t>
            </a:r>
          </a:p>
        </p:txBody>
      </p:sp>
      <p:sp>
        <p:nvSpPr>
          <p:cNvPr id="22" name="TextBox 21"/>
          <p:cNvSpPr txBox="1"/>
          <p:nvPr/>
        </p:nvSpPr>
        <p:spPr>
          <a:xfrm>
            <a:off x="6876288" y="148132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Glint. False alarms from ordinary glasses. Kill condition.</a:t>
            </a:r>
          </a:p>
        </p:txBody>
      </p:sp>
      <p:sp>
        <p:nvSpPr>
          <p:cNvPr id="23" name="TextBox 22"/>
          <p:cNvSpPr txBox="1"/>
          <p:nvPr/>
        </p:nvSpPr>
        <p:spPr>
          <a:xfrm>
            <a:off x="6419088" y="214884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7</a:t>
            </a:r>
          </a:p>
        </p:txBody>
      </p:sp>
      <p:sp>
        <p:nvSpPr>
          <p:cNvPr id="24" name="TextBox 23"/>
          <p:cNvSpPr txBox="1"/>
          <p:nvPr/>
        </p:nvSpPr>
        <p:spPr>
          <a:xfrm>
            <a:off x="6876288" y="214884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What you will not claim</a:t>
            </a:r>
          </a:p>
        </p:txBody>
      </p:sp>
      <p:sp>
        <p:nvSpPr>
          <p:cNvPr id="25" name="TextBox 24"/>
          <p:cNvSpPr txBox="1"/>
          <p:nvPr/>
        </p:nvSpPr>
        <p:spPr>
          <a:xfrm>
            <a:off x="6876288" y="244144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Silent mics. Names. Bypassing a capture LED. A price. A market size.</a:t>
            </a:r>
          </a:p>
        </p:txBody>
      </p:sp>
      <p:sp>
        <p:nvSpPr>
          <p:cNvPr id="26" name="TextBox 25"/>
          <p:cNvSpPr txBox="1"/>
          <p:nvPr/>
        </p:nvSpPr>
        <p:spPr>
          <a:xfrm>
            <a:off x="6419088" y="310896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8</a:t>
            </a:r>
          </a:p>
        </p:txBody>
      </p:sp>
      <p:sp>
        <p:nvSpPr>
          <p:cNvPr id="27" name="TextBox 26"/>
          <p:cNvSpPr txBox="1"/>
          <p:nvPr/>
        </p:nvSpPr>
        <p:spPr>
          <a:xfrm>
            <a:off x="6876288" y="310896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The glasses offer</a:t>
            </a:r>
          </a:p>
        </p:txBody>
      </p:sp>
      <p:sp>
        <p:nvSpPr>
          <p:cNvPr id="28" name="TextBox 27"/>
          <p:cNvSpPr txBox="1"/>
          <p:nvPr/>
        </p:nvSpPr>
        <p:spPr>
          <a:xfrm>
            <a:off x="6876288" y="340156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Willing capture becomes the normal-looking case.</a:t>
            </a:r>
          </a:p>
        </p:txBody>
      </p:sp>
      <p:sp>
        <p:nvSpPr>
          <p:cNvPr id="29" name="TextBox 28"/>
          <p:cNvSpPr txBox="1"/>
          <p:nvPr/>
        </p:nvSpPr>
        <p:spPr>
          <a:xfrm>
            <a:off x="6419088" y="406908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9</a:t>
            </a:r>
          </a:p>
        </p:txBody>
      </p:sp>
      <p:sp>
        <p:nvSpPr>
          <p:cNvPr id="30" name="TextBox 29"/>
          <p:cNvSpPr txBox="1"/>
          <p:nvPr/>
        </p:nvSpPr>
        <p:spPr>
          <a:xfrm>
            <a:off x="6876288" y="406908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Evidence</a:t>
            </a:r>
          </a:p>
        </p:txBody>
      </p:sp>
      <p:sp>
        <p:nvSpPr>
          <p:cNvPr id="31" name="TextBox 30"/>
          <p:cNvSpPr txBox="1"/>
          <p:nvPr/>
        </p:nvSpPr>
        <p:spPr>
          <a:xfrm>
            <a:off x="6876288" y="436168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The after-class question, separate from the flinch. Quotes only with permission.</a:t>
            </a:r>
          </a:p>
        </p:txBody>
      </p:sp>
      <p:sp>
        <p:nvSpPr>
          <p:cNvPr id="32" name="TextBox 31"/>
          <p:cNvSpPr txBox="1"/>
          <p:nvPr/>
        </p:nvSpPr>
        <p:spPr>
          <a:xfrm>
            <a:off x="6419088" y="5029200"/>
            <a:ext cx="411480" cy="274320"/>
          </a:xfrm>
          <a:prstGeom prst="rect">
            <a:avLst/>
          </a:prstGeom>
          <a:noFill/>
        </p:spPr>
        <p:txBody>
          <a:bodyPr wrap="square" lIns="0" rIns="0" tIns="0" bIns="0" anchor="t"/>
          <a:lstStyle/>
          <a:p>
            <a:pPr algn="l">
              <a:lnSpc>
                <a:spcPct val="100000"/>
              </a:lnSpc>
              <a:spcBef>
                <a:spcPts val="0"/>
              </a:spcBef>
              <a:spcAft>
                <a:spcPts val="0"/>
              </a:spcAft>
            </a:pPr>
            <a:r>
              <a:rPr sz="1400" b="1" i="0">
                <a:solidFill>
                  <a:srgbClr val="8A5200"/>
                </a:solidFill>
                <a:latin typeface="Arial"/>
                <a:ea typeface="Arial"/>
                <a:cs typeface="Arial"/>
              </a:rPr>
              <a:t>10</a:t>
            </a:r>
          </a:p>
        </p:txBody>
      </p:sp>
      <p:sp>
        <p:nvSpPr>
          <p:cNvPr id="33" name="TextBox 32"/>
          <p:cNvSpPr txBox="1"/>
          <p:nvPr/>
        </p:nvSpPr>
        <p:spPr>
          <a:xfrm>
            <a:off x="6876288" y="5029200"/>
            <a:ext cx="5029200" cy="274320"/>
          </a:xfrm>
          <a:prstGeom prst="rect">
            <a:avLst/>
          </a:prstGeom>
          <a:noFill/>
        </p:spPr>
        <p:txBody>
          <a:bodyPr wrap="square" lIns="0" rIns="0" tIns="0" bIns="0" anchor="t"/>
          <a:lstStyle/>
          <a:p>
            <a:pPr algn="l">
              <a:lnSpc>
                <a:spcPct val="100000"/>
              </a:lnSpc>
              <a:spcBef>
                <a:spcPts val="0"/>
              </a:spcBef>
              <a:spcAft>
                <a:spcPts val="0"/>
              </a:spcAft>
            </a:pPr>
            <a:r>
              <a:rPr sz="1500" b="1" i="0">
                <a:solidFill>
                  <a:srgbClr val="161412"/>
                </a:solidFill>
                <a:latin typeface="Arial"/>
                <a:ea typeface="Arial"/>
                <a:cs typeface="Arial"/>
              </a:rPr>
              <a:t>Team</a:t>
            </a:r>
          </a:p>
        </p:txBody>
      </p:sp>
      <p:sp>
        <p:nvSpPr>
          <p:cNvPr id="34" name="TextBox 33"/>
          <p:cNvSpPr txBox="1"/>
          <p:nvPr/>
        </p:nvSpPr>
        <p:spPr>
          <a:xfrm>
            <a:off x="6876288" y="5321808"/>
            <a:ext cx="5029200" cy="502920"/>
          </a:xfrm>
          <a:prstGeom prst="rect">
            <a:avLst/>
          </a:prstGeom>
          <a:noFill/>
        </p:spPr>
        <p:txBody>
          <a:bodyPr wrap="square" lIns="0" rIns="0" tIns="0" bIns="0" anchor="t"/>
          <a:lstStyle/>
          <a:p>
            <a:pPr algn="l">
              <a:lnSpc>
                <a:spcPct val="100000"/>
              </a:lnSpc>
              <a:spcBef>
                <a:spcPts val="0"/>
              </a:spcBef>
              <a:spcAft>
                <a:spcPts val="0"/>
              </a:spcAft>
            </a:pPr>
            <a:r>
              <a:rPr sz="1300" b="0" i="0">
                <a:solidFill>
                  <a:srgbClr val="6F685E"/>
                </a:solidFill>
                <a:latin typeface="Arial"/>
                <a:ea typeface="Arial"/>
                <a:cs typeface="Arial"/>
              </a:rPr>
              <a:t>Who built, who spoke, what you would prototype next.</a:t>
            </a:r>
          </a:p>
        </p:txBody>
      </p:sp>
      <p:sp>
        <p:nvSpPr>
          <p:cNvPr id="35" name="TextBox 34"/>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36" name="TextBox 35"/>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29184"/>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C4492C"/>
                </a:solidFill>
                <a:latin typeface="Arial"/>
                <a:ea typeface="Arial"/>
                <a:cs typeface="Arial"/>
              </a:rPr>
              <a:t>FILL IN BEFORE YOU PRESENT</a:t>
            </a:r>
          </a:p>
        </p:txBody>
      </p:sp>
      <p:sp>
        <p:nvSpPr>
          <p:cNvPr id="4" name="TextBox 3"/>
          <p:cNvSpPr txBox="1"/>
          <p:nvPr/>
        </p:nvSpPr>
        <p:spPr>
          <a:xfrm>
            <a:off x="658368" y="96012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Names</a:t>
            </a:r>
          </a:p>
        </p:txBody>
      </p:sp>
      <p:sp>
        <p:nvSpPr>
          <p:cNvPr id="5" name="TextBox 4"/>
          <p:cNvSpPr txBox="1"/>
          <p:nvPr/>
        </p:nvSpPr>
        <p:spPr>
          <a:xfrm>
            <a:off x="658368" y="128930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Three names on the Halo title. Speaker A, B, and C below.</a:t>
            </a:r>
          </a:p>
        </p:txBody>
      </p:sp>
      <p:sp>
        <p:nvSpPr>
          <p:cNvPr id="6" name="TextBox 5"/>
          <p:cNvSpPr txBox="1"/>
          <p:nvPr/>
        </p:nvSpPr>
        <p:spPr>
          <a:xfrm>
            <a:off x="6419088" y="96012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professor</a:t>
            </a:r>
          </a:p>
        </p:txBody>
      </p:sp>
      <p:sp>
        <p:nvSpPr>
          <p:cNvPr id="7" name="TextBox 6"/>
          <p:cNvSpPr txBox="1"/>
          <p:nvPr/>
        </p:nvSpPr>
        <p:spPr>
          <a:xfrm>
            <a:off x="6419088" y="128930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Tell them the day before. The black slides are a feeling. Nobody records. If they veto it, start at slide 8.</a:t>
            </a:r>
          </a:p>
        </p:txBody>
      </p:sp>
      <p:sp>
        <p:nvSpPr>
          <p:cNvPr id="8" name="TextBox 7"/>
          <p:cNvSpPr txBox="1"/>
          <p:nvPr/>
        </p:nvSpPr>
        <p:spPr>
          <a:xfrm>
            <a:off x="658368" y="224028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A prop</a:t>
            </a:r>
          </a:p>
        </p:txBody>
      </p:sp>
      <p:sp>
        <p:nvSpPr>
          <p:cNvPr id="9" name="TextBox 8"/>
          <p:cNvSpPr txBox="1"/>
          <p:nvPr/>
        </p:nvSpPr>
        <p:spPr>
          <a:xfrm>
            <a:off x="658368" y="256946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Cardboard fob, or a real keychain with a dot of amber tape. Hold it up at slide 12.</a:t>
            </a:r>
          </a:p>
        </p:txBody>
      </p:sp>
      <p:sp>
        <p:nvSpPr>
          <p:cNvPr id="10" name="TextBox 9"/>
          <p:cNvSpPr txBox="1"/>
          <p:nvPr/>
        </p:nvSpPr>
        <p:spPr>
          <a:xfrm>
            <a:off x="6419088" y="2240280"/>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beacon, honestly</a:t>
            </a:r>
          </a:p>
        </p:txBody>
      </p:sp>
      <p:sp>
        <p:nvSpPr>
          <p:cNvPr id="11" name="TextBox 10"/>
          <p:cNvSpPr txBox="1"/>
          <p:nvPr/>
        </p:nvSpPr>
        <p:spPr>
          <a:xfrm>
            <a:off x="6419088" y="256946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If you have not built one, do not flicker an LED and call it Bluetooth. Say 'this is the behavior.'</a:t>
            </a:r>
          </a:p>
        </p:txBody>
      </p:sp>
      <p:sp>
        <p:nvSpPr>
          <p:cNvPr id="12" name="TextBox 11"/>
          <p:cNvSpPr txBox="1"/>
          <p:nvPr/>
        </p:nvSpPr>
        <p:spPr>
          <a:xfrm>
            <a:off x="658368" y="352043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survey line</a:t>
            </a:r>
          </a:p>
        </p:txBody>
      </p:sp>
      <p:sp>
        <p:nvSpPr>
          <p:cNvPr id="13" name="TextBox 12"/>
          <p:cNvSpPr txBox="1"/>
          <p:nvPr/>
        </p:nvSpPr>
        <p:spPr>
          <a:xfrm>
            <a:off x="658368" y="384962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One question after class, on paper, unsigned unless they want credit: want this, or just startled?</a:t>
            </a:r>
          </a:p>
        </p:txBody>
      </p:sp>
      <p:sp>
        <p:nvSpPr>
          <p:cNvPr id="14" name="TextBox 13"/>
          <p:cNvSpPr txBox="1"/>
          <p:nvPr/>
        </p:nvSpPr>
        <p:spPr>
          <a:xfrm>
            <a:off x="6419088" y="352043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The name</a:t>
            </a:r>
          </a:p>
        </p:txBody>
      </p:sp>
      <p:sp>
        <p:nvSpPr>
          <p:cNvPr id="15" name="TextBox 14"/>
          <p:cNvSpPr txBox="1"/>
          <p:nvPr/>
        </p:nvSpPr>
        <p:spPr>
          <a:xfrm>
            <a:off x="6419088" y="3849624"/>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Halo is a placeholder. Pick it or replace it everywhere. The drawing has the word on it.</a:t>
            </a:r>
          </a:p>
        </p:txBody>
      </p:sp>
      <p:sp>
        <p:nvSpPr>
          <p:cNvPr id="16" name="TextBox 15"/>
          <p:cNvSpPr txBox="1"/>
          <p:nvPr/>
        </p:nvSpPr>
        <p:spPr>
          <a:xfrm>
            <a:off x="658368" y="480059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Citations</a:t>
            </a:r>
          </a:p>
        </p:txBody>
      </p:sp>
      <p:sp>
        <p:nvSpPr>
          <p:cNvPr id="17" name="TextBox 16"/>
          <p:cNvSpPr txBox="1"/>
          <p:nvPr/>
        </p:nvSpPr>
        <p:spPr>
          <a:xfrm>
            <a:off x="658368" y="5129783"/>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Read the two Meta pages on the sources slide the morning of. Quote the LED, don't paraphrase from memory.</a:t>
            </a:r>
          </a:p>
        </p:txBody>
      </p:sp>
      <p:sp>
        <p:nvSpPr>
          <p:cNvPr id="18" name="TextBox 17"/>
          <p:cNvSpPr txBox="1"/>
          <p:nvPr/>
        </p:nvSpPr>
        <p:spPr>
          <a:xfrm>
            <a:off x="6419088" y="4800599"/>
            <a:ext cx="5486400" cy="292608"/>
          </a:xfrm>
          <a:prstGeom prst="rect">
            <a:avLst/>
          </a:prstGeom>
          <a:noFill/>
        </p:spPr>
        <p:txBody>
          <a:bodyPr wrap="square" lIns="0" rIns="0" tIns="0" bIns="0" anchor="t"/>
          <a:lstStyle/>
          <a:p>
            <a:pPr algn="l">
              <a:lnSpc>
                <a:spcPct val="100000"/>
              </a:lnSpc>
              <a:spcBef>
                <a:spcPts val="0"/>
              </a:spcBef>
              <a:spcAft>
                <a:spcPts val="0"/>
              </a:spcAft>
            </a:pPr>
            <a:r>
              <a:rPr sz="1600" b="1" i="0">
                <a:solidFill>
                  <a:srgbClr val="161412"/>
                </a:solidFill>
                <a:latin typeface="Arial"/>
                <a:ea typeface="Arial"/>
                <a:cs typeface="Arial"/>
              </a:rPr>
              <a:t>Friday upload</a:t>
            </a:r>
          </a:p>
        </p:txBody>
      </p:sp>
      <p:sp>
        <p:nvSpPr>
          <p:cNvPr id="19" name="TextBox 18"/>
          <p:cNvSpPr txBox="1"/>
          <p:nvPr/>
        </p:nvSpPr>
        <p:spPr>
          <a:xfrm>
            <a:off x="6419088" y="5129783"/>
            <a:ext cx="5486400" cy="777240"/>
          </a:xfrm>
          <a:prstGeom prst="rect">
            <a:avLst/>
          </a:prstGeom>
          <a:noFill/>
        </p:spPr>
        <p:txBody>
          <a:bodyPr wrap="square" lIns="0" rIns="0" tIns="0" bIns="0" anchor="t"/>
          <a:lstStyle/>
          <a:p>
            <a:pPr algn="l">
              <a:lnSpc>
                <a:spcPct val="102000"/>
              </a:lnSpc>
              <a:spcBef>
                <a:spcPts val="0"/>
              </a:spcBef>
              <a:spcAft>
                <a:spcPts val="0"/>
              </a:spcAft>
            </a:pPr>
            <a:r>
              <a:rPr sz="1400" b="0" i="0">
                <a:solidFill>
                  <a:srgbClr val="6F685E"/>
                </a:solidFill>
                <a:latin typeface="Arial"/>
                <a:ea typeface="Arial"/>
                <a:cs typeface="Arial"/>
              </a:rPr>
              <a:t>Confirm whether 5:10pm Friday is this file. Export PDF as a backup in case the room's computer hates pptx fonts.</a:t>
            </a:r>
          </a:p>
        </p:txBody>
      </p:sp>
      <p:sp>
        <p:nvSpPr>
          <p:cNvPr id="20" name="TextBox 19"/>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21" name="TextBox 20"/>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WHO SPEAKS</a:t>
            </a:r>
          </a:p>
        </p:txBody>
      </p:sp>
      <p:sp>
        <p:nvSpPr>
          <p:cNvPr id="4" name="TextBox 3"/>
          <p:cNvSpPr txBox="1"/>
          <p:nvPr/>
        </p:nvSpPr>
        <p:spPr>
          <a:xfrm>
            <a:off x="658368" y="731520"/>
            <a:ext cx="10972800" cy="109728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161412"/>
                </a:solidFill>
                <a:latin typeface="Arial"/>
                <a:ea typeface="Arial"/>
                <a:cs typeface="Arial"/>
              </a:rPr>
              <a:t>One person owns the scare.</a:t>
            </a:r>
          </a:p>
          <a:p>
            <a:pPr algn="l">
              <a:lnSpc>
                <a:spcPct val="100000"/>
              </a:lnSpc>
              <a:spcBef>
                <a:spcPts val="0"/>
              </a:spcBef>
              <a:spcAft>
                <a:spcPts val="0"/>
              </a:spcAft>
            </a:pPr>
            <a:r>
              <a:rPr sz="2800" b="1" i="0">
                <a:solidFill>
                  <a:srgbClr val="161412"/>
                </a:solidFill>
                <a:latin typeface="Arial"/>
                <a:ea typeface="Arial"/>
                <a:cs typeface="Arial"/>
              </a:rPr>
              <a:t>They also own the apology.</a:t>
            </a:r>
          </a:p>
        </p:txBody>
      </p:sp>
      <p:sp>
        <p:nvSpPr>
          <p:cNvPr id="5" name="Rounded Rectangle 4"/>
          <p:cNvSpPr/>
          <p:nvPr/>
        </p:nvSpPr>
        <p:spPr>
          <a:xfrm>
            <a:off x="685800" y="2286000"/>
            <a:ext cx="3566160" cy="30175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46888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200"/>
                </a:solidFill>
                <a:latin typeface="Arial"/>
                <a:ea typeface="Arial"/>
                <a:cs typeface="Arial"/>
              </a:rPr>
              <a:t>A</a:t>
            </a:r>
          </a:p>
        </p:txBody>
      </p:sp>
      <p:sp>
        <p:nvSpPr>
          <p:cNvPr id="7" name="TextBox 6"/>
          <p:cNvSpPr txBox="1"/>
          <p:nvPr/>
        </p:nvSpPr>
        <p:spPr>
          <a:xfrm>
            <a:off x="914400" y="3017520"/>
            <a:ext cx="31089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setup</a:t>
            </a:r>
          </a:p>
        </p:txBody>
      </p:sp>
      <p:sp>
        <p:nvSpPr>
          <p:cNvPr id="8" name="TextBox 7"/>
          <p:cNvSpPr txBox="1"/>
          <p:nvPr/>
        </p:nvSpPr>
        <p:spPr>
          <a:xfrm>
            <a:off x="914400" y="3566160"/>
            <a:ext cx="3108960" cy="13716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Beside, the volunteers, the hallway, phones down. Ends when the timer starts.</a:t>
            </a:r>
          </a:p>
        </p:txBody>
      </p:sp>
      <p:sp>
        <p:nvSpPr>
          <p:cNvPr id="9" name="Rounded Rectangle 8"/>
          <p:cNvSpPr/>
          <p:nvPr/>
        </p:nvSpPr>
        <p:spPr>
          <a:xfrm>
            <a:off x="4434840" y="2286000"/>
            <a:ext cx="3566160" cy="30175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46888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200"/>
                </a:solidFill>
                <a:latin typeface="Arial"/>
                <a:ea typeface="Arial"/>
                <a:cs typeface="Arial"/>
              </a:rPr>
              <a:t>B</a:t>
            </a:r>
          </a:p>
        </p:txBody>
      </p:sp>
      <p:sp>
        <p:nvSpPr>
          <p:cNvPr id="11" name="TextBox 10"/>
          <p:cNvSpPr txBox="1"/>
          <p:nvPr/>
        </p:nvSpPr>
        <p:spPr>
          <a:xfrm>
            <a:off x="4663440" y="3017520"/>
            <a:ext cx="31089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two seconds</a:t>
            </a:r>
          </a:p>
        </p:txBody>
      </p:sp>
      <p:sp>
        <p:nvSpPr>
          <p:cNvPr id="12" name="TextBox 11"/>
          <p:cNvSpPr txBox="1"/>
          <p:nvPr/>
        </p:nvSpPr>
        <p:spPr>
          <a:xfrm>
            <a:off x="4663440" y="3566160"/>
            <a:ext cx="3108960" cy="13716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Both black slides and the clear slide. Calm voice. No jokes. If this person freezes, A reads the clear line.</a:t>
            </a:r>
          </a:p>
        </p:txBody>
      </p:sp>
      <p:sp>
        <p:nvSpPr>
          <p:cNvPr id="13" name="Rounded Rectangle 12"/>
          <p:cNvSpPr/>
          <p:nvPr/>
        </p:nvSpPr>
        <p:spPr>
          <a:xfrm>
            <a:off x="8183879" y="2286000"/>
            <a:ext cx="3566160" cy="301752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468880"/>
            <a:ext cx="3108960" cy="457200"/>
          </a:xfrm>
          <a:prstGeom prst="rect">
            <a:avLst/>
          </a:prstGeom>
          <a:noFill/>
        </p:spPr>
        <p:txBody>
          <a:bodyPr wrap="square" lIns="0" rIns="0" tIns="0" bIns="0" anchor="t"/>
          <a:lstStyle/>
          <a:p>
            <a:pPr algn="l">
              <a:lnSpc>
                <a:spcPct val="100000"/>
              </a:lnSpc>
              <a:spcBef>
                <a:spcPts val="0"/>
              </a:spcBef>
              <a:spcAft>
                <a:spcPts val="0"/>
              </a:spcAft>
            </a:pPr>
            <a:r>
              <a:rPr sz="2800" b="1" i="0">
                <a:solidFill>
                  <a:srgbClr val="8A5200"/>
                </a:solidFill>
                <a:latin typeface="Arial"/>
                <a:ea typeface="Arial"/>
                <a:cs typeface="Arial"/>
              </a:rPr>
              <a:t>C</a:t>
            </a:r>
          </a:p>
        </p:txBody>
      </p:sp>
      <p:sp>
        <p:nvSpPr>
          <p:cNvPr id="15" name="TextBox 14"/>
          <p:cNvSpPr txBox="1"/>
          <p:nvPr/>
        </p:nvSpPr>
        <p:spPr>
          <a:xfrm>
            <a:off x="8412480" y="3017520"/>
            <a:ext cx="3108960" cy="411480"/>
          </a:xfrm>
          <a:prstGeom prst="rect">
            <a:avLst/>
          </a:prstGeom>
          <a:noFill/>
        </p:spPr>
        <p:txBody>
          <a:bodyPr wrap="square" lIns="0" rIns="0" tIns="0" bIns="0" anchor="t"/>
          <a:lstStyle/>
          <a:p>
            <a:pPr algn="l">
              <a:lnSpc>
                <a:spcPct val="100000"/>
              </a:lnSpc>
              <a:spcBef>
                <a:spcPts val="0"/>
              </a:spcBef>
              <a:spcAft>
                <a:spcPts val="0"/>
              </a:spcAft>
            </a:pPr>
            <a:r>
              <a:rPr sz="2000" b="1" i="0">
                <a:solidFill>
                  <a:srgbClr val="161412"/>
                </a:solidFill>
                <a:latin typeface="Arial"/>
                <a:ea typeface="Arial"/>
                <a:cs typeface="Arial"/>
              </a:rPr>
              <a:t>The product</a:t>
            </a:r>
          </a:p>
        </p:txBody>
      </p:sp>
      <p:sp>
        <p:nvSpPr>
          <p:cNvPr id="16" name="TextBox 15"/>
          <p:cNvSpPr txBox="1"/>
          <p:nvPr/>
        </p:nvSpPr>
        <p:spPr>
          <a:xfrm>
            <a:off x="8412480" y="3566160"/>
            <a:ext cx="3108960" cy="1371600"/>
          </a:xfrm>
          <a:prstGeom prst="rect">
            <a:avLst/>
          </a:prstGeom>
          <a:noFill/>
        </p:spPr>
        <p:txBody>
          <a:bodyPr wrap="square" lIns="0" rIns="0" tIns="0" bIns="0" anchor="t"/>
          <a:lstStyle/>
          <a:p>
            <a:pPr algn="l">
              <a:lnSpc>
                <a:spcPct val="105000"/>
              </a:lnSpc>
              <a:spcBef>
                <a:spcPts val="0"/>
              </a:spcBef>
              <a:spcAft>
                <a:spcPts val="0"/>
              </a:spcAft>
            </a:pPr>
            <a:r>
              <a:rPr sz="1500" b="0" i="0">
                <a:solidFill>
                  <a:srgbClr val="6F685E"/>
                </a:solidFill>
                <a:latin typeface="Arial"/>
                <a:ea typeface="Arial"/>
                <a:cs typeface="Arial"/>
              </a:rPr>
              <a:t>From the requirement slide through questions. Does not re-tell the stories.</a:t>
            </a:r>
          </a:p>
        </p:txBody>
      </p:sp>
      <p:sp>
        <p:nvSpPr>
          <p:cNvPr id="17" name="TextBox 16"/>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8" name="TextBox 17"/>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92608"/>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IF THEY ASK</a:t>
            </a:r>
          </a:p>
        </p:txBody>
      </p:sp>
      <p:sp>
        <p:nvSpPr>
          <p:cNvPr id="4" name="TextBox 3"/>
          <p:cNvSpPr txBox="1"/>
          <p:nvPr/>
        </p:nvSpPr>
        <p:spPr>
          <a:xfrm>
            <a:off x="685800" y="77724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Glasses already have an LED.</a:t>
            </a:r>
          </a:p>
        </p:txBody>
      </p:sp>
      <p:sp>
        <p:nvSpPr>
          <p:cNvPr id="5" name="TextBox 4"/>
          <p:cNvSpPr txBox="1"/>
          <p:nvPr/>
        </p:nvSpPr>
        <p:spPr>
          <a:xfrm>
            <a:off x="685800" y="1143000"/>
            <a:ext cx="10789920" cy="73152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Yes. It sits on the frame. We used phones. A voice memo has no LED, and you only see the blink if you look at the temple.</a:t>
            </a:r>
          </a:p>
        </p:txBody>
      </p:sp>
      <p:sp>
        <p:nvSpPr>
          <p:cNvPr id="6" name="TextBox 5"/>
          <p:cNvSpPr txBox="1"/>
          <p:nvPr/>
        </p:nvSpPr>
        <p:spPr>
          <a:xfrm>
            <a:off x="685800" y="210312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Can you detect a hidden mic?</a:t>
            </a:r>
          </a:p>
        </p:txBody>
      </p:sp>
      <p:sp>
        <p:nvSpPr>
          <p:cNvPr id="7" name="TextBox 6"/>
          <p:cNvSpPr txBox="1"/>
          <p:nvPr/>
        </p:nvSpPr>
        <p:spPr>
          <a:xfrm>
            <a:off x="685800" y="2468879"/>
            <a:ext cx="10789920" cy="73152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No. The beacon is opt-in. Glint looks for lenses, misses mics, and false-alarms. Dark is not proof.</a:t>
            </a:r>
          </a:p>
        </p:txBody>
      </p:sp>
      <p:sp>
        <p:nvSpPr>
          <p:cNvPr id="8" name="TextBox 7"/>
          <p:cNvSpPr txBox="1"/>
          <p:nvPr/>
        </p:nvSpPr>
        <p:spPr>
          <a:xfrm>
            <a:off x="685800" y="3429000"/>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Then it's just an app.</a:t>
            </a:r>
          </a:p>
        </p:txBody>
      </p:sp>
      <p:sp>
        <p:nvSpPr>
          <p:cNvPr id="9" name="TextBox 8"/>
          <p:cNvSpPr txBox="1"/>
          <p:nvPr/>
        </p:nvSpPr>
        <p:spPr>
          <a:xfrm>
            <a:off x="685800" y="3794760"/>
            <a:ext cx="10789920" cy="73152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The phone can send the flag. You feel it on the keys, because the demo put every phone on the table.</a:t>
            </a:r>
          </a:p>
        </p:txBody>
      </p:sp>
      <p:sp>
        <p:nvSpPr>
          <p:cNvPr id="10" name="TextBox 9"/>
          <p:cNvSpPr txBox="1"/>
          <p:nvPr/>
        </p:nvSpPr>
        <p:spPr>
          <a:xfrm>
            <a:off x="685800" y="4754879"/>
            <a:ext cx="10972800" cy="320040"/>
          </a:xfrm>
          <a:prstGeom prst="rect">
            <a:avLst/>
          </a:prstGeom>
          <a:noFill/>
        </p:spPr>
        <p:txBody>
          <a:bodyPr wrap="square" lIns="0" rIns="0" tIns="0" bIns="0" anchor="t"/>
          <a:lstStyle/>
          <a:p>
            <a:pPr algn="l">
              <a:lnSpc>
                <a:spcPct val="100000"/>
              </a:lnSpc>
              <a:spcBef>
                <a:spcPts val="0"/>
              </a:spcBef>
              <a:spcAft>
                <a:spcPts val="0"/>
              </a:spcAft>
            </a:pPr>
            <a:r>
              <a:rPr sz="1800" b="1" i="0">
                <a:solidFill>
                  <a:srgbClr val="161412"/>
                </a:solidFill>
                <a:latin typeface="Arial"/>
                <a:ea typeface="Arial"/>
                <a:cs typeface="Arial"/>
              </a:rPr>
              <a:t>What about people who don't opt in?</a:t>
            </a:r>
          </a:p>
        </p:txBody>
      </p:sp>
      <p:sp>
        <p:nvSpPr>
          <p:cNvPr id="11" name="TextBox 10"/>
          <p:cNvSpPr txBox="1"/>
          <p:nvPr/>
        </p:nvSpPr>
        <p:spPr>
          <a:xfrm>
            <a:off x="685800" y="5120640"/>
            <a:ext cx="10789920" cy="73152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6F685E"/>
                </a:solidFill>
                <a:latin typeface="Arial"/>
                <a:ea typeface="Arial"/>
                <a:cs typeface="Arial"/>
              </a:rPr>
              <a:t>Halo stays dark. We will not fake a catch. The aim is a room where willing capture is the one that looks normal.</a:t>
            </a:r>
          </a:p>
        </p:txBody>
      </p:sp>
      <p:sp>
        <p:nvSpPr>
          <p:cNvPr id="12" name="TextBox 11"/>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3" name="TextBox 12"/>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4EF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7315200" cy="256032"/>
          </a:xfrm>
          <a:prstGeom prst="rect">
            <a:avLst/>
          </a:prstGeom>
          <a:noFill/>
        </p:spPr>
        <p:txBody>
          <a:bodyPr wrap="square" lIns="0" rIns="0" tIns="0" bIns="0" anchor="t"/>
          <a:lstStyle/>
          <a:p>
            <a:pPr algn="l">
              <a:lnSpc>
                <a:spcPct val="100000"/>
              </a:lnSpc>
              <a:spcBef>
                <a:spcPts val="0"/>
              </a:spcBef>
              <a:spcAft>
                <a:spcPts val="0"/>
              </a:spcAft>
            </a:pPr>
            <a:r>
              <a:rPr sz="1300" b="1" i="0" spc="180">
                <a:solidFill>
                  <a:srgbClr val="8A5200"/>
                </a:solidFill>
                <a:latin typeface="Arial"/>
                <a:ea typeface="Arial"/>
                <a:cs typeface="Arial"/>
              </a:rPr>
              <a:t>SOURCES FOR THE LED CLAIM</a:t>
            </a:r>
          </a:p>
        </p:txBody>
      </p:sp>
      <p:sp>
        <p:nvSpPr>
          <p:cNvPr id="4" name="TextBox 3"/>
          <p:cNvSpPr txBox="1"/>
          <p:nvPr/>
        </p:nvSpPr>
        <p:spPr>
          <a:xfrm>
            <a:off x="658368" y="731520"/>
            <a:ext cx="10972800" cy="365760"/>
          </a:xfrm>
          <a:prstGeom prst="rect">
            <a:avLst/>
          </a:prstGeom>
          <a:noFill/>
        </p:spPr>
        <p:txBody>
          <a:bodyPr wrap="square" lIns="0" rIns="0" tIns="0" bIns="0" anchor="t"/>
          <a:lstStyle/>
          <a:p>
            <a:pPr algn="l">
              <a:lnSpc>
                <a:spcPct val="100000"/>
              </a:lnSpc>
              <a:spcBef>
                <a:spcPts val="0"/>
              </a:spcBef>
              <a:spcAft>
                <a:spcPts val="0"/>
              </a:spcAft>
            </a:pPr>
            <a:r>
              <a:rPr sz="2400" b="1" i="0">
                <a:solidFill>
                  <a:srgbClr val="161412"/>
                </a:solidFill>
                <a:latin typeface="Arial"/>
                <a:ea typeface="Arial"/>
                <a:cs typeface="Arial"/>
              </a:rPr>
              <a:t>Read them the morning you present.</a:t>
            </a:r>
          </a:p>
        </p:txBody>
      </p:sp>
      <p:sp>
        <p:nvSpPr>
          <p:cNvPr id="5" name="TextBox 4"/>
          <p:cNvSpPr txBox="1"/>
          <p:nvPr/>
        </p:nvSpPr>
        <p:spPr>
          <a:xfrm>
            <a:off x="685800" y="1371600"/>
            <a:ext cx="10972800" cy="1188720"/>
          </a:xfrm>
          <a:prstGeom prst="rect">
            <a:avLst/>
          </a:prstGeom>
          <a:noFill/>
        </p:spPr>
        <p:txBody>
          <a:bodyPr wrap="square" lIns="0" rIns="0" tIns="0" bIns="0" anchor="t"/>
          <a:lstStyle/>
          <a:p>
            <a:pPr algn="l">
              <a:lnSpc>
                <a:spcPct val="108000"/>
              </a:lnSpc>
              <a:spcBef>
                <a:spcPts val="0"/>
              </a:spcBef>
              <a:spcAft>
                <a:spcPts val="0"/>
              </a:spcAft>
            </a:pPr>
            <a:r>
              <a:rPr sz="1800" b="0" i="0">
                <a:solidFill>
                  <a:srgbClr val="161412"/>
                </a:solidFill>
                <a:latin typeface="Arial"/>
                <a:ea typeface="Arial"/>
                <a:cs typeface="Arial"/>
              </a:rPr>
              <a:t>Meta publishes a capture LED on its AI glasses. It blinks for a photo</a:t>
            </a:r>
          </a:p>
          <a:p>
            <a:pPr algn="l">
              <a:lnSpc>
                <a:spcPct val="108000"/>
              </a:lnSpc>
              <a:spcBef>
                <a:spcPts val="0"/>
              </a:spcBef>
              <a:spcAft>
                <a:spcPts val="0"/>
              </a:spcAft>
            </a:pPr>
            <a:r>
              <a:rPr sz="1800" b="0" i="0">
                <a:solidFill>
                  <a:srgbClr val="161412"/>
                </a:solidFill>
                <a:latin typeface="Arial"/>
                <a:ea typeface="Arial"/>
                <a:cs typeface="Arial"/>
              </a:rPr>
              <a:t>and stays on through a video. Meta says the light has no off switch,</a:t>
            </a:r>
          </a:p>
          <a:p>
            <a:pPr algn="l">
              <a:lnSpc>
                <a:spcPct val="108000"/>
              </a:lnSpc>
              <a:spcBef>
                <a:spcPts val="0"/>
              </a:spcBef>
              <a:spcAft>
                <a:spcPts val="0"/>
              </a:spcAft>
            </a:pPr>
            <a:r>
              <a:rPr sz="1800" b="0" i="0">
                <a:solidFill>
                  <a:srgbClr val="161412"/>
                </a:solidFill>
                <a:latin typeface="Arial"/>
                <a:ea typeface="Arial"/>
                <a:cs typeface="Arial"/>
              </a:rPr>
              <a:t>and that covering or destroying it disables the camera.</a:t>
            </a:r>
          </a:p>
        </p:txBody>
      </p:sp>
      <p:sp>
        <p:nvSpPr>
          <p:cNvPr id="6" name="Rounded Rectangle 5"/>
          <p:cNvSpPr/>
          <p:nvPr/>
        </p:nvSpPr>
        <p:spPr>
          <a:xfrm>
            <a:off x="685800" y="2880360"/>
            <a:ext cx="10835640" cy="1234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35808"/>
            <a:ext cx="10058400" cy="274320"/>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META PRIVACY PAGE</a:t>
            </a:r>
          </a:p>
        </p:txBody>
      </p:sp>
      <p:sp>
        <p:nvSpPr>
          <p:cNvPr id="8" name="TextBox 7"/>
          <p:cNvSpPr txBox="1"/>
          <p:nvPr/>
        </p:nvSpPr>
        <p:spPr>
          <a:xfrm>
            <a:off x="914400" y="3383280"/>
            <a:ext cx="10058400" cy="411480"/>
          </a:xfrm>
          <a:prstGeom prst="rect">
            <a:avLst/>
          </a:prstGeom>
          <a:noFill/>
        </p:spPr>
        <p:txBody>
          <a:bodyPr wrap="square" lIns="0" rIns="0" tIns="0" bIns="0" anchor="t"/>
          <a:lstStyle/>
          <a:p>
            <a:pPr algn="l">
              <a:lnSpc>
                <a:spcPct val="100000"/>
              </a:lnSpc>
              <a:spcBef>
                <a:spcPts val="0"/>
              </a:spcBef>
              <a:spcAft>
                <a:spcPts val="0"/>
              </a:spcAft>
            </a:pPr>
            <a:r>
              <a:rPr sz="1800" b="0" i="0">
                <a:solidFill>
                  <a:srgbClr val="161412"/>
                </a:solidFill>
                <a:latin typeface="Arial"/>
                <a:ea typeface="Arial"/>
                <a:cs typeface="Arial"/>
              </a:rPr>
              <a:t>https://www.meta.com/ai-glasses/privacy/</a:t>
            </a:r>
          </a:p>
        </p:txBody>
      </p:sp>
      <p:sp>
        <p:nvSpPr>
          <p:cNvPr id="9" name="Rounded Rectangle 8"/>
          <p:cNvSpPr/>
          <p:nvPr/>
        </p:nvSpPr>
        <p:spPr>
          <a:xfrm>
            <a:off x="685800" y="4297680"/>
            <a:ext cx="10835640" cy="1234440"/>
          </a:xfrm>
          <a:prstGeom prst="roundRect">
            <a:avLst>
              <a:gd name="adj" fmla="val 8000"/>
            </a:avLst>
          </a:prstGeom>
          <a:solidFill>
            <a:srgbClr val="FFFCF8"/>
          </a:solidFill>
          <a:ln w="15875">
            <a:solidFill>
              <a:srgbClr val="E0D7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462272"/>
            <a:ext cx="10058400" cy="274320"/>
          </a:xfrm>
          <a:prstGeom prst="rect">
            <a:avLst/>
          </a:prstGeom>
          <a:noFill/>
        </p:spPr>
        <p:txBody>
          <a:bodyPr wrap="square" lIns="0" rIns="0" tIns="0" bIns="0" anchor="t"/>
          <a:lstStyle/>
          <a:p>
            <a:pPr algn="l">
              <a:lnSpc>
                <a:spcPct val="100000"/>
              </a:lnSpc>
              <a:spcBef>
                <a:spcPts val="0"/>
              </a:spcBef>
              <a:spcAft>
                <a:spcPts val="0"/>
              </a:spcAft>
            </a:pPr>
            <a:r>
              <a:rPr sz="1200" b="1" i="0" spc="120">
                <a:solidFill>
                  <a:srgbClr val="8A5200"/>
                </a:solidFill>
                <a:latin typeface="Arial"/>
                <a:ea typeface="Arial"/>
                <a:cs typeface="Arial"/>
              </a:rPr>
              <a:t>META NEWSROOM, JULY 2026</a:t>
            </a:r>
          </a:p>
        </p:txBody>
      </p:sp>
      <p:sp>
        <p:nvSpPr>
          <p:cNvPr id="11" name="TextBox 10"/>
          <p:cNvSpPr txBox="1"/>
          <p:nvPr/>
        </p:nvSpPr>
        <p:spPr>
          <a:xfrm>
            <a:off x="914400" y="4800600"/>
            <a:ext cx="10241280" cy="457200"/>
          </a:xfrm>
          <a:prstGeom prst="rect">
            <a:avLst/>
          </a:prstGeom>
          <a:noFill/>
        </p:spPr>
        <p:txBody>
          <a:bodyPr wrap="square" lIns="0" rIns="0" tIns="0" bIns="0" anchor="t"/>
          <a:lstStyle/>
          <a:p>
            <a:pPr algn="l">
              <a:lnSpc>
                <a:spcPct val="100000"/>
              </a:lnSpc>
              <a:spcBef>
                <a:spcPts val="0"/>
              </a:spcBef>
              <a:spcAft>
                <a:spcPts val="0"/>
              </a:spcAft>
            </a:pPr>
            <a:r>
              <a:rPr sz="1600" b="0" i="0">
                <a:solidFill>
                  <a:srgbClr val="161412"/>
                </a:solidFill>
                <a:latin typeface="Arial"/>
                <a:ea typeface="Arial"/>
                <a:cs typeface="Arial"/>
              </a:rPr>
              <a:t>https://about.fb.com/news/2026/07/metas-ai-glasses-your-questions-answered/</a:t>
            </a:r>
          </a:p>
        </p:txBody>
      </p:sp>
      <p:sp>
        <p:nvSpPr>
          <p:cNvPr id="12" name="TextBox 11"/>
          <p:cNvSpPr txBox="1"/>
          <p:nvPr/>
        </p:nvSpPr>
        <p:spPr>
          <a:xfrm>
            <a:off x="713232" y="5715000"/>
            <a:ext cx="10515600" cy="365760"/>
          </a:xfrm>
          <a:prstGeom prst="rect">
            <a:avLst/>
          </a:prstGeom>
          <a:noFill/>
        </p:spPr>
        <p:txBody>
          <a:bodyPr wrap="square" lIns="0" rIns="0" tIns="0" bIns="0" anchor="t"/>
          <a:lstStyle/>
          <a:p>
            <a:pPr algn="l">
              <a:lnSpc>
                <a:spcPct val="100000"/>
              </a:lnSpc>
              <a:spcBef>
                <a:spcPts val="0"/>
              </a:spcBef>
              <a:spcAft>
                <a:spcPts val="0"/>
              </a:spcAft>
            </a:pPr>
            <a:r>
              <a:rPr sz="1500" b="0" i="0">
                <a:solidFill>
                  <a:srgbClr val="6F685E"/>
                </a:solidFill>
                <a:latin typeface="Arial"/>
                <a:ea typeface="Arial"/>
                <a:cs typeface="Arial"/>
              </a:rPr>
              <a:t>If a detail has changed by presentation day, their page wins and this slide loses.</a:t>
            </a:r>
          </a:p>
        </p:txBody>
      </p:sp>
      <p:sp>
        <p:nvSpPr>
          <p:cNvPr id="13" name="TextBox 12"/>
          <p:cNvSpPr txBox="1"/>
          <p:nvPr/>
        </p:nvSpPr>
        <p:spPr>
          <a:xfrm>
            <a:off x="658368" y="6473952"/>
            <a:ext cx="7315200" cy="237744"/>
          </a:xfrm>
          <a:prstGeom prst="rect">
            <a:avLst/>
          </a:prstGeom>
          <a:noFill/>
        </p:spPr>
        <p:txBody>
          <a:bodyPr wrap="square" lIns="0" rIns="0" tIns="0" bIns="0" anchor="t"/>
          <a:lstStyle/>
          <a:p>
            <a:pPr algn="l">
              <a:lnSpc>
                <a:spcPct val="100000"/>
              </a:lnSpc>
              <a:spcBef>
                <a:spcPts val="0"/>
              </a:spcBef>
              <a:spcAft>
                <a:spcPts val="0"/>
              </a:spcAft>
            </a:pPr>
            <a:r>
              <a:rPr sz="1100" b="1" i="0" spc="140">
                <a:solidFill>
                  <a:srgbClr val="8A8478"/>
                </a:solidFill>
                <a:latin typeface="Arial"/>
                <a:ea typeface="Arial"/>
                <a:cs typeface="Arial"/>
              </a:rPr>
              <a:t>APPENDIX    ·    DO NOT PROJECT</a:t>
            </a:r>
          </a:p>
        </p:txBody>
      </p:sp>
      <p:sp>
        <p:nvSpPr>
          <p:cNvPr id="14" name="TextBox 13"/>
          <p:cNvSpPr txBox="1"/>
          <p:nvPr/>
        </p:nvSpPr>
        <p:spPr>
          <a:xfrm>
            <a:off x="10698480" y="6473952"/>
            <a:ext cx="822960" cy="237744"/>
          </a:xfrm>
          <a:prstGeom prst="rect">
            <a:avLst/>
          </a:prstGeom>
          <a:noFill/>
        </p:spPr>
        <p:txBody>
          <a:bodyPr wrap="square" lIns="0" rIns="0" tIns="0" bIns="0" anchor="t"/>
          <a:lstStyle/>
          <a:p>
            <a:pPr algn="r">
              <a:lnSpc>
                <a:spcPct val="100000"/>
              </a:lnSpc>
              <a:spcBef>
                <a:spcPts val="0"/>
              </a:spcBef>
              <a:spcAft>
                <a:spcPts val="0"/>
              </a:spcAft>
            </a:pPr>
            <a:r>
              <a:rPr sz="1100" b="1" i="0">
                <a:solidFill>
                  <a:srgbClr val="8A8478"/>
                </a:solidFill>
                <a:latin typeface="Arial"/>
                <a:ea typeface="Arial"/>
                <a:cs typeface="Arial"/>
              </a:rPr>
              <a:t>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Halo — Assignment 5 presentation draft</dc:title>
  <dc:subject>Final project: a keychain that tells you when someone is recording</dc:subject>
  <dc:creator>Session 2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Draft</cp:category>
</cp:coreProperties>
</file>